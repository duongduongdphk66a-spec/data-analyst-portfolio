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charts/chart7.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0D2B3E"/>
                </a:solidFill>
                <a:latin typeface="Century Schoolbook"/>
              </a:defRPr>
            </a:pPr>
            <a:r>
              <a:rPr sz="1250" b="0" i="0" u="none" strike="noStrike">
                <a:solidFill>
                  <a:srgbClr val="0D2B3E"/>
                </a:solidFill>
                <a:latin typeface="Century Schoolbook"/>
              </a:rPr>
              <a:t>GMV theo tuần (cột) &amp; lũy kế toàn thời gian (đường)</a:t>
            </a:r>
          </a:p>
        </c:rich>
      </c:tx>
      <c:layout/>
      <c:overlay val="0"/>
    </c:title>
    <c:autoTitleDeleted val="0"/>
    <c:plotArea>
      <c:layout/>
      <c:barChart>
        <c:barDir val="col"/>
        <c:grouping val="clustered"/>
        <c:varyColors val="0"/>
        <c:ser>
          <c:idx val="0"/>
          <c:order val="0"/>
          <c:tx>
            <c:strRef>
              <c:f>Sheet1!$B$1</c:f>
              <c:strCache>
                <c:ptCount val="1"/>
                <c:pt idx="0">
                  <c:v>GMV/tuần</c:v>
                </c:pt>
              </c:strCache>
            </c:strRef>
          </c:tx>
          <c:spPr>
            <a:solidFill>
              <a:srgbClr val="FF6B4A"/>
            </a:solidFill>
            <a:effectLst/>
          </c:spPr>
          <c:invertIfNegative val="0"/>
          <c:dLbls>
            <c:numFmt formatCode="#,##0" sourceLinked="0"/>
            <c:txPr>
              <a:bodyPr/>
              <a:lstStyle/>
              <a:p>
                <a:pPr>
                  <a:defRPr b="0" i="0" strike="noStrike" sz="1200" u="none">
                    <a:solidFill>
                      <a:srgbClr val="5B6B76"/>
                    </a:solidFill>
                    <a:latin typeface="Arial"/>
                  </a:defRPr>
                </a:pPr>
              </a:p>
            </c:txPr>
            <c:showLegendKey val="0"/>
            <c:showVal val="0"/>
            <c:showCatName val="0"/>
            <c:showSerName val="0"/>
            <c:showPercent val="0"/>
            <c:showBubbleSize val="0"/>
            <c:showLeaderLines val="0"/>
          </c:dLbls>
          <c:cat>
            <c:multiLvlStrRef>
              <c:f>Sheet1!$A$2:$A$14</c:f>
              <c:multiLvlStrCache>
                <c:ptCount val="13"/>
                <c:lvl>
                  <c:pt idx="0">
                    <c:v>22/05</c:v>
                  </c:pt>
                  <c:pt idx="1">
                    <c:v>29/05</c:v>
                  </c:pt>
                  <c:pt idx="2">
                    <c:v>05/06</c:v>
                  </c:pt>
                  <c:pt idx="3">
                    <c:v>12/06</c:v>
                  </c:pt>
                  <c:pt idx="4">
                    <c:v>19/06</c:v>
                  </c:pt>
                  <c:pt idx="5">
                    <c:v>26/06</c:v>
                  </c:pt>
                  <c:pt idx="6">
                    <c:v>03/07</c:v>
                  </c:pt>
                  <c:pt idx="7">
                    <c:v>10/07</c:v>
                  </c:pt>
                  <c:pt idx="8">
                    <c:v>17/07</c:v>
                  </c:pt>
                  <c:pt idx="9">
                    <c:v>24/07</c:v>
                  </c:pt>
                  <c:pt idx="10">
                    <c:v>31/07</c:v>
                  </c:pt>
                  <c:pt idx="11">
                    <c:v>07/08</c:v>
                  </c:pt>
                  <c:pt idx="12">
                    <c:v>14/08</c:v>
                  </c:pt>
                </c:lvl>
              </c:multiLvlStrCache>
            </c:multiLvlStrRef>
          </c:cat>
          <c:val>
            <c:numRef>
              <c:f>Sheet1!$B$2:$B$14</c:f>
              <c:numCache>
                <c:formatCode>General</c:formatCode>
                <c:ptCount val="13"/>
                <c:pt idx="0">
                  <c:v>716409344</c:v>
                </c:pt>
                <c:pt idx="1">
                  <c:v>611433288</c:v>
                </c:pt>
                <c:pt idx="2">
                  <c:v>951647031</c:v>
                </c:pt>
                <c:pt idx="3">
                  <c:v>1042391433</c:v>
                </c:pt>
                <c:pt idx="4">
                  <c:v>886296722</c:v>
                </c:pt>
                <c:pt idx="5">
                  <c:v>764698839</c:v>
                </c:pt>
                <c:pt idx="6">
                  <c:v>582840301</c:v>
                </c:pt>
                <c:pt idx="7">
                  <c:v>517808488</c:v>
                </c:pt>
                <c:pt idx="8">
                  <c:v>430702275</c:v>
                </c:pt>
                <c:pt idx="9">
                  <c:v>343433652</c:v>
                </c:pt>
                <c:pt idx="10">
                  <c:v>218997972</c:v>
                </c:pt>
                <c:pt idx="11">
                  <c:v>182641765</c:v>
                </c:pt>
                <c:pt idx="12">
                  <c:v>104738538</c:v>
                </c:pt>
              </c:numCache>
            </c:numRef>
          </c:val>
        </c:ser>
        <c:dLbls>
          <c:numFmt formatCode="#,##0" sourceLinked="0"/>
          <c:txPr>
            <a:bodyPr/>
            <a:lstStyle/>
            <a:p>
              <a:pPr>
                <a:defRPr b="0" i="0" strike="noStrike" sz="1200" u="none">
                  <a:solidFill>
                    <a:srgbClr val="5B6B76"/>
                  </a:solidFill>
                  <a:latin typeface="Arial"/>
                </a:defRPr>
              </a:pPr>
            </a:p>
          </c:txPr>
          <c:showLegendKey val="0"/>
          <c:showVal val="0"/>
          <c:showCatName val="0"/>
          <c:showSerName val="0"/>
          <c:showPercent val="0"/>
          <c:showBubbleSize val="0"/>
          <c:showLeaderLines val="0"/>
        </c:dLbls>
        <c:gapWidth val="40"/>
        <c:overlap val="0"/>
        <c:axId val="2094734554"/>
        <c:axId val="2094734552"/>
        <c:axId val="2094734556"/>
      </c:barChart>
      <c:lineChart>
        <c:varyColors val="0"/>
        <c:ser>
          <c:idx val="1"/>
          <c:order val="1"/>
          <c:tx>
            <c:strRef>
              <c:f>Sheet1!$C$1</c:f>
              <c:strCache>
                <c:ptCount val="1"/>
                <c:pt idx="0">
                  <c:v>GMV lũy kế toàn thời gian</c:v>
                </c:pt>
              </c:strCache>
            </c:strRef>
          </c:tx>
          <c:spPr>
            <a:solidFill>
              <a:srgbClr val="0D2B3E"/>
            </a:solidFill>
            <a:ln w="31750" cap="flat">
              <a:solidFill>
                <a:srgbClr val="0D2B3E"/>
              </a:solidFill>
              <a:prstDash val="solid"/>
              <a:round/>
            </a:ln>
            <a:effectLst/>
          </c:spPr>
          <c:invertIfNegative val="0"/>
          <c:dLbls>
            <c:numFmt formatCode="#,##0" sourceLinked="0"/>
            <c:txPr>
              <a:bodyPr/>
              <a:lstStyle/>
              <a:p>
                <a:pPr>
                  <a:defRPr b="0" i="0" strike="noStrike" sz="1200" u="none">
                    <a:solidFill>
                      <a:srgbClr val="5B6B76"/>
                    </a:solidFill>
                    <a:latin typeface="Arial"/>
                  </a:defRPr>
                </a:pPr>
              </a:p>
            </c:txPr>
            <c:showLegendKey val="0"/>
            <c:showVal val="0"/>
            <c:showCatName val="0"/>
            <c:showSerName val="0"/>
            <c:showPercent val="0"/>
            <c:showBubbleSize val="0"/>
            <c:showLeaderLines val="0"/>
          </c:dLbls>
          <c:marker>
            <c:symbol val="none"/>
            <c:size val="6"/>
            <c:spPr>
              <a:solidFill>
                <a:srgbClr val="0D2B3E"/>
              </a:solidFill>
              <a:ln w="9525" cap="flat">
                <a:solidFill>
                  <a:srgbClr val="0D2B3E"/>
                </a:solidFill>
                <a:prstDash val="solid"/>
                <a:round/>
              </a:ln>
              <a:effectLst/>
            </c:spPr>
          </c:marker>
          <c:cat>
            <c:multiLvlStrRef>
              <c:f>Sheet1!$A$2:$A$14</c:f>
              <c:multiLvlStrCache>
                <c:ptCount val="13"/>
                <c:lvl>
                  <c:pt idx="0">
                    <c:v>22/05</c:v>
                  </c:pt>
                  <c:pt idx="1">
                    <c:v>29/05</c:v>
                  </c:pt>
                  <c:pt idx="2">
                    <c:v>05/06</c:v>
                  </c:pt>
                  <c:pt idx="3">
                    <c:v>12/06</c:v>
                  </c:pt>
                  <c:pt idx="4">
                    <c:v>19/06</c:v>
                  </c:pt>
                  <c:pt idx="5">
                    <c:v>26/06</c:v>
                  </c:pt>
                  <c:pt idx="6">
                    <c:v>03/07</c:v>
                  </c:pt>
                  <c:pt idx="7">
                    <c:v>10/07</c:v>
                  </c:pt>
                  <c:pt idx="8">
                    <c:v>17/07</c:v>
                  </c:pt>
                  <c:pt idx="9">
                    <c:v>24/07</c:v>
                  </c:pt>
                  <c:pt idx="10">
                    <c:v>31/07</c:v>
                  </c:pt>
                  <c:pt idx="11">
                    <c:v>07/08</c:v>
                  </c:pt>
                  <c:pt idx="12">
                    <c:v>14/08</c:v>
                  </c:pt>
                </c:lvl>
              </c:multiLvlStrCache>
            </c:multiLvlStrRef>
          </c:cat>
          <c:val>
            <c:numRef>
              <c:f>Sheet1!$C$2:$C$14</c:f>
              <c:numCache>
                <c:formatCode>General</c:formatCode>
                <c:ptCount val="13"/>
                <c:pt idx="0">
                  <c:v>115016681964</c:v>
                </c:pt>
                <c:pt idx="1">
                  <c:v>115628115252</c:v>
                </c:pt>
                <c:pt idx="2">
                  <c:v>116579762283</c:v>
                </c:pt>
                <c:pt idx="3">
                  <c:v>117622153716</c:v>
                </c:pt>
                <c:pt idx="4">
                  <c:v>118508450438</c:v>
                </c:pt>
                <c:pt idx="5">
                  <c:v>119273149277</c:v>
                </c:pt>
                <c:pt idx="6">
                  <c:v>119855989578</c:v>
                </c:pt>
                <c:pt idx="7">
                  <c:v>120373798066</c:v>
                </c:pt>
                <c:pt idx="8">
                  <c:v>120804500341</c:v>
                </c:pt>
                <c:pt idx="9">
                  <c:v>121147933993</c:v>
                </c:pt>
                <c:pt idx="10">
                  <c:v>121366931965</c:v>
                </c:pt>
                <c:pt idx="11">
                  <c:v>121549573730</c:v>
                </c:pt>
                <c:pt idx="12">
                  <c:v>121654312268</c:v>
                </c:pt>
              </c:numCache>
            </c:numRef>
          </c:val>
          <c:smooth val="0"/>
        </c:ser>
        <c:dLbls>
          <c:numFmt formatCode="#,##0" sourceLinked="0"/>
          <c:txPr>
            <a:bodyPr/>
            <a:lstStyle/>
            <a:p>
              <a:pPr>
                <a:defRPr b="0" i="0" strike="noStrike" sz="1200" u="none">
                  <a:solidFill>
                    <a:srgbClr val="5B6B76"/>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E4E8EC"/>
            </a:solidFill>
            <a:prstDash val="solid"/>
            <a:round/>
          </a:ln>
        </c:spPr>
        <c:txPr>
          <a:bodyPr/>
          <a:lstStyle/>
          <a:p>
            <a:pPr>
              <a:defRPr sz="850" b="0" i="0" u="none" strike="noStrike">
                <a:solidFill>
                  <a:srgbClr val="8A97A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4E8EC"/>
              </a:solidFill>
              <a:prstDash val="solid"/>
              <a:round/>
            </a:ln>
          </c:spPr>
        </c:majorGridlines>
        <c:numFmt formatCode="#,##0,,&quot;Tr&quot;"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8A97A0"/>
                </a:solidFill>
                <a:latin typeface="Arial"/>
              </a:defRPr>
            </a:pPr>
            <a:endParaRPr lang="en-US"/>
          </a:p>
        </c:txPr>
        <c:crossAx val="2094734554"/>
        <c:crosses val="autoZero"/>
        <c:crossBetween val="between"/>
      </c:valAx>
      <c:valAx>
        <c:axId val="2094734553"/>
        <c:scaling>
          <c:orientation val="minMax"/>
        </c:scaling>
        <c:delete val="0"/>
        <c:axPos val="r"/>
        <c:numFmt formatCode="#,##0.0,,,&quot;Tỷ&quot;" sourceLinked="0"/>
        <c:majorTickMark val="out"/>
        <c:minorTickMark val="none"/>
        <c:tickLblPos val="nextTo"/>
        <c:spPr>
          <a:ln w="12700" cap="flat">
            <a:solidFill>
              <a:srgbClr val="888888"/>
            </a:solidFill>
            <a:prstDash val="solid"/>
            <a:round/>
          </a:ln>
        </c:spPr>
        <c:txPr>
          <a:bodyPr/>
          <a:lstStyle/>
          <a:p>
            <a:pPr>
              <a:defRPr sz="850" b="0" i="0" u="none" strike="noStrike">
                <a:solidFill>
                  <a:srgbClr val="8A97A0"/>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900">
              <a:solidFill>
                <a:srgbClr val="5B6B76"/>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050" b="0" i="0" u="none" strike="noStrike">
                <a:solidFill>
                  <a:srgbClr val="FFFFFF"/>
                </a:solidFill>
                <a:latin typeface="Century Schoolbook"/>
              </a:defRPr>
            </a:pPr>
            <a:r>
              <a:rPr sz="1050" b="0" i="0" u="none" strike="noStrike">
                <a:solidFill>
                  <a:srgbClr val="FFFFFF"/>
                </a:solidFill>
                <a:latin typeface="Century Schoolbook"/>
              </a:rPr>
              <a:t>Lượt xem &amp; GMV TB/phiên — theo tuần</a:t>
            </a:r>
          </a:p>
        </c:rich>
      </c:tx>
      <c:layout/>
      <c:overlay val="0"/>
    </c:title>
    <c:autoTitleDeleted val="0"/>
    <c:plotArea>
      <c:layout/>
      <c:lineChart>
        <c:varyColors val="0"/>
        <c:ser>
          <c:idx val="0"/>
          <c:order val="0"/>
          <c:tx>
            <c:strRef>
              <c:f>Sheet1!$B$1</c:f>
              <c:strCache>
                <c:ptCount val="1"/>
                <c:pt idx="0">
                  <c:v>Lượt xem TB/phiên</c:v>
                </c:pt>
              </c:strCache>
            </c:strRef>
          </c:tx>
          <c:spPr>
            <a:solidFill>
              <a:srgbClr val="FF8B70"/>
            </a:solidFill>
            <a:ln w="31750" cap="flat">
              <a:solidFill>
                <a:srgbClr val="FF8B7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FF8B70"/>
              </a:solidFill>
              <a:ln w="9525" cap="flat">
                <a:solidFill>
                  <a:srgbClr val="FF8B70"/>
                </a:solidFill>
                <a:prstDash val="solid"/>
                <a:round/>
              </a:ln>
              <a:effectLst/>
            </c:spPr>
          </c:marker>
          <c:cat>
            <c:multiLvlStrRef>
              <c:f>Sheet1!$A$2:$A$13</c:f>
              <c:multiLvlStrCache>
                <c:ptCount val="12"/>
                <c:lvl>
                  <c:pt idx="0">
                    <c:v>22/05</c:v>
                  </c:pt>
                  <c:pt idx="1">
                    <c:v>29/05</c:v>
                  </c:pt>
                  <c:pt idx="2">
                    <c:v>05/06</c:v>
                  </c:pt>
                  <c:pt idx="3">
                    <c:v>12/06</c:v>
                  </c:pt>
                  <c:pt idx="4">
                    <c:v>19/06</c:v>
                  </c:pt>
                  <c:pt idx="5">
                    <c:v>26/06</c:v>
                  </c:pt>
                  <c:pt idx="6">
                    <c:v>03/07</c:v>
                  </c:pt>
                  <c:pt idx="7">
                    <c:v>10/07</c:v>
                  </c:pt>
                  <c:pt idx="8">
                    <c:v>17/07</c:v>
                  </c:pt>
                  <c:pt idx="9">
                    <c:v>24/07</c:v>
                  </c:pt>
                  <c:pt idx="10">
                    <c:v>31/07</c:v>
                  </c:pt>
                  <c:pt idx="11">
                    <c:v>07/08</c:v>
                  </c:pt>
                </c:lvl>
              </c:multiLvlStrCache>
            </c:multiLvlStrRef>
          </c:cat>
          <c:val>
            <c:numRef>
              <c:f>Sheet1!$B$2:$B$13</c:f>
              <c:numCache>
                <c:formatCode>General</c:formatCode>
                <c:ptCount val="12"/>
                <c:pt idx="0">
                  <c:v>11177</c:v>
                </c:pt>
                <c:pt idx="1">
                  <c:v>17768</c:v>
                </c:pt>
                <c:pt idx="2">
                  <c:v>17346.3</c:v>
                </c:pt>
                <c:pt idx="3">
                  <c:v>13322</c:v>
                </c:pt>
                <c:pt idx="4">
                  <c:v>14698.833333333334</c:v>
                </c:pt>
                <c:pt idx="5">
                  <c:v>6885.466666666666</c:v>
                </c:pt>
                <c:pt idx="6">
                  <c:v>6812.5</c:v>
                </c:pt>
                <c:pt idx="7">
                  <c:v>5903.846153846154</c:v>
                </c:pt>
                <c:pt idx="8">
                  <c:v>4293.1</c:v>
                </c:pt>
                <c:pt idx="9">
                  <c:v>3725.4736842105262</c:v>
                </c:pt>
                <c:pt idx="10">
                  <c:v>3165.85</c:v>
                </c:pt>
                <c:pt idx="11">
                  <c:v>2501.235294117647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lineChart>
        <c:varyColors val="0"/>
        <c:ser>
          <c:idx val="1"/>
          <c:order val="1"/>
          <c:tx>
            <c:strRef>
              <c:f>Sheet1!$C$1</c:f>
              <c:strCache>
                <c:ptCount val="1"/>
                <c:pt idx="0">
                  <c:v>GMV TB/phiên</c:v>
                </c:pt>
              </c:strCache>
            </c:strRef>
          </c:tx>
          <c:spPr>
            <a:solidFill>
              <a:srgbClr val="5FD8CF"/>
            </a:solidFill>
            <a:ln w="31750" cap="flat">
              <a:solidFill>
                <a:srgbClr val="5FD8CF"/>
              </a:solidFill>
              <a:prstDash val="dash"/>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5FD8CF"/>
              </a:solidFill>
              <a:ln w="9525" cap="flat">
                <a:solidFill>
                  <a:srgbClr val="5FD8CF"/>
                </a:solidFill>
                <a:prstDash val="solid"/>
                <a:round/>
              </a:ln>
              <a:effectLst/>
            </c:spPr>
          </c:marker>
          <c:cat>
            <c:multiLvlStrRef>
              <c:f>Sheet1!$A$2:$A$13</c:f>
              <c:multiLvlStrCache>
                <c:ptCount val="12"/>
                <c:lvl>
                  <c:pt idx="0">
                    <c:v>22/05</c:v>
                  </c:pt>
                  <c:pt idx="1">
                    <c:v>29/05</c:v>
                  </c:pt>
                  <c:pt idx="2">
                    <c:v>05/06</c:v>
                  </c:pt>
                  <c:pt idx="3">
                    <c:v>12/06</c:v>
                  </c:pt>
                  <c:pt idx="4">
                    <c:v>19/06</c:v>
                  </c:pt>
                  <c:pt idx="5">
                    <c:v>26/06</c:v>
                  </c:pt>
                  <c:pt idx="6">
                    <c:v>03/07</c:v>
                  </c:pt>
                  <c:pt idx="7">
                    <c:v>10/07</c:v>
                  </c:pt>
                  <c:pt idx="8">
                    <c:v>17/07</c:v>
                  </c:pt>
                  <c:pt idx="9">
                    <c:v>24/07</c:v>
                  </c:pt>
                  <c:pt idx="10">
                    <c:v>31/07</c:v>
                  </c:pt>
                  <c:pt idx="11">
                    <c:v>07/08</c:v>
                  </c:pt>
                </c:lvl>
              </c:multiLvlStrCache>
            </c:multiLvlStrRef>
          </c:cat>
          <c:val>
            <c:numRef>
              <c:f>Sheet1!$C$2:$C$13</c:f>
              <c:numCache>
                <c:formatCode>General</c:formatCode>
                <c:ptCount val="12"/>
                <c:pt idx="0">
                  <c:v>25546405.4</c:v>
                </c:pt>
                <c:pt idx="1">
                  <c:v>90566107.21428572</c:v>
                </c:pt>
                <c:pt idx="2">
                  <c:v>109404944</c:v>
                </c:pt>
                <c:pt idx="3">
                  <c:v>102938600.75</c:v>
                </c:pt>
                <c:pt idx="4">
                  <c:v>34978002.166666664</c:v>
                </c:pt>
                <c:pt idx="5">
                  <c:v>15191962.266666668</c:v>
                </c:pt>
                <c:pt idx="6">
                  <c:v>7048593.0625</c:v>
                </c:pt>
                <c:pt idx="7">
                  <c:v>10745180.923076924</c:v>
                </c:pt>
                <c:pt idx="8">
                  <c:v>9036788.7</c:v>
                </c:pt>
                <c:pt idx="9">
                  <c:v>7873956.315789473</c:v>
                </c:pt>
                <c:pt idx="10">
                  <c:v>4257563.9</c:v>
                </c:pt>
                <c:pt idx="11">
                  <c:v>3654489.2352941176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2A4456"/>
            </a:solidFill>
            <a:prstDash val="solid"/>
            <a:round/>
          </a:ln>
        </c:spPr>
        <c:txPr>
          <a:bodyPr/>
          <a:lstStyle/>
          <a:p>
            <a:pPr>
              <a:defRPr sz="700" b="0" i="0" u="none" strike="noStrike">
                <a:solidFill>
                  <a:srgbClr val="8AA0A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2A4456"/>
              </a:solidFill>
              <a:prstDash val="solid"/>
              <a:round/>
            </a:ln>
          </c:spPr>
        </c:majorGridlines>
        <c:numFmt formatCode="#,##0,&quot;K&quot;"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8AA0AC"/>
                </a:solidFill>
                <a:latin typeface="Arial"/>
              </a:defRPr>
            </a:pPr>
            <a:endParaRPr lang="en-US"/>
          </a:p>
        </c:txPr>
        <c:crossAx val="2094734554"/>
        <c:crosses val="autoZero"/>
        <c:crossBetween val="between"/>
      </c:valAx>
      <c:valAx>
        <c:axId val="2094734553"/>
        <c:scaling>
          <c:orientation val="minMax"/>
        </c:scaling>
        <c:delete val="0"/>
        <c:axPos val="r"/>
        <c:numFmt formatCode="#,##0,,&quot;M&quot;"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8AA0AC"/>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3"/>
        <c:crosses val="autoZero"/>
        <c:auto val="1"/>
        <c:lblAlgn val="ctr"/>
        <c:noMultiLvlLbl val="1"/>
      </c:catAx>
      <c:spPr>
        <a:solidFill>
          <a:srgbClr val="081C29"/>
        </a:solidFill>
        <a:ln>
          <a:noFill/>
        </a:ln>
        <a:effectLst/>
      </c:spPr>
    </c:plotArea>
    <c:legend>
      <c:legendPos val="b"/>
      <c:overlay val="0"/>
      <c:txPr>
        <a:bodyPr/>
        <a:lstStyle/>
        <a:p>
          <a:pPr>
            <a:defRPr sz="750">
              <a:solidFill>
                <a:srgbClr val="D7E0E6"/>
              </a:solidFill>
              <a:latin typeface="Arial"/>
              <a:cs typeface="Arial"/>
            </a:defRPr>
          </a:pPr>
          <a:endParaRPr lang="en-US"/>
        </a:p>
      </c:txPr>
    </c:legend>
    <c:plotVisOnly val="1"/>
    <c:dispBlanksAs val="span"/>
  </c:chart>
  <c:spPr>
    <a:solidFill>
      <a:srgbClr val="081C29"/>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D2B3E"/>
                </a:solidFill>
                <a:latin typeface="Century Schoolbook"/>
              </a:defRPr>
            </a:pPr>
            <a:r>
              <a:rPr sz="1300" b="0" i="0" u="none" strike="noStrike">
                <a:solidFill>
                  <a:srgbClr val="0D2B3E"/>
                </a:solidFill>
                <a:latin typeface="Century Schoolbook"/>
              </a:rPr>
              <a:t>Tỷ trọng GMV theo kênh</a:t>
            </a:r>
          </a:p>
        </c:rich>
      </c:tx>
      <c:layout/>
      <c:overlay val="0"/>
    </c:title>
    <c:autoTitleDeleted val="0"/>
    <c:plotArea>
      <c:layout/>
      <c:doughnutChart>
        <c:varyColors val="1"/>
        <c:ser>
          <c:idx val="0"/>
          <c:order val="0"/>
          <c:tx>
            <c:strRef>
              <c:f>Sheet1!$B$1</c:f>
              <c:strCache>
                <c:ptCount val="1"/>
                <c:pt idx="0">
                  <c:v>GMV %</c:v>
                </c:pt>
              </c:strCache>
            </c:strRef>
          </c:tx>
          <c:spPr>
            <a:solidFill>
              <a:schemeClr val="accent1"/>
            </a:solidFill>
            <a:ln w="9525" cap="flat">
              <a:solidFill>
                <a:srgbClr val="F9F9F9"/>
              </a:solidFill>
              <a:prstDash val="solid"/>
              <a:round/>
            </a:ln>
            <a:effectLst/>
          </c:spPr>
          <c:dPt>
            <c:idx val="0"/>
            <c:bubble3D val="0"/>
            <c:spPr>
              <a:solidFill>
                <a:srgbClr val="FF6B4A"/>
              </a:solidFill>
              <a:effectLst/>
            </c:spPr>
          </c:dPt>
          <c:dPt>
            <c:idx val="1"/>
            <c:bubble3D val="0"/>
            <c:spPr>
              <a:solidFill>
                <a:srgbClr val="1FA9A0"/>
              </a:solidFill>
              <a:effectLst/>
            </c:spPr>
          </c:dPt>
          <c:dPt>
            <c:idx val="2"/>
            <c:bubble3D val="0"/>
            <c:spPr>
              <a:solidFill>
                <a:srgbClr val="F2B84B"/>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LIVE</c:v>
                </c:pt>
                <c:pt idx="1">
                  <c:v>Video</c:v>
                </c:pt>
                <c:pt idx="2">
                  <c:v>Kênh khác</c:v>
                </c:pt>
              </c:strCache>
            </c:strRef>
          </c:cat>
          <c:val>
            <c:numRef>
              <c:f>Sheet1!$B$2:$B$4</c:f>
              <c:numCache>
                <c:ptCount val="3"/>
                <c:pt idx="0">
                  <c:v>73.51504642037524</c:v>
                </c:pt>
                <c:pt idx="1">
                  <c:v>3.220068715082348</c:v>
                </c:pt>
                <c:pt idx="2">
                  <c:v>23.264884864542413</c:v>
                </c:pt>
              </c:numCache>
            </c:numRef>
          </c:val>
        </c:ser>
        <c:firstSliceAng val="0"/>
        <c:holeSize val="62"/>
      </c:doughnutChart>
      <c:spPr>
        <a:noFill/>
        <a:ln>
          <a:noFill/>
        </a:ln>
        <a:effectLst/>
      </c:spPr>
    </c:plotArea>
    <c:legend>
      <c:legendPos val="b"/>
      <c:overlay val="0"/>
      <c:txPr>
        <a:bodyPr/>
        <a:lstStyle/>
        <a:p>
          <a:pPr>
            <a:defRPr sz="1050">
              <a:solidFill>
                <a:srgbClr val="5B6B76"/>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0D2B3E"/>
                </a:solidFill>
                <a:latin typeface="Century Schoolbook"/>
              </a:defRPr>
            </a:pPr>
            <a:r>
              <a:rPr sz="1250" b="0" i="0" u="none" strike="noStrike">
                <a:solidFill>
                  <a:srgbClr val="0D2B3E"/>
                </a:solidFill>
                <a:latin typeface="Century Schoolbook"/>
              </a:rPr>
              <a:t>GMV &amp; số phiên LIVE theo tuần</a:t>
            </a:r>
          </a:p>
        </c:rich>
      </c:tx>
      <c:layout/>
      <c:overlay val="0"/>
    </c:title>
    <c:autoTitleDeleted val="0"/>
    <c:plotArea>
      <c:layout/>
      <c:barChart>
        <c:barDir val="col"/>
        <c:grouping val="clustered"/>
        <c:varyColors val="0"/>
        <c:ser>
          <c:idx val="0"/>
          <c:order val="0"/>
          <c:tx>
            <c:strRef>
              <c:f>Sheet1!$B$1</c:f>
              <c:strCache>
                <c:ptCount val="1"/>
                <c:pt idx="0">
                  <c:v>GMV/tuần</c:v>
                </c:pt>
              </c:strCache>
            </c:strRef>
          </c:tx>
          <c:spPr>
            <a:solidFill>
              <a:srgbClr val="FF6B4A"/>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Sheet1!$A$2:$A$14</c:f>
              <c:multiLvlStrCache>
                <c:ptCount val="13"/>
                <c:lvl>
                  <c:pt idx="0">
                    <c:v>21/05</c:v>
                  </c:pt>
                  <c:pt idx="1">
                    <c:v>28/05</c:v>
                  </c:pt>
                  <c:pt idx="2">
                    <c:v>04/06</c:v>
                  </c:pt>
                  <c:pt idx="3">
                    <c:v>11/06</c:v>
                  </c:pt>
                  <c:pt idx="4">
                    <c:v>18/06</c:v>
                  </c:pt>
                  <c:pt idx="5">
                    <c:v>25/06</c:v>
                  </c:pt>
                  <c:pt idx="6">
                    <c:v>02/07</c:v>
                  </c:pt>
                  <c:pt idx="7">
                    <c:v>09/07</c:v>
                  </c:pt>
                  <c:pt idx="8">
                    <c:v>16/07</c:v>
                  </c:pt>
                  <c:pt idx="9">
                    <c:v>23/07</c:v>
                  </c:pt>
                  <c:pt idx="10">
                    <c:v>30/07</c:v>
                  </c:pt>
                  <c:pt idx="11">
                    <c:v>06/08</c:v>
                  </c:pt>
                  <c:pt idx="12">
                    <c:v>13/08</c:v>
                  </c:pt>
                </c:lvl>
              </c:multiLvlStrCache>
            </c:multiLvlStrRef>
          </c:cat>
          <c:val>
            <c:numRef>
              <c:f>Sheet1!$B$2:$B$14</c:f>
              <c:numCache>
                <c:formatCode>General</c:formatCode>
                <c:ptCount val="13"/>
                <c:pt idx="0">
                  <c:v>323224143</c:v>
                </c:pt>
                <c:pt idx="1">
                  <c:v>1142611811</c:v>
                </c:pt>
                <c:pt idx="2">
                  <c:v>1115190757</c:v>
                </c:pt>
                <c:pt idx="3">
                  <c:v>1410651577</c:v>
                </c:pt>
                <c:pt idx="4">
                  <c:v>384575440</c:v>
                </c:pt>
                <c:pt idx="5">
                  <c:v>257464574</c:v>
                </c:pt>
                <c:pt idx="6">
                  <c:v>87119292</c:v>
                </c:pt>
                <c:pt idx="7">
                  <c:v>181839786</c:v>
                </c:pt>
                <c:pt idx="8">
                  <c:v>148570659</c:v>
                </c:pt>
                <c:pt idx="9">
                  <c:v>165787392</c:v>
                </c:pt>
                <c:pt idx="10">
                  <c:v>96557843</c:v>
                </c:pt>
                <c:pt idx="11">
                  <c:v>65154052</c:v>
                </c:pt>
                <c:pt idx="12">
                  <c:v>27578335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lineChart>
        <c:varyColors val="0"/>
        <c:ser>
          <c:idx val="1"/>
          <c:order val="1"/>
          <c:tx>
            <c:strRef>
              <c:f>Sheet1!$C$1</c:f>
              <c:strCache>
                <c:ptCount val="1"/>
                <c:pt idx="0">
                  <c:v>Số phiên</c:v>
                </c:pt>
              </c:strCache>
            </c:strRef>
          </c:tx>
          <c:spPr>
            <a:solidFill>
              <a:srgbClr val="0D2B3E"/>
            </a:solidFill>
            <a:ln w="28575" cap="flat">
              <a:solidFill>
                <a:srgbClr val="0D2B3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0D2B3E"/>
              </a:solidFill>
              <a:ln w="9525" cap="flat">
                <a:solidFill>
                  <a:srgbClr val="0D2B3E"/>
                </a:solidFill>
                <a:prstDash val="solid"/>
                <a:round/>
              </a:ln>
              <a:effectLst/>
            </c:spPr>
          </c:marker>
          <c:cat>
            <c:multiLvlStrRef>
              <c:f>Sheet1!$A$2:$A$14</c:f>
              <c:multiLvlStrCache>
                <c:ptCount val="13"/>
                <c:lvl>
                  <c:pt idx="0">
                    <c:v>21/05</c:v>
                  </c:pt>
                  <c:pt idx="1">
                    <c:v>28/05</c:v>
                  </c:pt>
                  <c:pt idx="2">
                    <c:v>04/06</c:v>
                  </c:pt>
                  <c:pt idx="3">
                    <c:v>11/06</c:v>
                  </c:pt>
                  <c:pt idx="4">
                    <c:v>18/06</c:v>
                  </c:pt>
                  <c:pt idx="5">
                    <c:v>25/06</c:v>
                  </c:pt>
                  <c:pt idx="6">
                    <c:v>02/07</c:v>
                  </c:pt>
                  <c:pt idx="7">
                    <c:v>09/07</c:v>
                  </c:pt>
                  <c:pt idx="8">
                    <c:v>16/07</c:v>
                  </c:pt>
                  <c:pt idx="9">
                    <c:v>23/07</c:v>
                  </c:pt>
                  <c:pt idx="10">
                    <c:v>30/07</c:v>
                  </c:pt>
                  <c:pt idx="11">
                    <c:v>06/08</c:v>
                  </c:pt>
                  <c:pt idx="12">
                    <c:v>13/08</c:v>
                  </c:pt>
                </c:lvl>
              </c:multiLvlStrCache>
            </c:multiLvlStrRef>
          </c:cat>
          <c:val>
            <c:numRef>
              <c:f>Sheet1!$C$2:$C$14</c:f>
              <c:numCache>
                <c:formatCode>General</c:formatCode>
                <c:ptCount val="13"/>
                <c:pt idx="0">
                  <c:v>14</c:v>
                </c:pt>
                <c:pt idx="1">
                  <c:v>17</c:v>
                </c:pt>
                <c:pt idx="2">
                  <c:v>9</c:v>
                </c:pt>
                <c:pt idx="3">
                  <c:v>13</c:v>
                </c:pt>
                <c:pt idx="4">
                  <c:v>10</c:v>
                </c:pt>
                <c:pt idx="5">
                  <c:v>15</c:v>
                </c:pt>
                <c:pt idx="6">
                  <c:v>15</c:v>
                </c:pt>
                <c:pt idx="7">
                  <c:v>16</c:v>
                </c:pt>
                <c:pt idx="8">
                  <c:v>18</c:v>
                </c:pt>
                <c:pt idx="9">
                  <c:v>19</c:v>
                </c:pt>
                <c:pt idx="10">
                  <c:v>21</c:v>
                </c:pt>
                <c:pt idx="11">
                  <c:v>17</c:v>
                </c:pt>
                <c:pt idx="12">
                  <c:v>16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E4E8EC"/>
            </a:solidFill>
            <a:prstDash val="solid"/>
            <a:round/>
          </a:ln>
        </c:spPr>
        <c:txPr>
          <a:bodyPr/>
          <a:lstStyle/>
          <a:p>
            <a:pPr>
              <a:defRPr sz="800" b="0" i="0" u="none" strike="noStrike">
                <a:solidFill>
                  <a:srgbClr val="8A97A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4E8EC"/>
              </a:solidFill>
              <a:prstDash val="solid"/>
              <a:round/>
            </a:ln>
          </c:spPr>
        </c:majorGridlines>
        <c:numFmt formatCode="#,##0,,&quot;M&quot;"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8A97A0"/>
                </a:solidFill>
                <a:latin typeface="Arial"/>
              </a:defRPr>
            </a:pPr>
            <a:endParaRPr lang="en-US"/>
          </a:p>
        </c:txPr>
        <c:crossAx val="2094734554"/>
        <c:crosses val="autoZero"/>
        <c:crossBetween val="between"/>
      </c:valAx>
      <c:valAx>
        <c:axId val="2094734553"/>
        <c:scaling>
          <c:orientation val="minMax"/>
        </c:scaling>
        <c:delete val="0"/>
        <c:axPos val="r"/>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8A97A0"/>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900">
              <a:solidFill>
                <a:srgbClr val="5B6B76"/>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0D2B3E"/>
                </a:solidFill>
                <a:latin typeface="Century Schoolbook"/>
              </a:defRPr>
            </a:pPr>
            <a:r>
              <a:rPr sz="1250" b="0" i="0" u="none" strike="noStrike">
                <a:solidFill>
                  <a:srgbClr val="0D2B3E"/>
                </a:solidFill>
                <a:latin typeface="Century Schoolbook"/>
              </a:rPr>
              <a:t>Lượt xem &amp; GMV video theo tuần</a:t>
            </a:r>
          </a:p>
        </c:rich>
      </c:tx>
      <c:layout/>
      <c:overlay val="0"/>
    </c:title>
    <c:autoTitleDeleted val="0"/>
    <c:plotArea>
      <c:layout/>
      <c:barChart>
        <c:barDir val="col"/>
        <c:grouping val="clustered"/>
        <c:varyColors val="0"/>
        <c:ser>
          <c:idx val="0"/>
          <c:order val="0"/>
          <c:tx>
            <c:strRef>
              <c:f>Sheet1!$B$1</c:f>
              <c:strCache>
                <c:ptCount val="1"/>
                <c:pt idx="0">
                  <c:v>Lượt xem</c:v>
                </c:pt>
              </c:strCache>
            </c:strRef>
          </c:tx>
          <c:spPr>
            <a:solidFill>
              <a:srgbClr val="1FA9A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Sheet1!$A$2:$A$14</c:f>
              <c:multiLvlStrCache>
                <c:ptCount val="13"/>
                <c:lvl>
                  <c:pt idx="0">
                    <c:v>22/05</c:v>
                  </c:pt>
                  <c:pt idx="1">
                    <c:v>29/05</c:v>
                  </c:pt>
                  <c:pt idx="2">
                    <c:v>05/06</c:v>
                  </c:pt>
                  <c:pt idx="3">
                    <c:v>12/06</c:v>
                  </c:pt>
                  <c:pt idx="4">
                    <c:v>19/06</c:v>
                  </c:pt>
                  <c:pt idx="5">
                    <c:v>26/06</c:v>
                  </c:pt>
                  <c:pt idx="6">
                    <c:v>03/07</c:v>
                  </c:pt>
                  <c:pt idx="7">
                    <c:v>10/07</c:v>
                  </c:pt>
                  <c:pt idx="8">
                    <c:v>17/07</c:v>
                  </c:pt>
                  <c:pt idx="9">
                    <c:v>24/07</c:v>
                  </c:pt>
                  <c:pt idx="10">
                    <c:v>31/07</c:v>
                  </c:pt>
                  <c:pt idx="11">
                    <c:v>07/08</c:v>
                  </c:pt>
                  <c:pt idx="12">
                    <c:v>14/08</c:v>
                  </c:pt>
                </c:lvl>
              </c:multiLvlStrCache>
            </c:multiLvlStrRef>
          </c:cat>
          <c:val>
            <c:numRef>
              <c:f>Sheet1!$B$2:$B$14</c:f>
              <c:numCache>
                <c:formatCode>General</c:formatCode>
                <c:ptCount val="13"/>
                <c:pt idx="0">
                  <c:v>204000</c:v>
                </c:pt>
                <c:pt idx="1">
                  <c:v>342780</c:v>
                </c:pt>
                <c:pt idx="2">
                  <c:v>361097</c:v>
                </c:pt>
                <c:pt idx="3">
                  <c:v>328891</c:v>
                </c:pt>
                <c:pt idx="4">
                  <c:v>226922</c:v>
                </c:pt>
                <c:pt idx="5">
                  <c:v>351892</c:v>
                </c:pt>
                <c:pt idx="6">
                  <c:v>251152</c:v>
                </c:pt>
                <c:pt idx="7">
                  <c:v>108392</c:v>
                </c:pt>
                <c:pt idx="8">
                  <c:v>167076</c:v>
                </c:pt>
                <c:pt idx="9">
                  <c:v>77896</c:v>
                </c:pt>
                <c:pt idx="10">
                  <c:v>59412</c:v>
                </c:pt>
                <c:pt idx="11">
                  <c:v>50178</c:v>
                </c:pt>
                <c:pt idx="12">
                  <c:v>7116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lineChart>
        <c:varyColors val="0"/>
        <c:ser>
          <c:idx val="1"/>
          <c:order val="1"/>
          <c:tx>
            <c:strRef>
              <c:f>Sheet1!$C$1</c:f>
              <c:strCache>
                <c:ptCount val="1"/>
                <c:pt idx="0">
                  <c:v>GMV</c:v>
                </c:pt>
              </c:strCache>
            </c:strRef>
          </c:tx>
          <c:spPr>
            <a:solidFill>
              <a:srgbClr val="FF6B4A"/>
            </a:solidFill>
            <a:ln w="28575" cap="flat">
              <a:solidFill>
                <a:srgbClr val="FF6B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FF6B4A"/>
              </a:solidFill>
              <a:ln w="9525" cap="flat">
                <a:solidFill>
                  <a:srgbClr val="FF6B4A"/>
                </a:solidFill>
                <a:prstDash val="solid"/>
                <a:round/>
              </a:ln>
              <a:effectLst/>
            </c:spPr>
          </c:marker>
          <c:cat>
            <c:multiLvlStrRef>
              <c:f>Sheet1!$A$2:$A$14</c:f>
              <c:multiLvlStrCache>
                <c:ptCount val="13"/>
                <c:lvl>
                  <c:pt idx="0">
                    <c:v>22/05</c:v>
                  </c:pt>
                  <c:pt idx="1">
                    <c:v>29/05</c:v>
                  </c:pt>
                  <c:pt idx="2">
                    <c:v>05/06</c:v>
                  </c:pt>
                  <c:pt idx="3">
                    <c:v>12/06</c:v>
                  </c:pt>
                  <c:pt idx="4">
                    <c:v>19/06</c:v>
                  </c:pt>
                  <c:pt idx="5">
                    <c:v>26/06</c:v>
                  </c:pt>
                  <c:pt idx="6">
                    <c:v>03/07</c:v>
                  </c:pt>
                  <c:pt idx="7">
                    <c:v>10/07</c:v>
                  </c:pt>
                  <c:pt idx="8">
                    <c:v>17/07</c:v>
                  </c:pt>
                  <c:pt idx="9">
                    <c:v>24/07</c:v>
                  </c:pt>
                  <c:pt idx="10">
                    <c:v>31/07</c:v>
                  </c:pt>
                  <c:pt idx="11">
                    <c:v>07/08</c:v>
                  </c:pt>
                  <c:pt idx="12">
                    <c:v>14/08</c:v>
                  </c:pt>
                </c:lvl>
              </c:multiLvlStrCache>
            </c:multiLvlStrRef>
          </c:cat>
          <c:val>
            <c:numRef>
              <c:f>Sheet1!$C$2:$C$14</c:f>
              <c:numCache>
                <c:formatCode>General</c:formatCode>
                <c:ptCount val="13"/>
                <c:pt idx="0">
                  <c:v>52446005</c:v>
                </c:pt>
                <c:pt idx="1">
                  <c:v>44408098</c:v>
                </c:pt>
                <c:pt idx="2">
                  <c:v>34144756</c:v>
                </c:pt>
                <c:pt idx="3">
                  <c:v>41134339</c:v>
                </c:pt>
                <c:pt idx="4">
                  <c:v>4013220</c:v>
                </c:pt>
                <c:pt idx="5">
                  <c:v>21417064</c:v>
                </c:pt>
                <c:pt idx="6">
                  <c:v>13781099</c:v>
                </c:pt>
                <c:pt idx="7">
                  <c:v>9427601</c:v>
                </c:pt>
                <c:pt idx="8">
                  <c:v>12116914</c:v>
                </c:pt>
                <c:pt idx="9">
                  <c:v>2834035</c:v>
                </c:pt>
                <c:pt idx="10">
                  <c:v>914999</c:v>
                </c:pt>
                <c:pt idx="11">
                  <c:v>167000</c:v>
                </c:pt>
                <c:pt idx="12">
                  <c:v>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E4E8EC"/>
            </a:solidFill>
            <a:prstDash val="solid"/>
            <a:round/>
          </a:ln>
        </c:spPr>
        <c:txPr>
          <a:bodyPr/>
          <a:lstStyle/>
          <a:p>
            <a:pPr>
              <a:defRPr sz="800" b="0" i="0" u="none" strike="noStrike">
                <a:solidFill>
                  <a:srgbClr val="8A97A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4E8EC"/>
              </a:solidFill>
              <a:prstDash val="solid"/>
              <a:round/>
            </a:ln>
          </c:spPr>
        </c:majorGridlines>
        <c:numFmt formatCode="#,##0,&quot;K&quot;"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8A97A0"/>
                </a:solidFill>
                <a:latin typeface="Arial"/>
              </a:defRPr>
            </a:pPr>
            <a:endParaRPr lang="en-US"/>
          </a:p>
        </c:txPr>
        <c:crossAx val="2094734554"/>
        <c:crosses val="autoZero"/>
        <c:crossBetween val="between"/>
      </c:valAx>
      <c:valAx>
        <c:axId val="2094734553"/>
        <c:scaling>
          <c:orientation val="minMax"/>
        </c:scaling>
        <c:delete val="0"/>
        <c:axPos val="r"/>
        <c:numFmt formatCode="#,##0,,&quot;M&quot;"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8A97A0"/>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900">
              <a:solidFill>
                <a:srgbClr val="5B6B76"/>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D2B3E"/>
                </a:solidFill>
                <a:latin typeface="Century Schoolbook"/>
              </a:defRPr>
            </a:pPr>
            <a:r>
              <a:rPr sz="1150" b="0" i="0" u="none" strike="noStrike">
                <a:solidFill>
                  <a:srgbClr val="0D2B3E"/>
                </a:solidFill>
                <a:latin typeface="Century Schoolbook"/>
              </a:rPr>
              <a:t>Chính thức vs. Bên ngoài</a:t>
            </a:r>
          </a:p>
        </c:rich>
      </c:tx>
      <c:layout/>
      <c:overlay val="0"/>
    </c:title>
    <c:autoTitleDeleted val="0"/>
    <c:plotArea>
      <c:layout/>
      <c:doughnutChart>
        <c:varyColors val="1"/>
        <c:ser>
          <c:idx val="0"/>
          <c:order val="0"/>
          <c:tx>
            <c:strRef>
              <c:f>Sheet1!$B$1</c:f>
              <c:strCache>
                <c:ptCount val="1"/>
                <c:pt idx="0">
                  <c:v>GMV %</c:v>
                </c:pt>
              </c:strCache>
            </c:strRef>
          </c:tx>
          <c:spPr>
            <a:solidFill>
              <a:schemeClr val="accent1"/>
            </a:solidFill>
            <a:ln w="9525" cap="flat">
              <a:solidFill>
                <a:srgbClr val="F9F9F9"/>
              </a:solidFill>
              <a:prstDash val="solid"/>
              <a:round/>
            </a:ln>
            <a:effectLst/>
          </c:spPr>
          <c:dPt>
            <c:idx val="0"/>
            <c:bubble3D val="0"/>
            <c:spPr>
              <a:solidFill>
                <a:srgbClr val="0D2B3E"/>
              </a:solidFill>
              <a:effectLst/>
            </c:spPr>
          </c:dPt>
          <c:dPt>
            <c:idx val="1"/>
            <c:bubble3D val="0"/>
            <c:spPr>
              <a:solidFill>
                <a:srgbClr val="FF6B4A"/>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Kênh chính thức</c:v>
                </c:pt>
                <c:pt idx="1">
                  <c:v>Nhà sáng tạo bên ngoài</c:v>
                </c:pt>
              </c:strCache>
            </c:strRef>
          </c:cat>
          <c:val>
            <c:numRef>
              <c:f>Sheet1!$B$2:$B$3</c:f>
              <c:numCache>
                <c:ptCount val="2"/>
                <c:pt idx="0">
                  <c:v>39.613287636455894</c:v>
                </c:pt>
                <c:pt idx="1">
                  <c:v>60.386712363544106</c:v>
                </c:pt>
              </c:numCache>
            </c:numRef>
          </c:val>
        </c:ser>
        <c:firstSliceAng val="0"/>
        <c:holeSize val="60"/>
      </c:doughnutChart>
      <c:spPr>
        <a:noFill/>
        <a:ln>
          <a:noFill/>
        </a:ln>
        <a:effectLst/>
      </c:spPr>
    </c:plotArea>
    <c:legend>
      <c:legendPos val="b"/>
      <c:overlay val="0"/>
      <c:txPr>
        <a:bodyPr/>
        <a:lstStyle/>
        <a:p>
          <a:pPr>
            <a:defRPr sz="900">
              <a:solidFill>
                <a:srgbClr val="5B6B76"/>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50" b="0" i="0" u="none" strike="noStrike">
                <a:solidFill>
                  <a:srgbClr val="0D2B3E"/>
                </a:solidFill>
                <a:latin typeface="Century Schoolbook"/>
              </a:defRPr>
            </a:pPr>
            <a:r>
              <a:rPr sz="1150" b="0" i="0" u="none" strike="noStrike">
                <a:solidFill>
                  <a:srgbClr val="0D2B3E"/>
                </a:solidFill>
                <a:latin typeface="Century Schoolbook"/>
              </a:rPr>
              <a:t>Lượt xem TB/video: Ads vs. không Ads</a:t>
            </a:r>
          </a:p>
        </c:rich>
      </c:tx>
      <c:layout/>
      <c:overlay val="0"/>
    </c:title>
    <c:autoTitleDeleted val="0"/>
    <c:plotArea>
      <c:layout/>
      <c:barChart>
        <c:barDir val="col"/>
        <c:grouping val="clustered"/>
        <c:varyColors val="0"/>
        <c:ser>
          <c:idx val="0"/>
          <c:order val="0"/>
          <c:tx>
            <c:strRef>
              <c:f>Sheet1!$B$1</c:f>
              <c:strCache>
                <c:ptCount val="1"/>
                <c:pt idx="0">
                  <c:v>Lượt xem TB/video</c:v>
                </c:pt>
              </c:strCache>
            </c:strRef>
          </c:tx>
          <c:spPr>
            <a:solidFill>
              <a:srgbClr val="1FA9A0"/>
            </a:solidFill>
            <a:effectLst/>
          </c:spPr>
          <c:invertIfNegative val="0"/>
          <c:dLbls>
            <c:numFmt formatCode="#,##0,&quot;K&quot;" sourceLinked="0"/>
            <c:txPr>
              <a:bodyPr/>
              <a:lstStyle/>
              <a:p>
                <a:pPr>
                  <a:defRPr b="0" i="0" strike="noStrike" sz="10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Sheet1!$A$2:$A$3</c:f>
              <c:multiLvlStrCache>
                <c:ptCount val="2"/>
                <c:lvl>
                  <c:pt idx="0">
                    <c:v>Không Ads</c:v>
                  </c:pt>
                  <c:pt idx="1">
                    <c:v>Có Ads</c:v>
                  </c:pt>
                </c:lvl>
              </c:multiLvlStrCache>
            </c:multiLvlStrRef>
          </c:cat>
          <c:val>
            <c:numRef>
              <c:f>Sheet1!$B$2:$B$3</c:f>
              <c:numCache>
                <c:formatCode>General</c:formatCode>
                <c:ptCount val="2"/>
                <c:pt idx="0">
                  <c:v>60973</c:v>
                </c:pt>
                <c:pt idx="1">
                  <c:v>84795</c:v>
                </c:pt>
              </c:numCache>
            </c:numRef>
          </c:val>
        </c:ser>
        <c:dLbls>
          <c:numFmt formatCode="#,##0,&quot;K&quot;" sourceLinked="0"/>
          <c:txPr>
            <a:bodyPr/>
            <a:lstStyle/>
            <a:p>
              <a:pPr>
                <a:defRPr b="0" i="0" strike="noStrike" sz="1000" u="none">
                  <a:solidFill>
                    <a:srgbClr val="FFFFFF"/>
                  </a:solidFill>
                  <a:latin typeface="Arial"/>
                </a:defRPr>
              </a:pPr>
            </a:p>
          </c:txPr>
          <c:dLblPos val="inEnd"/>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E4E8EC"/>
            </a:solidFill>
            <a:prstDash val="solid"/>
            <a:round/>
          </a:ln>
        </c:spPr>
        <c:txPr>
          <a:bodyPr/>
          <a:lstStyle/>
          <a:p>
            <a:pPr>
              <a:defRPr sz="1000" b="0" i="0" u="none" strike="noStrike">
                <a:solidFill>
                  <a:srgbClr val="5B6B76"/>
                </a:solidFill>
                <a:latin typeface="Arial"/>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D2B3E"/>
                </a:solidFill>
                <a:latin typeface="Century Schoolbook"/>
              </a:defRPr>
            </a:pPr>
            <a:r>
              <a:rPr sz="1200" b="0" i="0" u="none" strike="noStrike">
                <a:solidFill>
                  <a:srgbClr val="0D2B3E"/>
                </a:solidFill>
                <a:latin typeface="Century Schoolbook"/>
              </a:rPr>
              <a:t>GMV theo ngành hàng</a:t>
            </a:r>
          </a:p>
        </c:rich>
      </c:tx>
      <c:layout/>
      <c:overlay val="0"/>
    </c:title>
    <c:autoTitleDeleted val="0"/>
    <c:plotArea>
      <c:layout/>
      <c:doughnutChart>
        <c:varyColors val="1"/>
        <c:ser>
          <c:idx val="0"/>
          <c:order val="0"/>
          <c:tx>
            <c:strRef>
              <c:f>Sheet1!$B$1</c:f>
              <c:strCache>
                <c:ptCount val="1"/>
                <c:pt idx="0">
                  <c:v>GMV</c:v>
                </c:pt>
              </c:strCache>
            </c:strRef>
          </c:tx>
          <c:spPr>
            <a:solidFill>
              <a:schemeClr val="accent1"/>
            </a:solidFill>
            <a:ln w="9525" cap="flat">
              <a:solidFill>
                <a:srgbClr val="F9F9F9"/>
              </a:solidFill>
              <a:prstDash val="solid"/>
              <a:round/>
            </a:ln>
            <a:effectLst/>
          </c:spPr>
          <c:dPt>
            <c:idx val="0"/>
            <c:bubble3D val="0"/>
            <c:spPr>
              <a:solidFill>
                <a:srgbClr val="FF6B4A"/>
              </a:solidFill>
              <a:effectLst/>
            </c:spPr>
          </c:dPt>
          <c:dPt>
            <c:idx val="1"/>
            <c:bubble3D val="0"/>
            <c:spPr>
              <a:solidFill>
                <a:srgbClr val="1FA9A0"/>
              </a:solidFill>
              <a:effectLst/>
            </c:spPr>
          </c:dPt>
          <c:dPt>
            <c:idx val="2"/>
            <c:bubble3D val="0"/>
            <c:spPr>
              <a:solidFill>
                <a:srgbClr val="F2B84B"/>
              </a:solidFill>
              <a:effectLst/>
            </c:spPr>
          </c:dPt>
          <c:dPt>
            <c:idx val="3"/>
            <c:bubble3D val="0"/>
            <c:spPr>
              <a:solidFill>
                <a:srgbClr val="8B6FC9"/>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Sports &amp; Outdoor</c:v>
                </c:pt>
                <c:pt idx="1">
                  <c:v>Womenswear &amp; Underwear</c:v>
                </c:pt>
                <c:pt idx="2">
                  <c:v>Fashion Accessories</c:v>
                </c:pt>
                <c:pt idx="3">
                  <c:v>Menswear &amp; Underwear</c:v>
                </c:pt>
              </c:strCache>
            </c:strRef>
          </c:cat>
          <c:val>
            <c:numRef>
              <c:f>Sheet1!$B$2:$B$5</c:f>
              <c:numCache>
                <c:ptCount val="4"/>
                <c:pt idx="0">
                  <c:v>3596769000</c:v>
                </c:pt>
                <c:pt idx="1">
                  <c:v>381934000</c:v>
                </c:pt>
                <c:pt idx="2">
                  <c:v>27942700</c:v>
                </c:pt>
                <c:pt idx="3">
                  <c:v>0</c:v>
                </c:pt>
              </c:numCache>
            </c:numRef>
          </c:val>
        </c:ser>
        <c:firstSliceAng val="0"/>
        <c:holeSize val="55"/>
      </c:doughnutChart>
      <c:spPr>
        <a:noFill/>
        <a:ln>
          <a:noFill/>
        </a:ln>
        <a:effectLst/>
      </c:spPr>
    </c:plotArea>
    <c:legend>
      <c:legendPos val="b"/>
      <c:overlay val="0"/>
      <c:txPr>
        <a:bodyPr/>
        <a:lstStyle/>
        <a:p>
          <a:pPr>
            <a:defRPr sz="900">
              <a:solidFill>
                <a:srgbClr val="5B6B76"/>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D2B3E"/>
                </a:solidFill>
                <a:latin typeface="Century Schoolbook"/>
              </a:defRPr>
            </a:pPr>
            <a:r>
              <a:rPr sz="1200" b="0" i="0" u="none" strike="noStrike">
                <a:solidFill>
                  <a:srgbClr val="0D2B3E"/>
                </a:solidFill>
                <a:latin typeface="Century Schoolbook"/>
              </a:rPr>
              <a:t>Phân khúc giá bán</a:t>
            </a:r>
          </a:p>
        </c:rich>
      </c:tx>
      <c:layout/>
      <c:overlay val="0"/>
    </c:title>
    <c:autoTitleDeleted val="0"/>
    <c:plotArea>
      <c:layout/>
      <c:barChart>
        <c:barDir val="col"/>
        <c:grouping val="clustered"/>
        <c:varyColors val="0"/>
        <c:ser>
          <c:idx val="0"/>
          <c:order val="0"/>
          <c:tx>
            <c:strRef>
              <c:f>Sheet1!$B$1</c:f>
              <c:strCache>
                <c:ptCount val="1"/>
                <c:pt idx="0">
                  <c:v>Số sản phẩm</c:v>
                </c:pt>
              </c:strCache>
            </c:strRef>
          </c:tx>
          <c:spPr>
            <a:solidFill>
              <a:srgbClr val="8B6FC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Sheet1!$A$2:$A$6</c:f>
              <c:multiLvlStrCache>
                <c:ptCount val="5"/>
                <c:lvl>
                  <c:pt idx="0">
                    <c:v>&lt;50k₫</c:v>
                  </c:pt>
                  <c:pt idx="1">
                    <c:v>50-100k₫</c:v>
                  </c:pt>
                  <c:pt idx="2">
                    <c:v>100-150k₫</c:v>
                  </c:pt>
                  <c:pt idx="3">
                    <c:v>150-200k₫</c:v>
                  </c:pt>
                  <c:pt idx="4">
                    <c:v>&gt;200k₫</c:v>
                  </c:pt>
                </c:lvl>
              </c:multiLvlStrCache>
            </c:multiLvlStrRef>
          </c:cat>
          <c:val>
            <c:numRef>
              <c:f>Sheet1!$B$2:$B$6</c:f>
              <c:numCache>
                <c:formatCode>General</c:formatCode>
                <c:ptCount val="5"/>
                <c:pt idx="0">
                  <c:v>8</c:v>
                </c:pt>
                <c:pt idx="1">
                  <c:v>33</c:v>
                </c:pt>
                <c:pt idx="2">
                  <c:v>49</c:v>
                </c:pt>
                <c:pt idx="3">
                  <c:v>50</c:v>
                </c:pt>
                <c:pt idx="4">
                  <c:v>42</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lineChart>
        <c:varyColors val="0"/>
        <c:ser>
          <c:idx val="1"/>
          <c:order val="1"/>
          <c:tx>
            <c:strRef>
              <c:f>Sheet1!$C$1</c:f>
              <c:strCache>
                <c:ptCount val="1"/>
                <c:pt idx="0">
                  <c:v>GMV</c:v>
                </c:pt>
              </c:strCache>
            </c:strRef>
          </c:tx>
          <c:spPr>
            <a:solidFill>
              <a:srgbClr val="FF6B4A"/>
            </a:solidFill>
            <a:ln w="28575" cap="flat">
              <a:solidFill>
                <a:srgbClr val="FF6B4A"/>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4"/>
            <c:spPr>
              <a:solidFill>
                <a:srgbClr val="FF6B4A"/>
              </a:solidFill>
              <a:ln w="9525" cap="flat">
                <a:solidFill>
                  <a:srgbClr val="FF6B4A"/>
                </a:solidFill>
                <a:prstDash val="solid"/>
                <a:round/>
              </a:ln>
              <a:effectLst/>
            </c:spPr>
          </c:marker>
          <c:cat>
            <c:multiLvlStrRef>
              <c:f>Sheet1!$A$2:$A$6</c:f>
              <c:multiLvlStrCache>
                <c:ptCount val="5"/>
                <c:lvl>
                  <c:pt idx="0">
                    <c:v>&lt;50k₫</c:v>
                  </c:pt>
                  <c:pt idx="1">
                    <c:v>50-100k₫</c:v>
                  </c:pt>
                  <c:pt idx="2">
                    <c:v>100-150k₫</c:v>
                  </c:pt>
                  <c:pt idx="3">
                    <c:v>150-200k₫</c:v>
                  </c:pt>
                  <c:pt idx="4">
                    <c:v>&gt;200k₫</c:v>
                  </c:pt>
                </c:lvl>
              </c:multiLvlStrCache>
            </c:multiLvlStrRef>
          </c:cat>
          <c:val>
            <c:numRef>
              <c:f>Sheet1!$C$2:$C$6</c:f>
              <c:numCache>
                <c:formatCode>General</c:formatCode>
                <c:ptCount val="5"/>
                <c:pt idx="0">
                  <c:v>338959200</c:v>
                </c:pt>
                <c:pt idx="1">
                  <c:v>1722090400</c:v>
                </c:pt>
                <c:pt idx="2">
                  <c:v>1036457900</c:v>
                </c:pt>
                <c:pt idx="3">
                  <c:v>842431000</c:v>
                </c:pt>
                <c:pt idx="4">
                  <c:v>11007200</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5"/>
        <c:axId val="2094734553"/>
        <c:axId val="2094734556"/>
      </c:lineChart>
      <c:catAx>
        <c:axId val="2094734554"/>
        <c:scaling>
          <c:orientation val="minMax"/>
        </c:scaling>
        <c:delete val="0"/>
        <c:axPos val="b"/>
        <c:numFmt formatCode="General" sourceLinked="1"/>
        <c:majorTickMark val="out"/>
        <c:minorTickMark val="none"/>
        <c:tickLblPos val="low"/>
        <c:spPr>
          <a:ln w="12700" cap="flat">
            <a:solidFill>
              <a:srgbClr val="E4E8EC"/>
            </a:solidFill>
            <a:prstDash val="solid"/>
            <a:round/>
          </a:ln>
        </c:spPr>
        <c:txPr>
          <a:bodyPr/>
          <a:lstStyle/>
          <a:p>
            <a:pPr>
              <a:defRPr sz="900" b="0" i="0" u="none" strike="noStrike">
                <a:solidFill>
                  <a:srgbClr val="8A97A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4E8EC"/>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8A97A0"/>
                </a:solidFill>
                <a:latin typeface="Arial"/>
              </a:defRPr>
            </a:pPr>
            <a:endParaRPr lang="en-US"/>
          </a:p>
        </c:txPr>
        <c:crossAx val="2094734554"/>
        <c:crosses val="autoZero"/>
        <c:crossBetween val="between"/>
      </c:valAx>
      <c:valAx>
        <c:axId val="2094734553"/>
        <c:scaling>
          <c:orientation val="minMax"/>
        </c:scaling>
        <c:delete val="0"/>
        <c:axPos val="r"/>
        <c:numFmt formatCode="#,##0,,&quot;M&quot;"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8A97A0"/>
                </a:solidFill>
                <a:latin typeface="Arial"/>
              </a:defRPr>
            </a:pPr>
            <a:endParaRPr lang="en-US"/>
          </a:p>
        </c:txPr>
        <c:crossAx val="2094734555"/>
        <c:crosses val="max"/>
        <c:crossBetween val="between"/>
      </c:valAx>
      <c:catAx>
        <c:axId val="2094734555"/>
        <c:scaling>
          <c:orientation val="minMax"/>
        </c:scaling>
        <c:delete val="1"/>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3"/>
        <c:crosses val="autoZero"/>
        <c:auto val="1"/>
        <c:lblAlgn val="ctr"/>
        <c:noMultiLvlLbl val="1"/>
      </c:catAx>
      <c:spPr>
        <a:noFill/>
        <a:ln>
          <a:noFill/>
        </a:ln>
        <a:effectLst/>
      </c:spPr>
    </c:plotArea>
    <c:legend>
      <c:legendPos val="b"/>
      <c:overlay val="0"/>
      <c:txPr>
        <a:bodyPr/>
        <a:lstStyle/>
        <a:p>
          <a:pPr>
            <a:defRPr sz="900">
              <a:solidFill>
                <a:srgbClr val="5B6B76"/>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
                </c:pt>
              </c:strCache>
            </c:strRef>
          </c:tx>
          <c:spPr>
            <a:solidFill>
              <a:schemeClr val="accent1"/>
            </a:solidFill>
            <a:ln w="9525" cap="flat">
              <a:solidFill>
                <a:srgbClr val="F9F9F9"/>
              </a:solidFill>
              <a:prstDash val="solid"/>
              <a:round/>
            </a:ln>
            <a:effectLst/>
          </c:spPr>
          <c:dPt>
            <c:idx val="0"/>
            <c:bubble3D val="0"/>
            <c:spPr>
              <a:solidFill>
                <a:srgbClr val="FF6B4A"/>
              </a:solidFill>
              <a:ln w="9525" cap="flat">
                <a:solidFill>
                  <a:srgbClr val="FFFFFF"/>
                </a:solidFill>
                <a:prstDash val="solid"/>
                <a:round/>
              </a:ln>
              <a:effectLst/>
            </c:spPr>
          </c:dPt>
          <c:dPt>
            <c:idx val="1"/>
            <c:bubble3D val="0"/>
            <c:spPr>
              <a:solidFill>
                <a:srgbClr val="E4E8EC"/>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Kami Ely</c:v>
                </c:pt>
                <c:pt idx="1">
                  <c:v>Còn lại</c:v>
                </c:pt>
              </c:strCache>
            </c:strRef>
          </c:cat>
          <c:val>
            <c:numRef>
              <c:f>Sheet1!$B$2:$B$3</c:f>
              <c:numCache>
                <c:ptCount val="2"/>
                <c:pt idx="0">
                  <c:v>63.6129837116108</c:v>
                </c:pt>
                <c:pt idx="1">
                  <c:v>36.3870162883892</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
                </c:pt>
              </c:strCache>
            </c:strRef>
          </c:tx>
          <c:spPr>
            <a:solidFill>
              <a:schemeClr val="accent1"/>
            </a:solidFill>
            <a:ln w="9525" cap="flat">
              <a:solidFill>
                <a:srgbClr val="F9F9F9"/>
              </a:solidFill>
              <a:prstDash val="solid"/>
              <a:round/>
            </a:ln>
            <a:effectLst/>
          </c:spPr>
          <c:dPt>
            <c:idx val="0"/>
            <c:bubble3D val="0"/>
            <c:spPr>
              <a:solidFill>
                <a:srgbClr val="1FA9A0"/>
              </a:solidFill>
              <a:ln w="9525" cap="flat">
                <a:solidFill>
                  <a:srgbClr val="FFFFFF"/>
                </a:solidFill>
                <a:prstDash val="solid"/>
                <a:round/>
              </a:ln>
              <a:effectLst/>
            </c:spPr>
          </c:dPt>
          <c:dPt>
            <c:idx val="1"/>
            <c:bubble3D val="0"/>
            <c:spPr>
              <a:solidFill>
                <a:srgbClr val="E4E8EC"/>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Kami Ely</c:v>
                </c:pt>
                <c:pt idx="1">
                  <c:v>Còn lại</c:v>
                </c:pt>
              </c:strCache>
            </c:strRef>
          </c:cat>
          <c:val>
            <c:numRef>
              <c:f>Sheet1!$B$2:$B$3</c:f>
              <c:numCache>
                <c:ptCount val="2"/>
                <c:pt idx="0">
                  <c:v>78.48452072930507</c:v>
                </c:pt>
                <c:pt idx="1">
                  <c:v>21.515479270694925</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
                </c:pt>
              </c:strCache>
            </c:strRef>
          </c:tx>
          <c:spPr>
            <a:solidFill>
              <a:schemeClr val="accent1"/>
            </a:solidFill>
            <a:ln w="9525" cap="flat">
              <a:solidFill>
                <a:srgbClr val="F9F9F9"/>
              </a:solidFill>
              <a:prstDash val="solid"/>
              <a:round/>
            </a:ln>
            <a:effectLst/>
          </c:spPr>
          <c:dPt>
            <c:idx val="0"/>
            <c:bubble3D val="0"/>
            <c:spPr>
              <a:solidFill>
                <a:srgbClr val="F2B84B"/>
              </a:solidFill>
              <a:ln w="9525" cap="flat">
                <a:solidFill>
                  <a:srgbClr val="FFFFFF"/>
                </a:solidFill>
                <a:prstDash val="solid"/>
                <a:round/>
              </a:ln>
              <a:effectLst/>
            </c:spPr>
          </c:dPt>
          <c:dPt>
            <c:idx val="1"/>
            <c:bubble3D val="0"/>
            <c:spPr>
              <a:solidFill>
                <a:srgbClr val="E4E8EC"/>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Kami Ely</c:v>
                </c:pt>
                <c:pt idx="1">
                  <c:v>Còn lại</c:v>
                </c:pt>
              </c:strCache>
            </c:strRef>
          </c:cat>
          <c:val>
            <c:numRef>
              <c:f>Sheet1!$B$2:$B$3</c:f>
              <c:numCache>
                <c:ptCount val="2"/>
                <c:pt idx="0">
                  <c:v>85.85865659204572</c:v>
                </c:pt>
                <c:pt idx="1">
                  <c:v>14.141343407954281</c:v>
                </c:pt>
              </c:numCache>
            </c:numRef>
          </c:val>
        </c:ser>
        <c:firstSliceAng val="0"/>
        <c:holeSize val="68"/>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5-1.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chart" Target="/ppt/charts/chart7.xml"/><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8.xml"/><Relationship Id="rId2" Type="http://schemas.openxmlformats.org/officeDocument/2006/relationships/chart" Target="/ppt/charts/chart9.xm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chart" Target="/ppt/charts/chart11.xml"/><Relationship Id="rId3" Type="http://schemas.openxmlformats.org/officeDocument/2006/relationships/chart" Target="/ppt/charts/chart12.xml"/><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1.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C29"/>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2B3E">
              <a:alpha val="70000"/>
            </a:srgbClr>
          </a:solidFill>
          <a:ln/>
        </p:spPr>
      </p:sp>
      <p:sp>
        <p:nvSpPr>
          <p:cNvPr id="3" name="Shape 1"/>
          <p:cNvSpPr/>
          <p:nvPr/>
        </p:nvSpPr>
        <p:spPr>
          <a:xfrm>
            <a:off x="8899855" y="-2011680"/>
            <a:ext cx="5943600" cy="5943600"/>
          </a:xfrm>
          <a:prstGeom prst="ellipse">
            <a:avLst/>
          </a:prstGeom>
          <a:solidFill>
            <a:srgbClr val="FF6B4A">
              <a:alpha val="12000"/>
            </a:srgbClr>
          </a:solidFill>
          <a:ln/>
        </p:spPr>
      </p:sp>
      <p:sp>
        <p:nvSpPr>
          <p:cNvPr id="4" name="Shape 2"/>
          <p:cNvSpPr/>
          <p:nvPr/>
        </p:nvSpPr>
        <p:spPr>
          <a:xfrm>
            <a:off x="548640" y="681228"/>
            <a:ext cx="91440" cy="91440"/>
          </a:xfrm>
          <a:prstGeom prst="ellipse">
            <a:avLst/>
          </a:prstGeom>
          <a:solidFill>
            <a:srgbClr val="FF6B4A"/>
          </a:solidFill>
          <a:ln/>
        </p:spPr>
      </p:sp>
      <p:sp>
        <p:nvSpPr>
          <p:cNvPr id="5" name="Text 3"/>
          <p:cNvSpPr/>
          <p:nvPr/>
        </p:nvSpPr>
        <p:spPr>
          <a:xfrm>
            <a:off x="713232" y="594360"/>
            <a:ext cx="7315200" cy="228600"/>
          </a:xfrm>
          <a:prstGeom prst="rect">
            <a:avLst/>
          </a:prstGeom>
          <a:noFill/>
          <a:ln/>
        </p:spPr>
        <p:txBody>
          <a:bodyPr wrap="square" rtlCol="0" anchor="ctr"/>
          <a:lstStyle/>
          <a:p>
            <a:pPr algn="l" indent="0" marL="0">
              <a:buNone/>
            </a:pPr>
            <a:r>
              <a:rPr lang="en-US" sz="1100" b="1" spc="120" kern="0" dirty="0">
                <a:solidFill>
                  <a:srgbClr val="FF6B4A"/>
                </a:solidFill>
                <a:latin typeface="Arial" pitchFamily="34" charset="0"/>
                <a:ea typeface="Arial" pitchFamily="34" charset="-122"/>
                <a:cs typeface="Arial" pitchFamily="34" charset="-120"/>
              </a:rPr>
              <a:t>BÁO CÁO PHÂN TÍCH DỮ LIỆU · TIKTOK SHOP</a:t>
            </a:r>
            <a:endParaRPr lang="en-US" sz="1100" dirty="0"/>
          </a:p>
        </p:txBody>
      </p:sp>
      <p:sp>
        <p:nvSpPr>
          <p:cNvPr id="6" name="Text 4"/>
          <p:cNvSpPr/>
          <p:nvPr/>
        </p:nvSpPr>
        <p:spPr>
          <a:xfrm>
            <a:off x="548640" y="1417320"/>
            <a:ext cx="9601200" cy="1188720"/>
          </a:xfrm>
          <a:prstGeom prst="rect">
            <a:avLst/>
          </a:prstGeom>
          <a:noFill/>
          <a:ln/>
        </p:spPr>
        <p:txBody>
          <a:bodyPr wrap="square" rtlCol="0" anchor="t"/>
          <a:lstStyle/>
          <a:p>
            <a:pPr algn="l" indent="0" marL="0">
              <a:buNone/>
            </a:pPr>
            <a:r>
              <a:rPr lang="en-US" sz="6000" b="1" spc="50" kern="0" dirty="0">
                <a:solidFill>
                  <a:srgbClr val="FFFFFF"/>
                </a:solidFill>
                <a:latin typeface="Century Schoolbook" pitchFamily="34" charset="0"/>
                <a:ea typeface="Century Schoolbook" pitchFamily="34" charset="-122"/>
                <a:cs typeface="Century Schoolbook" pitchFamily="34" charset="-120"/>
              </a:rPr>
              <a:t>KAMI ELY</a:t>
            </a:r>
            <a:endParaRPr lang="en-US" sz="6000" dirty="0"/>
          </a:p>
        </p:txBody>
      </p:sp>
      <p:sp>
        <p:nvSpPr>
          <p:cNvPr id="7" name="Text 5"/>
          <p:cNvSpPr/>
          <p:nvPr/>
        </p:nvSpPr>
        <p:spPr>
          <a:xfrm>
            <a:off x="548640" y="2377440"/>
            <a:ext cx="9601200" cy="777240"/>
          </a:xfrm>
          <a:prstGeom prst="rect">
            <a:avLst/>
          </a:prstGeom>
          <a:noFill/>
          <a:ln/>
        </p:spPr>
        <p:txBody>
          <a:bodyPr wrap="square" rtlCol="0" anchor="t"/>
          <a:lstStyle/>
          <a:p>
            <a:pPr algn="l" indent="0" marL="0">
              <a:buNone/>
            </a:pPr>
            <a:r>
              <a:rPr lang="en-US" sz="3200" b="1" dirty="0">
                <a:solidFill>
                  <a:srgbClr val="FF6B4A"/>
                </a:solidFill>
                <a:latin typeface="Century Schoolbook" pitchFamily="34" charset="0"/>
                <a:ea typeface="Century Schoolbook" pitchFamily="34" charset="-122"/>
                <a:cs typeface="Century Schoolbook" pitchFamily="34" charset="-120"/>
              </a:rPr>
              <a:t>Performance Dashboard</a:t>
            </a:r>
            <a:endParaRPr lang="en-US" sz="3200" dirty="0"/>
          </a:p>
        </p:txBody>
      </p:sp>
      <p:sp>
        <p:nvSpPr>
          <p:cNvPr id="8" name="Text 6"/>
          <p:cNvSpPr/>
          <p:nvPr/>
        </p:nvSpPr>
        <p:spPr>
          <a:xfrm>
            <a:off x="548640" y="3246120"/>
            <a:ext cx="6675120" cy="685800"/>
          </a:xfrm>
          <a:prstGeom prst="rect">
            <a:avLst/>
          </a:prstGeom>
          <a:noFill/>
          <a:ln/>
        </p:spPr>
        <p:txBody>
          <a:bodyPr wrap="square" rtlCol="0" anchor="t"/>
          <a:lstStyle/>
          <a:p>
            <a:pPr algn="l" indent="0" marL="0">
              <a:lnSpc>
                <a:spcPct val="130000"/>
              </a:lnSpc>
              <a:buNone/>
            </a:pPr>
            <a:r>
              <a:rPr lang="en-US" sz="1350" dirty="0">
                <a:solidFill>
                  <a:srgbClr val="D7E0E6"/>
                </a:solidFill>
                <a:latin typeface="Arial" pitchFamily="34" charset="0"/>
                <a:ea typeface="Arial" pitchFamily="34" charset="-122"/>
                <a:cs typeface="Arial" pitchFamily="34" charset="-120"/>
              </a:rPr>
              <a:t>Phân tích toàn diện hiệu suất bán hàng, livestream, video và tiếp thị liên kết của gian hàng Kami Ely trên TikTok Shop — từ dữ liệu thô đến phát hiện có thể hành động.</a:t>
            </a:r>
            <a:endParaRPr lang="en-US" sz="1350" dirty="0"/>
          </a:p>
        </p:txBody>
      </p:sp>
      <p:sp>
        <p:nvSpPr>
          <p:cNvPr id="9" name="Text 7"/>
          <p:cNvSpPr/>
          <p:nvPr/>
        </p:nvSpPr>
        <p:spPr>
          <a:xfrm>
            <a:off x="548640" y="3950208"/>
            <a:ext cx="8686800" cy="320040"/>
          </a:xfrm>
          <a:prstGeom prst="rect">
            <a:avLst/>
          </a:prstGeom>
          <a:noFill/>
          <a:ln/>
        </p:spPr>
        <p:txBody>
          <a:bodyPr wrap="square" rtlCol="0" anchor="t"/>
          <a:lstStyle/>
          <a:p>
            <a:pPr algn="l" indent="0" marL="0">
              <a:buNone/>
            </a:pPr>
            <a:r>
              <a:rPr lang="en-US" sz="1000" dirty="0">
                <a:solidFill>
                  <a:srgbClr val="7E93A0"/>
                </a:solidFill>
                <a:latin typeface="Arial" pitchFamily="34" charset="0"/>
                <a:ea typeface="Arial" pitchFamily="34" charset="-122"/>
                <a:cs typeface="Arial" pitchFamily="34" charset="-120"/>
              </a:rPr>
              <a:t>Kỳ dữ liệu chính: 22/05/2026 – 19/08/2026 (90 ngày)   ·   Nguồn: FastMoss (8 tệp xuất)   ·   Ngày xuất báo cáo: 20/08/2026</a:t>
            </a:r>
            <a:endParaRPr lang="en-US" sz="1000" dirty="0"/>
          </a:p>
        </p:txBody>
      </p:sp>
      <p:sp>
        <p:nvSpPr>
          <p:cNvPr id="10" name="Shape 8"/>
          <p:cNvSpPr/>
          <p:nvPr/>
        </p:nvSpPr>
        <p:spPr>
          <a:xfrm>
            <a:off x="548640" y="4709160"/>
            <a:ext cx="2677592" cy="1417320"/>
          </a:xfrm>
          <a:prstGeom prst="rect">
            <a:avLst/>
          </a:prstGeom>
          <a:solidFill>
            <a:srgbClr val="FFFFFF">
              <a:alpha val="8000"/>
            </a:srgbClr>
          </a:solidFill>
          <a:ln w="12700">
            <a:solidFill>
              <a:srgbClr val="FFFFFF">
                <a:alpha val="20000"/>
              </a:srgbClr>
            </a:solidFill>
            <a:prstDash val="solid"/>
          </a:ln>
        </p:spPr>
      </p:sp>
      <p:sp>
        <p:nvSpPr>
          <p:cNvPr id="11" name="Text 9"/>
          <p:cNvSpPr/>
          <p:nvPr/>
        </p:nvSpPr>
        <p:spPr>
          <a:xfrm>
            <a:off x="713232" y="4892040"/>
            <a:ext cx="2348408" cy="566928"/>
          </a:xfrm>
          <a:prstGeom prst="rect">
            <a:avLst/>
          </a:prstGeom>
          <a:noFill/>
          <a:ln/>
        </p:spPr>
        <p:txBody>
          <a:bodyPr wrap="square" rtlCol="0" anchor="b"/>
          <a:lstStyle/>
          <a:p>
            <a:pPr algn="l" indent="0" marL="0">
              <a:buNone/>
            </a:pPr>
            <a:r>
              <a:rPr lang="en-US" sz="2200" b="1" dirty="0">
                <a:solidFill>
                  <a:srgbClr val="FF6B4A"/>
                </a:solidFill>
                <a:latin typeface="Century Schoolbook" pitchFamily="34" charset="0"/>
                <a:ea typeface="Century Schoolbook" pitchFamily="34" charset="-122"/>
                <a:cs typeface="Century Schoolbook" pitchFamily="34" charset="-120"/>
              </a:rPr>
              <a:t>7,35 tỷ ₫</a:t>
            </a:r>
            <a:endParaRPr lang="en-US" sz="2200" dirty="0"/>
          </a:p>
        </p:txBody>
      </p:sp>
      <p:sp>
        <p:nvSpPr>
          <p:cNvPr id="12" name="Text 10"/>
          <p:cNvSpPr/>
          <p:nvPr/>
        </p:nvSpPr>
        <p:spPr>
          <a:xfrm>
            <a:off x="713232" y="5477256"/>
            <a:ext cx="2348408" cy="548640"/>
          </a:xfrm>
          <a:prstGeom prst="rect">
            <a:avLst/>
          </a:prstGeom>
          <a:noFill/>
          <a:ln/>
        </p:spPr>
        <p:txBody>
          <a:bodyPr wrap="square" rtlCol="0" anchor="t"/>
          <a:lstStyle/>
          <a:p>
            <a:pPr algn="l" indent="0" marL="0">
              <a:lnSpc>
                <a:spcPct val="120000"/>
              </a:lnSpc>
              <a:buNone/>
            </a:pPr>
            <a:r>
              <a:rPr lang="en-US" sz="950" dirty="0">
                <a:solidFill>
                  <a:srgbClr val="B8C6CE"/>
                </a:solidFill>
                <a:latin typeface="Arial" pitchFamily="34" charset="0"/>
                <a:ea typeface="Arial" pitchFamily="34" charset="-122"/>
                <a:cs typeface="Arial" pitchFamily="34" charset="-120"/>
              </a:rPr>
              <a:t>Tổng GMV trong kỳ 90 ngày</a:t>
            </a:r>
            <a:endParaRPr lang="en-US" sz="950" dirty="0"/>
          </a:p>
        </p:txBody>
      </p:sp>
      <p:sp>
        <p:nvSpPr>
          <p:cNvPr id="13" name="Shape 11"/>
          <p:cNvSpPr/>
          <p:nvPr/>
        </p:nvSpPr>
        <p:spPr>
          <a:xfrm>
            <a:off x="3354248" y="4709160"/>
            <a:ext cx="2677592" cy="1417320"/>
          </a:xfrm>
          <a:prstGeom prst="rect">
            <a:avLst/>
          </a:prstGeom>
          <a:solidFill>
            <a:srgbClr val="FFFFFF">
              <a:alpha val="8000"/>
            </a:srgbClr>
          </a:solidFill>
          <a:ln w="12700">
            <a:solidFill>
              <a:srgbClr val="FFFFFF">
                <a:alpha val="20000"/>
              </a:srgbClr>
            </a:solidFill>
            <a:prstDash val="solid"/>
          </a:ln>
        </p:spPr>
      </p:sp>
      <p:sp>
        <p:nvSpPr>
          <p:cNvPr id="14" name="Text 12"/>
          <p:cNvSpPr/>
          <p:nvPr/>
        </p:nvSpPr>
        <p:spPr>
          <a:xfrm>
            <a:off x="3518840" y="4892040"/>
            <a:ext cx="2348408" cy="566928"/>
          </a:xfrm>
          <a:prstGeom prst="rect">
            <a:avLst/>
          </a:prstGeom>
          <a:noFill/>
          <a:ln/>
        </p:spPr>
        <p:txBody>
          <a:bodyPr wrap="square" rtlCol="0" anchor="b"/>
          <a:lstStyle/>
          <a:p>
            <a:pPr algn="l" indent="0" marL="0">
              <a:buNone/>
            </a:pPr>
            <a:r>
              <a:rPr lang="en-US" sz="2200" b="1" dirty="0">
                <a:solidFill>
                  <a:srgbClr val="FFFFFF"/>
                </a:solidFill>
                <a:latin typeface="Century Schoolbook" pitchFamily="34" charset="0"/>
                <a:ea typeface="Century Schoolbook" pitchFamily="34" charset="-122"/>
                <a:cs typeface="Century Schoolbook" pitchFamily="34" charset="-120"/>
              </a:rPr>
              <a:t>46.116</a:t>
            </a:r>
            <a:endParaRPr lang="en-US" sz="2200" dirty="0"/>
          </a:p>
        </p:txBody>
      </p:sp>
      <p:sp>
        <p:nvSpPr>
          <p:cNvPr id="15" name="Text 13"/>
          <p:cNvSpPr/>
          <p:nvPr/>
        </p:nvSpPr>
        <p:spPr>
          <a:xfrm>
            <a:off x="3518840" y="5477256"/>
            <a:ext cx="2348408" cy="548640"/>
          </a:xfrm>
          <a:prstGeom prst="rect">
            <a:avLst/>
          </a:prstGeom>
          <a:noFill/>
          <a:ln/>
        </p:spPr>
        <p:txBody>
          <a:bodyPr wrap="square" rtlCol="0" anchor="t"/>
          <a:lstStyle/>
          <a:p>
            <a:pPr algn="l" indent="0" marL="0">
              <a:lnSpc>
                <a:spcPct val="120000"/>
              </a:lnSpc>
              <a:buNone/>
            </a:pPr>
            <a:r>
              <a:rPr lang="en-US" sz="950" dirty="0">
                <a:solidFill>
                  <a:srgbClr val="B8C6CE"/>
                </a:solidFill>
                <a:latin typeface="Arial" pitchFamily="34" charset="0"/>
                <a:ea typeface="Arial" pitchFamily="34" charset="-122"/>
                <a:cs typeface="Arial" pitchFamily="34" charset="-120"/>
              </a:rPr>
              <a:t>Sản phẩm bán ra trong kỳ</a:t>
            </a:r>
            <a:endParaRPr lang="en-US" sz="950" dirty="0"/>
          </a:p>
        </p:txBody>
      </p:sp>
      <p:sp>
        <p:nvSpPr>
          <p:cNvPr id="16" name="Shape 14"/>
          <p:cNvSpPr/>
          <p:nvPr/>
        </p:nvSpPr>
        <p:spPr>
          <a:xfrm>
            <a:off x="6159856" y="4709160"/>
            <a:ext cx="2677592" cy="1417320"/>
          </a:xfrm>
          <a:prstGeom prst="rect">
            <a:avLst/>
          </a:prstGeom>
          <a:solidFill>
            <a:srgbClr val="FFFFFF">
              <a:alpha val="8000"/>
            </a:srgbClr>
          </a:solidFill>
          <a:ln w="12700">
            <a:solidFill>
              <a:srgbClr val="FFFFFF">
                <a:alpha val="20000"/>
              </a:srgbClr>
            </a:solidFill>
            <a:prstDash val="solid"/>
          </a:ln>
        </p:spPr>
      </p:sp>
      <p:sp>
        <p:nvSpPr>
          <p:cNvPr id="17" name="Text 15"/>
          <p:cNvSpPr/>
          <p:nvPr/>
        </p:nvSpPr>
        <p:spPr>
          <a:xfrm>
            <a:off x="6324448" y="4892040"/>
            <a:ext cx="2348408" cy="566928"/>
          </a:xfrm>
          <a:prstGeom prst="rect">
            <a:avLst/>
          </a:prstGeom>
          <a:noFill/>
          <a:ln/>
        </p:spPr>
        <p:txBody>
          <a:bodyPr wrap="square" rtlCol="0" anchor="b"/>
          <a:lstStyle/>
          <a:p>
            <a:pPr algn="l" indent="0" marL="0">
              <a:buNone/>
            </a:pPr>
            <a:r>
              <a:rPr lang="en-US" sz="2200" b="1" dirty="0">
                <a:solidFill>
                  <a:srgbClr val="FF6B4A"/>
                </a:solidFill>
                <a:latin typeface="Century Schoolbook" pitchFamily="34" charset="0"/>
                <a:ea typeface="Century Schoolbook" pitchFamily="34" charset="-122"/>
                <a:cs typeface="Century Schoolbook" pitchFamily="34" charset="-120"/>
              </a:rPr>
              <a:t>#1 / 300</a:t>
            </a:r>
            <a:endParaRPr lang="en-US" sz="2200" dirty="0"/>
          </a:p>
        </p:txBody>
      </p:sp>
      <p:sp>
        <p:nvSpPr>
          <p:cNvPr id="18" name="Text 16"/>
          <p:cNvSpPr/>
          <p:nvPr/>
        </p:nvSpPr>
        <p:spPr>
          <a:xfrm>
            <a:off x="6324448" y="5477256"/>
            <a:ext cx="2348408" cy="548640"/>
          </a:xfrm>
          <a:prstGeom prst="rect">
            <a:avLst/>
          </a:prstGeom>
          <a:noFill/>
          <a:ln/>
        </p:spPr>
        <p:txBody>
          <a:bodyPr wrap="square" rtlCol="0" anchor="t"/>
          <a:lstStyle/>
          <a:p>
            <a:pPr algn="l" indent="0" marL="0">
              <a:lnSpc>
                <a:spcPct val="120000"/>
              </a:lnSpc>
              <a:buNone/>
            </a:pPr>
            <a:r>
              <a:rPr lang="en-US" sz="950" dirty="0">
                <a:solidFill>
                  <a:srgbClr val="B8C6CE"/>
                </a:solidFill>
                <a:latin typeface="Arial" pitchFamily="34" charset="0"/>
                <a:ea typeface="Arial" pitchFamily="34" charset="-122"/>
                <a:cs typeface="Arial" pitchFamily="34" charset="-120"/>
              </a:rPr>
              <a:t>Xếp hạng nhà bán trong ngành hàng</a:t>
            </a:r>
            <a:endParaRPr lang="en-US" sz="950" dirty="0"/>
          </a:p>
        </p:txBody>
      </p:sp>
      <p:sp>
        <p:nvSpPr>
          <p:cNvPr id="19" name="Shape 17"/>
          <p:cNvSpPr/>
          <p:nvPr/>
        </p:nvSpPr>
        <p:spPr>
          <a:xfrm>
            <a:off x="8965463" y="4709160"/>
            <a:ext cx="2677592" cy="1417320"/>
          </a:xfrm>
          <a:prstGeom prst="rect">
            <a:avLst/>
          </a:prstGeom>
          <a:solidFill>
            <a:srgbClr val="FFFFFF">
              <a:alpha val="8000"/>
            </a:srgbClr>
          </a:solidFill>
          <a:ln w="12700">
            <a:solidFill>
              <a:srgbClr val="FFFFFF">
                <a:alpha val="20000"/>
              </a:srgbClr>
            </a:solidFill>
            <a:prstDash val="solid"/>
          </a:ln>
        </p:spPr>
      </p:sp>
      <p:sp>
        <p:nvSpPr>
          <p:cNvPr id="20" name="Text 18"/>
          <p:cNvSpPr/>
          <p:nvPr/>
        </p:nvSpPr>
        <p:spPr>
          <a:xfrm>
            <a:off x="9130055" y="4892040"/>
            <a:ext cx="2348408" cy="566928"/>
          </a:xfrm>
          <a:prstGeom prst="rect">
            <a:avLst/>
          </a:prstGeom>
          <a:noFill/>
          <a:ln/>
        </p:spPr>
        <p:txBody>
          <a:bodyPr wrap="square" rtlCol="0" anchor="b"/>
          <a:lstStyle/>
          <a:p>
            <a:pPr algn="l" indent="0" marL="0">
              <a:buNone/>
            </a:pPr>
            <a:r>
              <a:rPr lang="en-US" sz="2200" b="1" dirty="0">
                <a:solidFill>
                  <a:srgbClr val="FFFFFF"/>
                </a:solidFill>
                <a:latin typeface="Century Schoolbook" pitchFamily="34" charset="0"/>
                <a:ea typeface="Century Schoolbook" pitchFamily="34" charset="-122"/>
                <a:cs typeface="Century Schoolbook" pitchFamily="34" charset="-120"/>
              </a:rPr>
              <a:t>73,5%</a:t>
            </a:r>
            <a:endParaRPr lang="en-US" sz="2200" dirty="0"/>
          </a:p>
        </p:txBody>
      </p:sp>
      <p:sp>
        <p:nvSpPr>
          <p:cNvPr id="21" name="Text 19"/>
          <p:cNvSpPr/>
          <p:nvPr/>
        </p:nvSpPr>
        <p:spPr>
          <a:xfrm>
            <a:off x="9130055" y="5477256"/>
            <a:ext cx="2348408" cy="548640"/>
          </a:xfrm>
          <a:prstGeom prst="rect">
            <a:avLst/>
          </a:prstGeom>
          <a:noFill/>
          <a:ln/>
        </p:spPr>
        <p:txBody>
          <a:bodyPr wrap="square" rtlCol="0" anchor="t"/>
          <a:lstStyle/>
          <a:p>
            <a:pPr algn="l" indent="0" marL="0">
              <a:lnSpc>
                <a:spcPct val="120000"/>
              </a:lnSpc>
              <a:buNone/>
            </a:pPr>
            <a:r>
              <a:rPr lang="en-US" sz="950" dirty="0">
                <a:solidFill>
                  <a:srgbClr val="B8C6CE"/>
                </a:solidFill>
                <a:latin typeface="Arial" pitchFamily="34" charset="0"/>
                <a:ea typeface="Arial" pitchFamily="34" charset="-122"/>
                <a:cs typeface="Arial" pitchFamily="34" charset="-120"/>
              </a:rPr>
              <a:t>Doanh số đến từ LIVE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4068"/>
            <a:ext cx="91440" cy="91440"/>
          </a:xfrm>
          <a:prstGeom prst="ellipse">
            <a:avLst/>
          </a:prstGeom>
          <a:solidFill>
            <a:srgbClr val="FF6B4A"/>
          </a:solidFill>
          <a:ln/>
        </p:spPr>
      </p:sp>
      <p:sp>
        <p:nvSpPr>
          <p:cNvPr id="3" name="Text 1"/>
          <p:cNvSpPr/>
          <p:nvPr/>
        </p:nvSpPr>
        <p:spPr>
          <a:xfrm>
            <a:off x="713232" y="457200"/>
            <a:ext cx="7315200" cy="228600"/>
          </a:xfrm>
          <a:prstGeom prst="rect">
            <a:avLst/>
          </a:prstGeom>
          <a:noFill/>
          <a:ln/>
        </p:spPr>
        <p:txBody>
          <a:bodyPr wrap="square" rtlCol="0" anchor="ctr"/>
          <a:lstStyle/>
          <a:p>
            <a:pPr algn="l" indent="0" marL="0">
              <a:buNone/>
            </a:pPr>
            <a:r>
              <a:rPr lang="en-US" sz="1100" b="1" spc="120" kern="0" dirty="0">
                <a:solidFill>
                  <a:srgbClr val="FF6B4A"/>
                </a:solidFill>
                <a:latin typeface="Arial" pitchFamily="34" charset="0"/>
                <a:ea typeface="Arial" pitchFamily="34" charset="-122"/>
                <a:cs typeface="Arial" pitchFamily="34" charset="-120"/>
              </a:rPr>
              <a:t>GIỚI THIỆU</a:t>
            </a:r>
            <a:endParaRPr lang="en-US" sz="1100" dirty="0"/>
          </a:p>
        </p:txBody>
      </p:sp>
      <p:sp>
        <p:nvSpPr>
          <p:cNvPr id="4" name="Text 2"/>
          <p:cNvSpPr/>
          <p:nvPr/>
        </p:nvSpPr>
        <p:spPr>
          <a:xfrm>
            <a:off x="548640" y="758952"/>
            <a:ext cx="7315200" cy="548640"/>
          </a:xfrm>
          <a:prstGeom prst="rect">
            <a:avLst/>
          </a:prstGeom>
          <a:noFill/>
          <a:ln/>
        </p:spPr>
        <p:txBody>
          <a:bodyPr wrap="square" rtlCol="0" anchor="t"/>
          <a:lstStyle/>
          <a:p>
            <a:pPr algn="l" indent="0" marL="0">
              <a:buNone/>
            </a:pPr>
            <a:r>
              <a:rPr lang="en-US" sz="2800" b="1" dirty="0">
                <a:solidFill>
                  <a:srgbClr val="0D2B3E"/>
                </a:solidFill>
                <a:latin typeface="Century Schoolbook" pitchFamily="34" charset="0"/>
                <a:ea typeface="Century Schoolbook" pitchFamily="34" charset="-122"/>
                <a:cs typeface="Century Schoolbook" pitchFamily="34" charset="-120"/>
              </a:rPr>
              <a:t>Về dự án phân tích này</a:t>
            </a:r>
            <a:endParaRPr lang="en-US" sz="2800" dirty="0"/>
          </a:p>
        </p:txBody>
      </p:sp>
      <p:sp>
        <p:nvSpPr>
          <p:cNvPr id="5" name="Text 3"/>
          <p:cNvSpPr/>
          <p:nvPr/>
        </p:nvSpPr>
        <p:spPr>
          <a:xfrm>
            <a:off x="548640" y="1600200"/>
            <a:ext cx="6035040" cy="4206240"/>
          </a:xfrm>
          <a:prstGeom prst="rect">
            <a:avLst/>
          </a:prstGeom>
          <a:noFill/>
          <a:ln/>
        </p:spPr>
        <p:txBody>
          <a:bodyPr wrap="square" rtlCol="0" anchor="t"/>
          <a:lstStyle/>
          <a:p>
            <a:pPr indent="0" marL="0">
              <a:lnSpc>
                <a:spcPct val="140000"/>
              </a:lnSpc>
              <a:buNone/>
            </a:pPr>
            <a:r>
              <a:rPr lang="en-US" sz="1350" dirty="0">
                <a:solidFill>
                  <a:srgbClr val="16222B"/>
                </a:solidFill>
                <a:latin typeface="Arial" pitchFamily="34" charset="0"/>
                <a:ea typeface="Arial" pitchFamily="34" charset="-122"/>
                <a:cs typeface="Arial" pitchFamily="34" charset="-120"/>
              </a:rPr>
              <a:t>Dashboard này là một dự án phân tích dữ liệu cá nhân, minh họa toàn bộ quy trình từ làm sạch dữ liệu thô, tính toán chỉ số, phát hiện xu hướng, đến trực quan hóa — áp dụng trên một gian hàng TikTok Shop thực tế.
</a:t>
            </a:r>
            <a:pPr indent="0" marL="0">
              <a:lnSpc>
                <a:spcPct val="140000"/>
              </a:lnSpc>
              <a:buNone/>
            </a:pPr>
            <a:r>
              <a:rPr lang="en-US" sz="1350" dirty="0">
                <a:solidFill>
                  <a:srgbClr val="16222B"/>
                </a:solidFill>
                <a:latin typeface="Arial" pitchFamily="34" charset="0"/>
                <a:ea typeface="Arial" pitchFamily="34" charset="-122"/>
                <a:cs typeface="Arial" pitchFamily="34" charset="-120"/>
              </a:rPr>
              <a:t>Kami Ely là gian hàng chuyên đồ bơi, bikini và thời trang nữ tại Việt Nam, bán hàng chủ yếu qua livestream trên TikTok Shop. Dữ liệu được tổng hợp từ nền tảng phân tích bên thứ ba FastMoss, bao gồm hiệu suất cửa hàng, danh sách LIVE, video, sản phẩm, và các video tiếp thị liên kết từ nhà sáng tạo bên ngoài.
</a:t>
            </a:r>
            <a:pPr indent="0" marL="0">
              <a:lnSpc>
                <a:spcPct val="140000"/>
              </a:lnSpc>
              <a:buNone/>
            </a:pPr>
            <a:r>
              <a:rPr lang="en-US" sz="1350" dirty="0">
                <a:solidFill>
                  <a:srgbClr val="16222B"/>
                </a:solidFill>
                <a:latin typeface="Arial" pitchFamily="34" charset="0"/>
                <a:ea typeface="Arial" pitchFamily="34" charset="-122"/>
                <a:cs typeface="Arial" pitchFamily="34" charset="-120"/>
              </a:rPr>
              <a:t>Toàn bộ số liệu được xử lý bằng Python (pandas): chuẩn hóa định dạng số/tiền tệ, tính toán chỉ số tổng hợp, phân tích tương quan, và tổng hợp thành bảng dữ liệu phục vụ trực quan hóa.</a:t>
            </a:r>
            <a:endParaRPr lang="en-US" sz="1350" dirty="0"/>
          </a:p>
        </p:txBody>
      </p:sp>
      <p:sp>
        <p:nvSpPr>
          <p:cNvPr id="6" name="Shape 4"/>
          <p:cNvSpPr/>
          <p:nvPr/>
        </p:nvSpPr>
        <p:spPr>
          <a:xfrm>
            <a:off x="6720840" y="1463040"/>
            <a:ext cx="4892040" cy="4892040"/>
          </a:xfrm>
          <a:prstGeom prst="rect">
            <a:avLst/>
          </a:prstGeom>
          <a:solidFill>
            <a:srgbClr val="F7F8FA"/>
          </a:solidFill>
          <a:ln/>
        </p:spPr>
      </p:sp>
      <p:sp>
        <p:nvSpPr>
          <p:cNvPr id="7" name="Text 5"/>
          <p:cNvSpPr/>
          <p:nvPr/>
        </p:nvSpPr>
        <p:spPr>
          <a:xfrm>
            <a:off x="7040880" y="1691640"/>
            <a:ext cx="4297680" cy="274320"/>
          </a:xfrm>
          <a:prstGeom prst="rect">
            <a:avLst/>
          </a:prstGeom>
          <a:noFill/>
          <a:ln/>
        </p:spPr>
        <p:txBody>
          <a:bodyPr wrap="square" rtlCol="0" anchor="ctr"/>
          <a:lstStyle/>
          <a:p>
            <a:pPr indent="0" marL="0">
              <a:buNone/>
            </a:pPr>
            <a:r>
              <a:rPr lang="en-US" sz="1100" b="1" spc="100" kern="0" dirty="0">
                <a:solidFill>
                  <a:srgbClr val="E14F30"/>
                </a:solidFill>
                <a:latin typeface="Arial" pitchFamily="34" charset="0"/>
                <a:ea typeface="Arial" pitchFamily="34" charset="-122"/>
                <a:cs typeface="Arial" pitchFamily="34" charset="-120"/>
              </a:rPr>
              <a:t>NGUỒN DỮ LIỆU (8 TỆP)</a:t>
            </a:r>
            <a:endParaRPr lang="en-US" sz="1100" dirty="0"/>
          </a:p>
        </p:txBody>
      </p:sp>
      <p:sp>
        <p:nvSpPr>
          <p:cNvPr id="8" name="Shape 6"/>
          <p:cNvSpPr/>
          <p:nvPr/>
        </p:nvSpPr>
        <p:spPr>
          <a:xfrm>
            <a:off x="7040880" y="2148840"/>
            <a:ext cx="402336" cy="402336"/>
          </a:xfrm>
          <a:prstGeom prst="ellipse">
            <a:avLst/>
          </a:prstGeom>
          <a:solidFill>
            <a:srgbClr val="0D2B3E"/>
          </a:solidFill>
          <a:ln/>
        </p:spPr>
      </p:sp>
      <p:pic>
        <p:nvPicPr>
          <p:cNvPr id="9" name="Image 0" descr="icons/bag.png">    </p:cNvPr>
          <p:cNvPicPr>
            <a:picLocks noChangeAspect="1"/>
          </p:cNvPicPr>
          <p:nvPr/>
        </p:nvPicPr>
        <p:blipFill>
          <a:blip r:embed="rId1"/>
          <a:stretch>
            <a:fillRect/>
          </a:stretch>
        </p:blipFill>
        <p:spPr>
          <a:xfrm>
            <a:off x="7145487" y="2253447"/>
            <a:ext cx="193121" cy="193121"/>
          </a:xfrm>
          <a:prstGeom prst="rect">
            <a:avLst/>
          </a:prstGeom>
        </p:spPr>
      </p:pic>
      <p:sp>
        <p:nvSpPr>
          <p:cNvPr id="10" name="Text 7"/>
          <p:cNvSpPr/>
          <p:nvPr/>
        </p:nvSpPr>
        <p:spPr>
          <a:xfrm>
            <a:off x="7607808" y="2121408"/>
            <a:ext cx="3749040" cy="292608"/>
          </a:xfrm>
          <a:prstGeom prst="rect">
            <a:avLst/>
          </a:prstGeom>
          <a:noFill/>
          <a:ln/>
        </p:spPr>
        <p:txBody>
          <a:bodyPr wrap="square" rtlCol="0" anchor="t"/>
          <a:lstStyle/>
          <a:p>
            <a:pPr indent="0" marL="0">
              <a:buNone/>
            </a:pPr>
            <a:r>
              <a:rPr lang="en-US" sz="1250" b="1" dirty="0">
                <a:solidFill>
                  <a:srgbClr val="16222B"/>
                </a:solidFill>
                <a:latin typeface="Arial" pitchFamily="34" charset="0"/>
                <a:ea typeface="Arial" pitchFamily="34" charset="-122"/>
                <a:cs typeface="Arial" pitchFamily="34" charset="-120"/>
              </a:rPr>
              <a:t>Tổng quan cửa hàng</a:t>
            </a:r>
            <a:endParaRPr lang="en-US" sz="1250" dirty="0"/>
          </a:p>
        </p:txBody>
      </p:sp>
      <p:sp>
        <p:nvSpPr>
          <p:cNvPr id="11" name="Text 8"/>
          <p:cNvSpPr/>
          <p:nvPr/>
        </p:nvSpPr>
        <p:spPr>
          <a:xfrm>
            <a:off x="7607808" y="2395728"/>
            <a:ext cx="3749040" cy="320040"/>
          </a:xfrm>
          <a:prstGeom prst="rect">
            <a:avLst/>
          </a:prstGeom>
          <a:noFill/>
          <a:ln/>
        </p:spPr>
        <p:txBody>
          <a:bodyPr wrap="square" rtlCol="0" anchor="t"/>
          <a:lstStyle/>
          <a:p>
            <a:pPr indent="0" marL="0">
              <a:lnSpc>
                <a:spcPct val="110000"/>
              </a:lnSpc>
              <a:buNone/>
            </a:pPr>
            <a:r>
              <a:rPr lang="en-US" sz="1000" dirty="0">
                <a:solidFill>
                  <a:srgbClr val="5B6B76"/>
                </a:solidFill>
                <a:latin typeface="Arial" pitchFamily="34" charset="0"/>
                <a:ea typeface="Arial" pitchFamily="34" charset="-122"/>
                <a:cs typeface="Arial" pitchFamily="34" charset="-120"/>
              </a:rPr>
              <a:t>90 ngày dữ liệu doanh số &amp; sản lượng</a:t>
            </a:r>
            <a:endParaRPr lang="en-US" sz="1000" dirty="0"/>
          </a:p>
        </p:txBody>
      </p:sp>
      <p:sp>
        <p:nvSpPr>
          <p:cNvPr id="12" name="Shape 9"/>
          <p:cNvSpPr/>
          <p:nvPr/>
        </p:nvSpPr>
        <p:spPr>
          <a:xfrm>
            <a:off x="7040880" y="2862072"/>
            <a:ext cx="402336" cy="402336"/>
          </a:xfrm>
          <a:prstGeom prst="ellipse">
            <a:avLst/>
          </a:prstGeom>
          <a:solidFill>
            <a:srgbClr val="1FA9A0"/>
          </a:solidFill>
          <a:ln/>
        </p:spPr>
      </p:sp>
      <p:pic>
        <p:nvPicPr>
          <p:cNvPr id="13" name="Image 1" descr="icons/radio.png">    </p:cNvPr>
          <p:cNvPicPr>
            <a:picLocks noChangeAspect="1"/>
          </p:cNvPicPr>
          <p:nvPr/>
        </p:nvPicPr>
        <p:blipFill>
          <a:blip r:embed="rId2"/>
          <a:stretch>
            <a:fillRect/>
          </a:stretch>
        </p:blipFill>
        <p:spPr>
          <a:xfrm>
            <a:off x="7145487" y="2966679"/>
            <a:ext cx="193121" cy="193121"/>
          </a:xfrm>
          <a:prstGeom prst="rect">
            <a:avLst/>
          </a:prstGeom>
        </p:spPr>
      </p:pic>
      <p:sp>
        <p:nvSpPr>
          <p:cNvPr id="14" name="Text 10"/>
          <p:cNvSpPr/>
          <p:nvPr/>
        </p:nvSpPr>
        <p:spPr>
          <a:xfrm>
            <a:off x="7607808" y="2834640"/>
            <a:ext cx="3749040" cy="292608"/>
          </a:xfrm>
          <a:prstGeom prst="rect">
            <a:avLst/>
          </a:prstGeom>
          <a:noFill/>
          <a:ln/>
        </p:spPr>
        <p:txBody>
          <a:bodyPr wrap="square" rtlCol="0" anchor="t"/>
          <a:lstStyle/>
          <a:p>
            <a:pPr indent="0" marL="0">
              <a:buNone/>
            </a:pPr>
            <a:r>
              <a:rPr lang="en-US" sz="1250" b="1" dirty="0">
                <a:solidFill>
                  <a:srgbClr val="16222B"/>
                </a:solidFill>
                <a:latin typeface="Arial" pitchFamily="34" charset="0"/>
                <a:ea typeface="Arial" pitchFamily="34" charset="-122"/>
                <a:cs typeface="Arial" pitchFamily="34" charset="-120"/>
              </a:rPr>
              <a:t>Danh sách LIVE</a:t>
            </a:r>
            <a:endParaRPr lang="en-US" sz="1250" dirty="0"/>
          </a:p>
        </p:txBody>
      </p:sp>
      <p:sp>
        <p:nvSpPr>
          <p:cNvPr id="15" name="Text 11"/>
          <p:cNvSpPr/>
          <p:nvPr/>
        </p:nvSpPr>
        <p:spPr>
          <a:xfrm>
            <a:off x="7607808" y="3108960"/>
            <a:ext cx="3749040" cy="320040"/>
          </a:xfrm>
          <a:prstGeom prst="rect">
            <a:avLst/>
          </a:prstGeom>
          <a:noFill/>
          <a:ln/>
        </p:spPr>
        <p:txBody>
          <a:bodyPr wrap="square" rtlCol="0" anchor="t"/>
          <a:lstStyle/>
          <a:p>
            <a:pPr indent="0" marL="0">
              <a:lnSpc>
                <a:spcPct val="110000"/>
              </a:lnSpc>
              <a:buNone/>
            </a:pPr>
            <a:r>
              <a:rPr lang="en-US" sz="1000" dirty="0">
                <a:solidFill>
                  <a:srgbClr val="5B6B76"/>
                </a:solidFill>
                <a:latin typeface="Arial" pitchFamily="34" charset="0"/>
                <a:ea typeface="Arial" pitchFamily="34" charset="-122"/>
                <a:cs typeface="Arial" pitchFamily="34" charset="-120"/>
              </a:rPr>
              <a:t>200 phiên Shop LIVE của Kami Ely</a:t>
            </a:r>
            <a:endParaRPr lang="en-US" sz="1000" dirty="0"/>
          </a:p>
        </p:txBody>
      </p:sp>
      <p:sp>
        <p:nvSpPr>
          <p:cNvPr id="16" name="Shape 12"/>
          <p:cNvSpPr/>
          <p:nvPr/>
        </p:nvSpPr>
        <p:spPr>
          <a:xfrm>
            <a:off x="7040880" y="3575304"/>
            <a:ext cx="402336" cy="402336"/>
          </a:xfrm>
          <a:prstGeom prst="ellipse">
            <a:avLst/>
          </a:prstGeom>
          <a:solidFill>
            <a:srgbClr val="0D2B3E"/>
          </a:solidFill>
          <a:ln/>
        </p:spPr>
      </p:sp>
      <p:pic>
        <p:nvPicPr>
          <p:cNvPr id="17" name="Image 2" descr="icons/video.png">    </p:cNvPr>
          <p:cNvPicPr>
            <a:picLocks noChangeAspect="1"/>
          </p:cNvPicPr>
          <p:nvPr/>
        </p:nvPicPr>
        <p:blipFill>
          <a:blip r:embed="rId3"/>
          <a:stretch>
            <a:fillRect/>
          </a:stretch>
        </p:blipFill>
        <p:spPr>
          <a:xfrm>
            <a:off x="7145487" y="3679911"/>
            <a:ext cx="193121" cy="193121"/>
          </a:xfrm>
          <a:prstGeom prst="rect">
            <a:avLst/>
          </a:prstGeom>
        </p:spPr>
      </p:pic>
      <p:sp>
        <p:nvSpPr>
          <p:cNvPr id="18" name="Text 13"/>
          <p:cNvSpPr/>
          <p:nvPr/>
        </p:nvSpPr>
        <p:spPr>
          <a:xfrm>
            <a:off x="7607808" y="3547872"/>
            <a:ext cx="3749040" cy="292608"/>
          </a:xfrm>
          <a:prstGeom prst="rect">
            <a:avLst/>
          </a:prstGeom>
          <a:noFill/>
          <a:ln/>
        </p:spPr>
        <p:txBody>
          <a:bodyPr wrap="square" rtlCol="0" anchor="t"/>
          <a:lstStyle/>
          <a:p>
            <a:pPr indent="0" marL="0">
              <a:buNone/>
            </a:pPr>
            <a:r>
              <a:rPr lang="en-US" sz="1250" b="1" dirty="0">
                <a:solidFill>
                  <a:srgbClr val="16222B"/>
                </a:solidFill>
                <a:latin typeface="Arial" pitchFamily="34" charset="0"/>
                <a:ea typeface="Arial" pitchFamily="34" charset="-122"/>
                <a:cs typeface="Arial" pitchFamily="34" charset="-120"/>
              </a:rPr>
              <a:t>Danh sách Video</a:t>
            </a:r>
            <a:endParaRPr lang="en-US" sz="1250" dirty="0"/>
          </a:p>
        </p:txBody>
      </p:sp>
      <p:sp>
        <p:nvSpPr>
          <p:cNvPr id="19" name="Text 14"/>
          <p:cNvSpPr/>
          <p:nvPr/>
        </p:nvSpPr>
        <p:spPr>
          <a:xfrm>
            <a:off x="7607808" y="3822192"/>
            <a:ext cx="3749040" cy="320040"/>
          </a:xfrm>
          <a:prstGeom prst="rect">
            <a:avLst/>
          </a:prstGeom>
          <a:noFill/>
          <a:ln/>
        </p:spPr>
        <p:txBody>
          <a:bodyPr wrap="square" rtlCol="0" anchor="t"/>
          <a:lstStyle/>
          <a:p>
            <a:pPr indent="0" marL="0">
              <a:lnSpc>
                <a:spcPct val="110000"/>
              </a:lnSpc>
              <a:buNone/>
            </a:pPr>
            <a:r>
              <a:rPr lang="en-US" sz="1000" dirty="0">
                <a:solidFill>
                  <a:srgbClr val="5B6B76"/>
                </a:solidFill>
                <a:latin typeface="Arial" pitchFamily="34" charset="0"/>
                <a:ea typeface="Arial" pitchFamily="34" charset="-122"/>
                <a:cs typeface="Arial" pitchFamily="34" charset="-120"/>
              </a:rPr>
              <a:t>140 video đăng bởi Kami Ely</a:t>
            </a:r>
            <a:endParaRPr lang="en-US" sz="1000" dirty="0"/>
          </a:p>
        </p:txBody>
      </p:sp>
      <p:sp>
        <p:nvSpPr>
          <p:cNvPr id="20" name="Shape 15"/>
          <p:cNvSpPr/>
          <p:nvPr/>
        </p:nvSpPr>
        <p:spPr>
          <a:xfrm>
            <a:off x="7040880" y="4288536"/>
            <a:ext cx="402336" cy="402336"/>
          </a:xfrm>
          <a:prstGeom prst="ellipse">
            <a:avLst/>
          </a:prstGeom>
          <a:solidFill>
            <a:srgbClr val="1FA9A0"/>
          </a:solidFill>
          <a:ln/>
        </p:spPr>
      </p:sp>
      <p:pic>
        <p:nvPicPr>
          <p:cNvPr id="21" name="Image 3" descr="icons/users.png">    </p:cNvPr>
          <p:cNvPicPr>
            <a:picLocks noChangeAspect="1"/>
          </p:cNvPicPr>
          <p:nvPr/>
        </p:nvPicPr>
        <p:blipFill>
          <a:blip r:embed="rId4"/>
          <a:stretch>
            <a:fillRect/>
          </a:stretch>
        </p:blipFill>
        <p:spPr>
          <a:xfrm>
            <a:off x="7145487" y="4393143"/>
            <a:ext cx="193121" cy="193121"/>
          </a:xfrm>
          <a:prstGeom prst="rect">
            <a:avLst/>
          </a:prstGeom>
        </p:spPr>
      </p:pic>
      <p:sp>
        <p:nvSpPr>
          <p:cNvPr id="22" name="Text 16"/>
          <p:cNvSpPr/>
          <p:nvPr/>
        </p:nvSpPr>
        <p:spPr>
          <a:xfrm>
            <a:off x="7607808" y="4261104"/>
            <a:ext cx="3749040" cy="292608"/>
          </a:xfrm>
          <a:prstGeom prst="rect">
            <a:avLst/>
          </a:prstGeom>
          <a:noFill/>
          <a:ln/>
        </p:spPr>
        <p:txBody>
          <a:bodyPr wrap="square" rtlCol="0" anchor="t"/>
          <a:lstStyle/>
          <a:p>
            <a:pPr indent="0" marL="0">
              <a:buNone/>
            </a:pPr>
            <a:r>
              <a:rPr lang="en-US" sz="1250" b="1" dirty="0">
                <a:solidFill>
                  <a:srgbClr val="16222B"/>
                </a:solidFill>
                <a:latin typeface="Arial" pitchFamily="34" charset="0"/>
                <a:ea typeface="Arial" pitchFamily="34" charset="-122"/>
                <a:cs typeface="Arial" pitchFamily="34" charset="-120"/>
              </a:rPr>
              <a:t>Video mua sắm (Affiliate)</a:t>
            </a:r>
            <a:endParaRPr lang="en-US" sz="1250" dirty="0"/>
          </a:p>
        </p:txBody>
      </p:sp>
      <p:sp>
        <p:nvSpPr>
          <p:cNvPr id="23" name="Text 17"/>
          <p:cNvSpPr/>
          <p:nvPr/>
        </p:nvSpPr>
        <p:spPr>
          <a:xfrm>
            <a:off x="7607808" y="4535424"/>
            <a:ext cx="3749040" cy="320040"/>
          </a:xfrm>
          <a:prstGeom prst="rect">
            <a:avLst/>
          </a:prstGeom>
          <a:noFill/>
          <a:ln/>
        </p:spPr>
        <p:txBody>
          <a:bodyPr wrap="square" rtlCol="0" anchor="t"/>
          <a:lstStyle/>
          <a:p>
            <a:pPr indent="0" marL="0">
              <a:lnSpc>
                <a:spcPct val="110000"/>
              </a:lnSpc>
              <a:buNone/>
            </a:pPr>
            <a:r>
              <a:rPr lang="en-US" sz="1000" dirty="0">
                <a:solidFill>
                  <a:srgbClr val="5B6B76"/>
                </a:solidFill>
                <a:latin typeface="Arial" pitchFamily="34" charset="0"/>
                <a:ea typeface="Arial" pitchFamily="34" charset="-122"/>
                <a:cs typeface="Arial" pitchFamily="34" charset="-120"/>
              </a:rPr>
              <a:t>Top 300 video từ 127 nhà sáng tạo</a:t>
            </a:r>
            <a:endParaRPr lang="en-US" sz="1000" dirty="0"/>
          </a:p>
        </p:txBody>
      </p:sp>
      <p:sp>
        <p:nvSpPr>
          <p:cNvPr id="24" name="Shape 18"/>
          <p:cNvSpPr/>
          <p:nvPr/>
        </p:nvSpPr>
        <p:spPr>
          <a:xfrm>
            <a:off x="7040880" y="5001768"/>
            <a:ext cx="402336" cy="402336"/>
          </a:xfrm>
          <a:prstGeom prst="ellipse">
            <a:avLst/>
          </a:prstGeom>
          <a:solidFill>
            <a:srgbClr val="0D2B3E"/>
          </a:solidFill>
          <a:ln/>
        </p:spPr>
      </p:sp>
      <p:pic>
        <p:nvPicPr>
          <p:cNvPr id="25" name="Image 4" descr="icons/pie.png">    </p:cNvPr>
          <p:cNvPicPr>
            <a:picLocks noChangeAspect="1"/>
          </p:cNvPicPr>
          <p:nvPr/>
        </p:nvPicPr>
        <p:blipFill>
          <a:blip r:embed="rId5"/>
          <a:stretch>
            <a:fillRect/>
          </a:stretch>
        </p:blipFill>
        <p:spPr>
          <a:xfrm>
            <a:off x="7145487" y="5106375"/>
            <a:ext cx="193121" cy="193121"/>
          </a:xfrm>
          <a:prstGeom prst="rect">
            <a:avLst/>
          </a:prstGeom>
        </p:spPr>
      </p:pic>
      <p:sp>
        <p:nvSpPr>
          <p:cNvPr id="26" name="Text 19"/>
          <p:cNvSpPr/>
          <p:nvPr/>
        </p:nvSpPr>
        <p:spPr>
          <a:xfrm>
            <a:off x="7607808" y="4974336"/>
            <a:ext cx="3749040" cy="292608"/>
          </a:xfrm>
          <a:prstGeom prst="rect">
            <a:avLst/>
          </a:prstGeom>
          <a:noFill/>
          <a:ln/>
        </p:spPr>
        <p:txBody>
          <a:bodyPr wrap="square" rtlCol="0" anchor="t"/>
          <a:lstStyle/>
          <a:p>
            <a:pPr indent="0" marL="0">
              <a:buNone/>
            </a:pPr>
            <a:r>
              <a:rPr lang="en-US" sz="1250" b="1" dirty="0">
                <a:solidFill>
                  <a:srgbClr val="16222B"/>
                </a:solidFill>
                <a:latin typeface="Arial" pitchFamily="34" charset="0"/>
                <a:ea typeface="Arial" pitchFamily="34" charset="-122"/>
                <a:cs typeface="Arial" pitchFamily="34" charset="-120"/>
              </a:rPr>
              <a:t>Danh sách sản phẩm</a:t>
            </a:r>
            <a:endParaRPr lang="en-US" sz="1250" dirty="0"/>
          </a:p>
        </p:txBody>
      </p:sp>
      <p:sp>
        <p:nvSpPr>
          <p:cNvPr id="27" name="Text 20"/>
          <p:cNvSpPr/>
          <p:nvPr/>
        </p:nvSpPr>
        <p:spPr>
          <a:xfrm>
            <a:off x="7607808" y="5248656"/>
            <a:ext cx="3749040" cy="320040"/>
          </a:xfrm>
          <a:prstGeom prst="rect">
            <a:avLst/>
          </a:prstGeom>
          <a:noFill/>
          <a:ln/>
        </p:spPr>
        <p:txBody>
          <a:bodyPr wrap="square" rtlCol="0" anchor="t"/>
          <a:lstStyle/>
          <a:p>
            <a:pPr indent="0" marL="0">
              <a:lnSpc>
                <a:spcPct val="110000"/>
              </a:lnSpc>
              <a:buNone/>
            </a:pPr>
            <a:r>
              <a:rPr lang="en-US" sz="1000" dirty="0">
                <a:solidFill>
                  <a:srgbClr val="5B6B76"/>
                </a:solidFill>
                <a:latin typeface="Arial" pitchFamily="34" charset="0"/>
                <a:ea typeface="Arial" pitchFamily="34" charset="-122"/>
                <a:cs typeface="Arial" pitchFamily="34" charset="-120"/>
              </a:rPr>
              <a:t>300 sản phẩm bán chạy (4 gian hàng)</a:t>
            </a:r>
            <a:endParaRPr lang="en-US" sz="1000" dirty="0"/>
          </a:p>
        </p:txBody>
      </p:sp>
      <p:sp>
        <p:nvSpPr>
          <p:cNvPr id="28" name="Shape 21"/>
          <p:cNvSpPr/>
          <p:nvPr/>
        </p:nvSpPr>
        <p:spPr>
          <a:xfrm>
            <a:off x="7040880" y="5715000"/>
            <a:ext cx="402336" cy="402336"/>
          </a:xfrm>
          <a:prstGeom prst="ellipse">
            <a:avLst/>
          </a:prstGeom>
          <a:solidFill>
            <a:srgbClr val="1FA9A0"/>
          </a:solidFill>
          <a:ln/>
        </p:spPr>
      </p:sp>
      <p:pic>
        <p:nvPicPr>
          <p:cNvPr id="29" name="Image 5" descr="icons/award.png">    </p:cNvPr>
          <p:cNvPicPr>
            <a:picLocks noChangeAspect="1"/>
          </p:cNvPicPr>
          <p:nvPr/>
        </p:nvPicPr>
        <p:blipFill>
          <a:blip r:embed="rId6"/>
          <a:stretch>
            <a:fillRect/>
          </a:stretch>
        </p:blipFill>
        <p:spPr>
          <a:xfrm>
            <a:off x="7145487" y="5819607"/>
            <a:ext cx="193121" cy="193121"/>
          </a:xfrm>
          <a:prstGeom prst="rect">
            <a:avLst/>
          </a:prstGeom>
        </p:spPr>
      </p:pic>
      <p:sp>
        <p:nvSpPr>
          <p:cNvPr id="30" name="Text 22"/>
          <p:cNvSpPr/>
          <p:nvPr/>
        </p:nvSpPr>
        <p:spPr>
          <a:xfrm>
            <a:off x="7607808" y="5687568"/>
            <a:ext cx="3749040" cy="292608"/>
          </a:xfrm>
          <a:prstGeom prst="rect">
            <a:avLst/>
          </a:prstGeom>
          <a:noFill/>
          <a:ln/>
        </p:spPr>
        <p:txBody>
          <a:bodyPr wrap="square" rtlCol="0" anchor="t"/>
          <a:lstStyle/>
          <a:p>
            <a:pPr indent="0" marL="0">
              <a:buNone/>
            </a:pPr>
            <a:r>
              <a:rPr lang="en-US" sz="1250" b="1" dirty="0">
                <a:solidFill>
                  <a:srgbClr val="16222B"/>
                </a:solidFill>
                <a:latin typeface="Arial" pitchFamily="34" charset="0"/>
                <a:ea typeface="Arial" pitchFamily="34" charset="-122"/>
                <a:cs typeface="Arial" pitchFamily="34" charset="-120"/>
              </a:rPr>
              <a:t>3 bảng xếp hạng ngành hàng</a:t>
            </a:r>
            <a:endParaRPr lang="en-US" sz="1250" dirty="0"/>
          </a:p>
        </p:txBody>
      </p:sp>
      <p:sp>
        <p:nvSpPr>
          <p:cNvPr id="31" name="Text 23"/>
          <p:cNvSpPr/>
          <p:nvPr/>
        </p:nvSpPr>
        <p:spPr>
          <a:xfrm>
            <a:off x="7607808" y="5961888"/>
            <a:ext cx="3749040" cy="320040"/>
          </a:xfrm>
          <a:prstGeom prst="rect">
            <a:avLst/>
          </a:prstGeom>
          <a:noFill/>
          <a:ln/>
        </p:spPr>
        <p:txBody>
          <a:bodyPr wrap="square" rtlCol="0" anchor="t"/>
          <a:lstStyle/>
          <a:p>
            <a:pPr indent="0" marL="0">
              <a:lnSpc>
                <a:spcPct val="110000"/>
              </a:lnSpc>
              <a:buNone/>
            </a:pPr>
            <a:r>
              <a:rPr lang="en-US" sz="1000" dirty="0">
                <a:solidFill>
                  <a:srgbClr val="5B6B76"/>
                </a:solidFill>
                <a:latin typeface="Arial" pitchFamily="34" charset="0"/>
                <a:ea typeface="Arial" pitchFamily="34" charset="-122"/>
                <a:cs typeface="Arial" pitchFamily="34" charset="-120"/>
              </a:rPr>
              <a:t>Nhà sáng tạo, phiên LIVE, sản phẩm — Top 300</a:t>
            </a:r>
            <a:endParaRPr lang="en-US" sz="1000" dirty="0"/>
          </a:p>
        </p:txBody>
      </p:sp>
      <p:sp>
        <p:nvSpPr>
          <p:cNvPr id="32" name="Text 24"/>
          <p:cNvSpPr/>
          <p:nvPr/>
        </p:nvSpPr>
        <p:spPr>
          <a:xfrm>
            <a:off x="548640" y="6473952"/>
            <a:ext cx="6400800" cy="274320"/>
          </a:xfrm>
          <a:prstGeom prst="rect">
            <a:avLst/>
          </a:prstGeom>
          <a:noFill/>
          <a:ln/>
        </p:spPr>
        <p:txBody>
          <a:bodyPr wrap="square" rtlCol="0" anchor="ctr"/>
          <a:lstStyle/>
          <a:p>
            <a:pPr algn="l" indent="0" marL="0">
              <a:buNone/>
            </a:pPr>
            <a:r>
              <a:rPr lang="en-US" sz="850" spc="50" kern="0" dirty="0">
                <a:solidFill>
                  <a:srgbClr val="8A97A0"/>
                </a:solidFill>
                <a:latin typeface="Arial" pitchFamily="34" charset="0"/>
                <a:ea typeface="Arial" pitchFamily="34" charset="-122"/>
                <a:cs typeface="Arial" pitchFamily="34" charset="-120"/>
              </a:rPr>
              <a:t>KAMI ELY  ·  TIKTOK SHOP PERFORMANCE ANALYTICS</a:t>
            </a:r>
            <a:endParaRPr lang="en-US" sz="850" dirty="0"/>
          </a:p>
        </p:txBody>
      </p:sp>
      <p:sp>
        <p:nvSpPr>
          <p:cNvPr id="33" name="Text 25"/>
          <p:cNvSpPr/>
          <p:nvPr/>
        </p:nvSpPr>
        <p:spPr>
          <a:xfrm>
            <a:off x="10728655" y="6473952"/>
            <a:ext cx="914400" cy="274320"/>
          </a:xfrm>
          <a:prstGeom prst="rect">
            <a:avLst/>
          </a:prstGeom>
          <a:noFill/>
          <a:ln/>
        </p:spPr>
        <p:txBody>
          <a:bodyPr wrap="square" rtlCol="0" anchor="ctr"/>
          <a:lstStyle/>
          <a:p>
            <a:pPr algn="r" indent="0" marL="0">
              <a:buNone/>
            </a:pPr>
            <a:r>
              <a:rPr lang="en-US" sz="850" dirty="0">
                <a:solidFill>
                  <a:srgbClr val="8A97A0"/>
                </a:solidFill>
                <a:latin typeface="Arial" pitchFamily="34" charset="0"/>
                <a:ea typeface="Arial" pitchFamily="34" charset="-122"/>
                <a:cs typeface="Arial" pitchFamily="34" charset="-120"/>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4068"/>
            <a:ext cx="91440" cy="91440"/>
          </a:xfrm>
          <a:prstGeom prst="ellipse">
            <a:avLst/>
          </a:prstGeom>
          <a:solidFill>
            <a:srgbClr val="FF6B4A"/>
          </a:solidFill>
          <a:ln/>
        </p:spPr>
      </p:sp>
      <p:sp>
        <p:nvSpPr>
          <p:cNvPr id="3" name="Text 1"/>
          <p:cNvSpPr/>
          <p:nvPr/>
        </p:nvSpPr>
        <p:spPr>
          <a:xfrm>
            <a:off x="713232" y="457200"/>
            <a:ext cx="8229600" cy="228600"/>
          </a:xfrm>
          <a:prstGeom prst="rect">
            <a:avLst/>
          </a:prstGeom>
          <a:noFill/>
          <a:ln/>
        </p:spPr>
        <p:txBody>
          <a:bodyPr wrap="square" rtlCol="0" anchor="ctr"/>
          <a:lstStyle/>
          <a:p>
            <a:pPr algn="l" indent="0" marL="0">
              <a:buNone/>
            </a:pPr>
            <a:r>
              <a:rPr lang="en-US" sz="1100" b="1" spc="120" kern="0" dirty="0">
                <a:solidFill>
                  <a:srgbClr val="FF6B4A"/>
                </a:solidFill>
                <a:latin typeface="Arial" pitchFamily="34" charset="0"/>
                <a:ea typeface="Arial" pitchFamily="34" charset="-122"/>
                <a:cs typeface="Arial" pitchFamily="34" charset="-120"/>
              </a:rPr>
              <a:t>01 · TỔNG QUAN</a:t>
            </a:r>
            <a:endParaRPr lang="en-US" sz="1100" dirty="0"/>
          </a:p>
        </p:txBody>
      </p:sp>
      <p:sp>
        <p:nvSpPr>
          <p:cNvPr id="4" name="Text 2"/>
          <p:cNvSpPr/>
          <p:nvPr/>
        </p:nvSpPr>
        <p:spPr>
          <a:xfrm>
            <a:off x="548640" y="758952"/>
            <a:ext cx="8229600" cy="548640"/>
          </a:xfrm>
          <a:prstGeom prst="rect">
            <a:avLst/>
          </a:prstGeom>
          <a:noFill/>
          <a:ln/>
        </p:spPr>
        <p:txBody>
          <a:bodyPr wrap="square" rtlCol="0" anchor="t"/>
          <a:lstStyle/>
          <a:p>
            <a:pPr algn="l" indent="0" marL="0">
              <a:buNone/>
            </a:pPr>
            <a:r>
              <a:rPr lang="en-US" sz="2800" b="1" dirty="0">
                <a:solidFill>
                  <a:srgbClr val="0D2B3E"/>
                </a:solidFill>
                <a:latin typeface="Century Schoolbook" pitchFamily="34" charset="0"/>
                <a:ea typeface="Century Schoolbook" pitchFamily="34" charset="-122"/>
                <a:cs typeface="Century Schoolbook" pitchFamily="34" charset="-120"/>
              </a:rPr>
              <a:t>Bức tranh hiệu suất tổng thể</a:t>
            </a:r>
            <a:endParaRPr lang="en-US" sz="2800" dirty="0"/>
          </a:p>
        </p:txBody>
      </p:sp>
      <p:sp>
        <p:nvSpPr>
          <p:cNvPr id="5" name="Shape 3"/>
          <p:cNvSpPr/>
          <p:nvPr/>
        </p:nvSpPr>
        <p:spPr>
          <a:xfrm>
            <a:off x="548640" y="1737360"/>
            <a:ext cx="2567864" cy="2057400"/>
          </a:xfrm>
          <a:prstGeom prst="rect">
            <a:avLst/>
          </a:prstGeom>
          <a:solidFill>
            <a:srgbClr val="F7F8FA"/>
          </a:solidFill>
          <a:ln w="9525">
            <a:solidFill>
              <a:srgbClr val="E4E8EC"/>
            </a:solidFill>
            <a:prstDash val="solid"/>
          </a:ln>
        </p:spPr>
      </p:sp>
      <p:sp>
        <p:nvSpPr>
          <p:cNvPr id="6" name="Shape 4"/>
          <p:cNvSpPr/>
          <p:nvPr/>
        </p:nvSpPr>
        <p:spPr>
          <a:xfrm>
            <a:off x="804672" y="1993392"/>
            <a:ext cx="502920" cy="502920"/>
          </a:xfrm>
          <a:prstGeom prst="ellipse">
            <a:avLst/>
          </a:prstGeom>
          <a:solidFill>
            <a:srgbClr val="FF6B4A"/>
          </a:solidFill>
          <a:ln/>
        </p:spPr>
      </p:sp>
      <p:pic>
        <p:nvPicPr>
          <p:cNvPr id="7" name="Image 0" descr="icons/trending.png">    </p:cNvPr>
          <p:cNvPicPr>
            <a:picLocks noChangeAspect="1"/>
          </p:cNvPicPr>
          <p:nvPr/>
        </p:nvPicPr>
        <p:blipFill>
          <a:blip r:embed="rId1"/>
          <a:stretch>
            <a:fillRect/>
          </a:stretch>
        </p:blipFill>
        <p:spPr>
          <a:xfrm>
            <a:off x="935431" y="2124151"/>
            <a:ext cx="241402" cy="241402"/>
          </a:xfrm>
          <a:prstGeom prst="rect">
            <a:avLst/>
          </a:prstGeom>
        </p:spPr>
      </p:pic>
      <p:sp>
        <p:nvSpPr>
          <p:cNvPr id="8" name="Text 5"/>
          <p:cNvSpPr/>
          <p:nvPr/>
        </p:nvSpPr>
        <p:spPr>
          <a:xfrm>
            <a:off x="804672" y="2651760"/>
            <a:ext cx="2055800" cy="548640"/>
          </a:xfrm>
          <a:prstGeom prst="rect">
            <a:avLst/>
          </a:prstGeom>
          <a:noFill/>
          <a:ln/>
        </p:spPr>
        <p:txBody>
          <a:bodyPr wrap="square" rtlCol="0" anchor="b"/>
          <a:lstStyle/>
          <a:p>
            <a:pPr indent="0" marL="0">
              <a:buNone/>
            </a:pPr>
            <a:r>
              <a:rPr lang="en-US" sz="2400" b="1" dirty="0">
                <a:solidFill>
                  <a:srgbClr val="E14F30"/>
                </a:solidFill>
                <a:latin typeface="Century Schoolbook" pitchFamily="34" charset="0"/>
                <a:ea typeface="Century Schoolbook" pitchFamily="34" charset="-122"/>
                <a:cs typeface="Century Schoolbook" pitchFamily="34" charset="-120"/>
              </a:rPr>
              <a:t>7,35 tỷ ₫</a:t>
            </a:r>
            <a:endParaRPr lang="en-US" sz="2400" dirty="0"/>
          </a:p>
        </p:txBody>
      </p:sp>
      <p:sp>
        <p:nvSpPr>
          <p:cNvPr id="9" name="Text 6"/>
          <p:cNvSpPr/>
          <p:nvPr/>
        </p:nvSpPr>
        <p:spPr>
          <a:xfrm>
            <a:off x="804672" y="3218688"/>
            <a:ext cx="2055800" cy="530352"/>
          </a:xfrm>
          <a:prstGeom prst="rect">
            <a:avLst/>
          </a:prstGeom>
          <a:noFill/>
          <a:ln/>
        </p:spPr>
        <p:txBody>
          <a:bodyPr wrap="square" rtlCol="0" anchor="t"/>
          <a:lstStyle/>
          <a:p>
            <a:pPr indent="0" marL="0">
              <a:lnSpc>
                <a:spcPct val="120000"/>
              </a:lnSpc>
              <a:buNone/>
            </a:pPr>
            <a:r>
              <a:rPr lang="en-US" sz="1050" dirty="0">
                <a:solidFill>
                  <a:srgbClr val="5B6B76"/>
                </a:solidFill>
                <a:latin typeface="Arial" pitchFamily="34" charset="0"/>
                <a:ea typeface="Arial" pitchFamily="34" charset="-122"/>
                <a:cs typeface="Arial" pitchFamily="34" charset="-120"/>
              </a:rPr>
              <a:t>Tổng GMV trong kỳ 90 ngày</a:t>
            </a:r>
            <a:endParaRPr lang="en-US" sz="1050" dirty="0"/>
          </a:p>
        </p:txBody>
      </p:sp>
      <p:sp>
        <p:nvSpPr>
          <p:cNvPr id="10" name="Shape 7"/>
          <p:cNvSpPr/>
          <p:nvPr/>
        </p:nvSpPr>
        <p:spPr>
          <a:xfrm>
            <a:off x="3390824" y="1737360"/>
            <a:ext cx="2567864" cy="2057400"/>
          </a:xfrm>
          <a:prstGeom prst="rect">
            <a:avLst/>
          </a:prstGeom>
          <a:solidFill>
            <a:srgbClr val="F7F8FA"/>
          </a:solidFill>
          <a:ln w="9525">
            <a:solidFill>
              <a:srgbClr val="E4E8EC"/>
            </a:solidFill>
            <a:prstDash val="solid"/>
          </a:ln>
        </p:spPr>
      </p:sp>
      <p:sp>
        <p:nvSpPr>
          <p:cNvPr id="11" name="Shape 8"/>
          <p:cNvSpPr/>
          <p:nvPr/>
        </p:nvSpPr>
        <p:spPr>
          <a:xfrm>
            <a:off x="3646856" y="1993392"/>
            <a:ext cx="502920" cy="502920"/>
          </a:xfrm>
          <a:prstGeom prst="ellipse">
            <a:avLst/>
          </a:prstGeom>
          <a:solidFill>
            <a:srgbClr val="0D2B3E"/>
          </a:solidFill>
          <a:ln/>
        </p:spPr>
      </p:sp>
      <p:pic>
        <p:nvPicPr>
          <p:cNvPr id="12" name="Image 1" descr="icons/bag.png">    </p:cNvPr>
          <p:cNvPicPr>
            <a:picLocks noChangeAspect="1"/>
          </p:cNvPicPr>
          <p:nvPr/>
        </p:nvPicPr>
        <p:blipFill>
          <a:blip r:embed="rId2"/>
          <a:stretch>
            <a:fillRect/>
          </a:stretch>
        </p:blipFill>
        <p:spPr>
          <a:xfrm>
            <a:off x="3777615" y="2124151"/>
            <a:ext cx="241402" cy="241402"/>
          </a:xfrm>
          <a:prstGeom prst="rect">
            <a:avLst/>
          </a:prstGeom>
        </p:spPr>
      </p:pic>
      <p:sp>
        <p:nvSpPr>
          <p:cNvPr id="13" name="Text 9"/>
          <p:cNvSpPr/>
          <p:nvPr/>
        </p:nvSpPr>
        <p:spPr>
          <a:xfrm>
            <a:off x="3646856" y="2651760"/>
            <a:ext cx="2055800" cy="548640"/>
          </a:xfrm>
          <a:prstGeom prst="rect">
            <a:avLst/>
          </a:prstGeom>
          <a:noFill/>
          <a:ln/>
        </p:spPr>
        <p:txBody>
          <a:bodyPr wrap="square" rtlCol="0" anchor="b"/>
          <a:lstStyle/>
          <a:p>
            <a:pPr indent="0" marL="0">
              <a:buNone/>
            </a:pPr>
            <a:r>
              <a:rPr lang="en-US" sz="2400" b="1" dirty="0">
                <a:solidFill>
                  <a:srgbClr val="0D2B3E"/>
                </a:solidFill>
                <a:latin typeface="Century Schoolbook" pitchFamily="34" charset="0"/>
                <a:ea typeface="Century Schoolbook" pitchFamily="34" charset="-122"/>
                <a:cs typeface="Century Schoolbook" pitchFamily="34" charset="-120"/>
              </a:rPr>
              <a:t>46.116</a:t>
            </a:r>
            <a:endParaRPr lang="en-US" sz="2400" dirty="0"/>
          </a:p>
        </p:txBody>
      </p:sp>
      <p:sp>
        <p:nvSpPr>
          <p:cNvPr id="14" name="Text 10"/>
          <p:cNvSpPr/>
          <p:nvPr/>
        </p:nvSpPr>
        <p:spPr>
          <a:xfrm>
            <a:off x="3646856" y="3218688"/>
            <a:ext cx="2055800" cy="530352"/>
          </a:xfrm>
          <a:prstGeom prst="rect">
            <a:avLst/>
          </a:prstGeom>
          <a:noFill/>
          <a:ln/>
        </p:spPr>
        <p:txBody>
          <a:bodyPr wrap="square" rtlCol="0" anchor="t"/>
          <a:lstStyle/>
          <a:p>
            <a:pPr indent="0" marL="0">
              <a:lnSpc>
                <a:spcPct val="120000"/>
              </a:lnSpc>
              <a:buNone/>
            </a:pPr>
            <a:r>
              <a:rPr lang="en-US" sz="1050" dirty="0">
                <a:solidFill>
                  <a:srgbClr val="5B6B76"/>
                </a:solidFill>
                <a:latin typeface="Arial" pitchFamily="34" charset="0"/>
                <a:ea typeface="Arial" pitchFamily="34" charset="-122"/>
                <a:cs typeface="Arial" pitchFamily="34" charset="-120"/>
              </a:rPr>
              <a:t>Sản phẩm bán ra trong kỳ</a:t>
            </a:r>
            <a:endParaRPr lang="en-US" sz="1050" dirty="0"/>
          </a:p>
        </p:txBody>
      </p:sp>
      <p:sp>
        <p:nvSpPr>
          <p:cNvPr id="15" name="Shape 11"/>
          <p:cNvSpPr/>
          <p:nvPr/>
        </p:nvSpPr>
        <p:spPr>
          <a:xfrm>
            <a:off x="6233008" y="1737360"/>
            <a:ext cx="2567864" cy="2057400"/>
          </a:xfrm>
          <a:prstGeom prst="rect">
            <a:avLst/>
          </a:prstGeom>
          <a:solidFill>
            <a:srgbClr val="F7F8FA"/>
          </a:solidFill>
          <a:ln w="9525">
            <a:solidFill>
              <a:srgbClr val="E4E8EC"/>
            </a:solidFill>
            <a:prstDash val="solid"/>
          </a:ln>
        </p:spPr>
      </p:sp>
      <p:sp>
        <p:nvSpPr>
          <p:cNvPr id="16" name="Shape 12"/>
          <p:cNvSpPr/>
          <p:nvPr/>
        </p:nvSpPr>
        <p:spPr>
          <a:xfrm>
            <a:off x="6489040" y="1993392"/>
            <a:ext cx="502920" cy="502920"/>
          </a:xfrm>
          <a:prstGeom prst="ellipse">
            <a:avLst/>
          </a:prstGeom>
          <a:solidFill>
            <a:srgbClr val="FF6B4A"/>
          </a:solidFill>
          <a:ln/>
        </p:spPr>
      </p:sp>
      <p:pic>
        <p:nvPicPr>
          <p:cNvPr id="17" name="Image 2" descr="icons/award.png">    </p:cNvPr>
          <p:cNvPicPr>
            <a:picLocks noChangeAspect="1"/>
          </p:cNvPicPr>
          <p:nvPr/>
        </p:nvPicPr>
        <p:blipFill>
          <a:blip r:embed="rId3"/>
          <a:stretch>
            <a:fillRect/>
          </a:stretch>
        </p:blipFill>
        <p:spPr>
          <a:xfrm>
            <a:off x="6619799" y="2124151"/>
            <a:ext cx="241402" cy="241402"/>
          </a:xfrm>
          <a:prstGeom prst="rect">
            <a:avLst/>
          </a:prstGeom>
        </p:spPr>
      </p:pic>
      <p:sp>
        <p:nvSpPr>
          <p:cNvPr id="18" name="Text 13"/>
          <p:cNvSpPr/>
          <p:nvPr/>
        </p:nvSpPr>
        <p:spPr>
          <a:xfrm>
            <a:off x="6489040" y="2651760"/>
            <a:ext cx="2055800" cy="548640"/>
          </a:xfrm>
          <a:prstGeom prst="rect">
            <a:avLst/>
          </a:prstGeom>
          <a:noFill/>
          <a:ln/>
        </p:spPr>
        <p:txBody>
          <a:bodyPr wrap="square" rtlCol="0" anchor="b"/>
          <a:lstStyle/>
          <a:p>
            <a:pPr indent="0" marL="0">
              <a:buNone/>
            </a:pPr>
            <a:r>
              <a:rPr lang="en-US" sz="2400" b="1" dirty="0">
                <a:solidFill>
                  <a:srgbClr val="E14F30"/>
                </a:solidFill>
                <a:latin typeface="Century Schoolbook" pitchFamily="34" charset="0"/>
                <a:ea typeface="Century Schoolbook" pitchFamily="34" charset="-122"/>
                <a:cs typeface="Century Schoolbook" pitchFamily="34" charset="-120"/>
              </a:rPr>
              <a:t>#1 / 300</a:t>
            </a:r>
            <a:endParaRPr lang="en-US" sz="2400" dirty="0"/>
          </a:p>
        </p:txBody>
      </p:sp>
      <p:sp>
        <p:nvSpPr>
          <p:cNvPr id="19" name="Text 14"/>
          <p:cNvSpPr/>
          <p:nvPr/>
        </p:nvSpPr>
        <p:spPr>
          <a:xfrm>
            <a:off x="6489040" y="3218688"/>
            <a:ext cx="2055800" cy="530352"/>
          </a:xfrm>
          <a:prstGeom prst="rect">
            <a:avLst/>
          </a:prstGeom>
          <a:noFill/>
          <a:ln/>
        </p:spPr>
        <p:txBody>
          <a:bodyPr wrap="square" rtlCol="0" anchor="t"/>
          <a:lstStyle/>
          <a:p>
            <a:pPr indent="0" marL="0">
              <a:lnSpc>
                <a:spcPct val="120000"/>
              </a:lnSpc>
              <a:buNone/>
            </a:pPr>
            <a:r>
              <a:rPr lang="en-US" sz="1050" dirty="0">
                <a:solidFill>
                  <a:srgbClr val="5B6B76"/>
                </a:solidFill>
                <a:latin typeface="Arial" pitchFamily="34" charset="0"/>
                <a:ea typeface="Arial" pitchFamily="34" charset="-122"/>
                <a:cs typeface="Arial" pitchFamily="34" charset="-120"/>
              </a:rPr>
              <a:t>Xếp hạng nhà bán trong ngành hàng đồ bơi &amp; thời trang nữ</a:t>
            </a:r>
            <a:endParaRPr lang="en-US" sz="1050" dirty="0"/>
          </a:p>
        </p:txBody>
      </p:sp>
      <p:sp>
        <p:nvSpPr>
          <p:cNvPr id="20" name="Shape 15"/>
          <p:cNvSpPr/>
          <p:nvPr/>
        </p:nvSpPr>
        <p:spPr>
          <a:xfrm>
            <a:off x="9075191" y="1737360"/>
            <a:ext cx="2567864" cy="2057400"/>
          </a:xfrm>
          <a:prstGeom prst="rect">
            <a:avLst/>
          </a:prstGeom>
          <a:solidFill>
            <a:srgbClr val="F7F8FA"/>
          </a:solidFill>
          <a:ln w="9525">
            <a:solidFill>
              <a:srgbClr val="E4E8EC"/>
            </a:solidFill>
            <a:prstDash val="solid"/>
          </a:ln>
        </p:spPr>
      </p:sp>
      <p:sp>
        <p:nvSpPr>
          <p:cNvPr id="21" name="Shape 16"/>
          <p:cNvSpPr/>
          <p:nvPr/>
        </p:nvSpPr>
        <p:spPr>
          <a:xfrm>
            <a:off x="9331223" y="1993392"/>
            <a:ext cx="502920" cy="502920"/>
          </a:xfrm>
          <a:prstGeom prst="ellipse">
            <a:avLst/>
          </a:prstGeom>
          <a:solidFill>
            <a:srgbClr val="1FA9A0"/>
          </a:solidFill>
          <a:ln/>
        </p:spPr>
      </p:sp>
      <p:pic>
        <p:nvPicPr>
          <p:cNvPr id="22" name="Image 3" descr="icons/radio.png">    </p:cNvPr>
          <p:cNvPicPr>
            <a:picLocks noChangeAspect="1"/>
          </p:cNvPicPr>
          <p:nvPr/>
        </p:nvPicPr>
        <p:blipFill>
          <a:blip r:embed="rId4"/>
          <a:stretch>
            <a:fillRect/>
          </a:stretch>
        </p:blipFill>
        <p:spPr>
          <a:xfrm>
            <a:off x="9461983" y="2124151"/>
            <a:ext cx="241402" cy="241402"/>
          </a:xfrm>
          <a:prstGeom prst="rect">
            <a:avLst/>
          </a:prstGeom>
        </p:spPr>
      </p:pic>
      <p:sp>
        <p:nvSpPr>
          <p:cNvPr id="23" name="Text 17"/>
          <p:cNvSpPr/>
          <p:nvPr/>
        </p:nvSpPr>
        <p:spPr>
          <a:xfrm>
            <a:off x="9331223" y="2651760"/>
            <a:ext cx="2055800" cy="548640"/>
          </a:xfrm>
          <a:prstGeom prst="rect">
            <a:avLst/>
          </a:prstGeom>
          <a:noFill/>
          <a:ln/>
        </p:spPr>
        <p:txBody>
          <a:bodyPr wrap="square" rtlCol="0" anchor="b"/>
          <a:lstStyle/>
          <a:p>
            <a:pPr indent="0" marL="0">
              <a:buNone/>
            </a:pPr>
            <a:r>
              <a:rPr lang="en-US" sz="2400" b="1" dirty="0">
                <a:solidFill>
                  <a:srgbClr val="0D2B3E"/>
                </a:solidFill>
                <a:latin typeface="Century Schoolbook" pitchFamily="34" charset="0"/>
                <a:ea typeface="Century Schoolbook" pitchFamily="34" charset="-122"/>
                <a:cs typeface="Century Schoolbook" pitchFamily="34" charset="-120"/>
              </a:rPr>
              <a:t>73,5%</a:t>
            </a:r>
            <a:endParaRPr lang="en-US" sz="2400" dirty="0"/>
          </a:p>
        </p:txBody>
      </p:sp>
      <p:sp>
        <p:nvSpPr>
          <p:cNvPr id="24" name="Text 18"/>
          <p:cNvSpPr/>
          <p:nvPr/>
        </p:nvSpPr>
        <p:spPr>
          <a:xfrm>
            <a:off x="9331223" y="3218688"/>
            <a:ext cx="2055800" cy="530352"/>
          </a:xfrm>
          <a:prstGeom prst="rect">
            <a:avLst/>
          </a:prstGeom>
          <a:noFill/>
          <a:ln/>
        </p:spPr>
        <p:txBody>
          <a:bodyPr wrap="square" rtlCol="0" anchor="t"/>
          <a:lstStyle/>
          <a:p>
            <a:pPr indent="0" marL="0">
              <a:lnSpc>
                <a:spcPct val="120000"/>
              </a:lnSpc>
              <a:buNone/>
            </a:pPr>
            <a:r>
              <a:rPr lang="en-US" sz="1050" dirty="0">
                <a:solidFill>
                  <a:srgbClr val="5B6B76"/>
                </a:solidFill>
                <a:latin typeface="Arial" pitchFamily="34" charset="0"/>
                <a:ea typeface="Arial" pitchFamily="34" charset="-122"/>
                <a:cs typeface="Arial" pitchFamily="34" charset="-120"/>
              </a:rPr>
              <a:t>Doanh số GMV đến từ Shop LIVE</a:t>
            </a:r>
            <a:endParaRPr lang="en-US" sz="1050" dirty="0"/>
          </a:p>
        </p:txBody>
      </p:sp>
      <p:sp>
        <p:nvSpPr>
          <p:cNvPr id="25" name="Text 19"/>
          <p:cNvSpPr/>
          <p:nvPr/>
        </p:nvSpPr>
        <p:spPr>
          <a:xfrm>
            <a:off x="548640" y="4114800"/>
            <a:ext cx="3515258" cy="274320"/>
          </a:xfrm>
          <a:prstGeom prst="rect">
            <a:avLst/>
          </a:prstGeom>
          <a:noFill/>
          <a:ln/>
        </p:spPr>
        <p:txBody>
          <a:bodyPr wrap="square" rtlCol="0" anchor="ctr"/>
          <a:lstStyle/>
          <a:p>
            <a:pPr indent="0" marL="0">
              <a:buNone/>
            </a:pPr>
            <a:r>
              <a:rPr lang="en-US" sz="1000" b="1" spc="80" kern="0" dirty="0">
                <a:solidFill>
                  <a:srgbClr val="8A97A0"/>
                </a:solidFill>
                <a:latin typeface="Arial" pitchFamily="34" charset="0"/>
                <a:ea typeface="Arial" pitchFamily="34" charset="-122"/>
                <a:cs typeface="Arial" pitchFamily="34" charset="-120"/>
              </a:rPr>
              <a:t>SẢN LƯỢNG BÁN TRONG KỲ</a:t>
            </a:r>
            <a:endParaRPr lang="en-US" sz="1000" dirty="0"/>
          </a:p>
        </p:txBody>
      </p:sp>
      <p:sp>
        <p:nvSpPr>
          <p:cNvPr id="26" name="Text 20"/>
          <p:cNvSpPr/>
          <p:nvPr/>
        </p:nvSpPr>
        <p:spPr>
          <a:xfrm>
            <a:off x="548640" y="4407408"/>
            <a:ext cx="3515258" cy="457200"/>
          </a:xfrm>
          <a:prstGeom prst="rect">
            <a:avLst/>
          </a:prstGeom>
          <a:noFill/>
          <a:ln/>
        </p:spPr>
        <p:txBody>
          <a:bodyPr wrap="square" rtlCol="0" anchor="ctr"/>
          <a:lstStyle/>
          <a:p>
            <a:pPr indent="0" marL="0">
              <a:buNone/>
            </a:pPr>
            <a:r>
              <a:rPr lang="en-US" sz="1900" b="1" dirty="0">
                <a:solidFill>
                  <a:srgbClr val="0D2B3E"/>
                </a:solidFill>
                <a:latin typeface="Century Schoolbook" pitchFamily="34" charset="0"/>
                <a:ea typeface="Century Schoolbook" pitchFamily="34" charset="-122"/>
                <a:cs typeface="Century Schoolbook" pitchFamily="34" charset="-120"/>
              </a:rPr>
              <a:t>46.116 đơn vị</a:t>
            </a:r>
            <a:endParaRPr lang="en-US" sz="1900" dirty="0"/>
          </a:p>
        </p:txBody>
      </p:sp>
      <p:sp>
        <p:nvSpPr>
          <p:cNvPr id="27" name="Text 21"/>
          <p:cNvSpPr/>
          <p:nvPr/>
        </p:nvSpPr>
        <p:spPr>
          <a:xfrm>
            <a:off x="4338218" y="4114800"/>
            <a:ext cx="3515258" cy="274320"/>
          </a:xfrm>
          <a:prstGeom prst="rect">
            <a:avLst/>
          </a:prstGeom>
          <a:noFill/>
          <a:ln/>
        </p:spPr>
        <p:txBody>
          <a:bodyPr wrap="square" rtlCol="0" anchor="ctr"/>
          <a:lstStyle/>
          <a:p>
            <a:pPr indent="0" marL="0">
              <a:buNone/>
            </a:pPr>
            <a:r>
              <a:rPr lang="en-US" sz="1000" b="1" spc="80" kern="0" dirty="0">
                <a:solidFill>
                  <a:srgbClr val="8A97A0"/>
                </a:solidFill>
                <a:latin typeface="Arial" pitchFamily="34" charset="0"/>
                <a:ea typeface="Arial" pitchFamily="34" charset="-122"/>
                <a:cs typeface="Arial" pitchFamily="34" charset="-120"/>
              </a:rPr>
              <a:t>GMV TRUNG BÌNH MỖI NGÀY</a:t>
            </a:r>
            <a:endParaRPr lang="en-US" sz="1000" dirty="0"/>
          </a:p>
        </p:txBody>
      </p:sp>
      <p:sp>
        <p:nvSpPr>
          <p:cNvPr id="28" name="Text 22"/>
          <p:cNvSpPr/>
          <p:nvPr/>
        </p:nvSpPr>
        <p:spPr>
          <a:xfrm>
            <a:off x="4338218" y="4407408"/>
            <a:ext cx="3515258" cy="457200"/>
          </a:xfrm>
          <a:prstGeom prst="rect">
            <a:avLst/>
          </a:prstGeom>
          <a:noFill/>
          <a:ln/>
        </p:spPr>
        <p:txBody>
          <a:bodyPr wrap="square" rtlCol="0" anchor="ctr"/>
          <a:lstStyle/>
          <a:p>
            <a:pPr indent="0" marL="0">
              <a:buNone/>
            </a:pPr>
            <a:r>
              <a:rPr lang="en-US" sz="1900" b="1" dirty="0">
                <a:solidFill>
                  <a:srgbClr val="0D2B3E"/>
                </a:solidFill>
                <a:latin typeface="Century Schoolbook" pitchFamily="34" charset="0"/>
                <a:ea typeface="Century Schoolbook" pitchFamily="34" charset="-122"/>
                <a:cs typeface="Century Schoolbook" pitchFamily="34" charset="-120"/>
              </a:rPr>
              <a:t>81,7 triệu ₫</a:t>
            </a:r>
            <a:endParaRPr lang="en-US" sz="1900" dirty="0"/>
          </a:p>
        </p:txBody>
      </p:sp>
      <p:sp>
        <p:nvSpPr>
          <p:cNvPr id="29" name="Text 23"/>
          <p:cNvSpPr/>
          <p:nvPr/>
        </p:nvSpPr>
        <p:spPr>
          <a:xfrm>
            <a:off x="8127797" y="4114800"/>
            <a:ext cx="3515258" cy="274320"/>
          </a:xfrm>
          <a:prstGeom prst="rect">
            <a:avLst/>
          </a:prstGeom>
          <a:noFill/>
          <a:ln/>
        </p:spPr>
        <p:txBody>
          <a:bodyPr wrap="square" rtlCol="0" anchor="ctr"/>
          <a:lstStyle/>
          <a:p>
            <a:pPr indent="0" marL="0">
              <a:buNone/>
            </a:pPr>
            <a:r>
              <a:rPr lang="en-US" sz="1000" b="1" spc="80" kern="0" dirty="0">
                <a:solidFill>
                  <a:srgbClr val="8A97A0"/>
                </a:solidFill>
                <a:latin typeface="Arial" pitchFamily="34" charset="0"/>
                <a:ea typeface="Arial" pitchFamily="34" charset="-122"/>
                <a:cs typeface="Arial" pitchFamily="34" charset="-120"/>
              </a:rPr>
              <a:t>TĂNG TRƯỞNG GMV LŨY KẾ</a:t>
            </a:r>
            <a:endParaRPr lang="en-US" sz="1000" dirty="0"/>
          </a:p>
        </p:txBody>
      </p:sp>
      <p:sp>
        <p:nvSpPr>
          <p:cNvPr id="30" name="Text 24"/>
          <p:cNvSpPr/>
          <p:nvPr/>
        </p:nvSpPr>
        <p:spPr>
          <a:xfrm>
            <a:off x="8127797" y="4407408"/>
            <a:ext cx="3515258" cy="457200"/>
          </a:xfrm>
          <a:prstGeom prst="rect">
            <a:avLst/>
          </a:prstGeom>
          <a:noFill/>
          <a:ln/>
        </p:spPr>
        <p:txBody>
          <a:bodyPr wrap="square" rtlCol="0" anchor="ctr"/>
          <a:lstStyle/>
          <a:p>
            <a:pPr indent="0" marL="0">
              <a:buNone/>
            </a:pPr>
            <a:r>
              <a:rPr lang="en-US" sz="1900" b="1" dirty="0">
                <a:solidFill>
                  <a:srgbClr val="0D2B3E"/>
                </a:solidFill>
                <a:latin typeface="Century Schoolbook" pitchFamily="34" charset="0"/>
                <a:ea typeface="Century Schoolbook" pitchFamily="34" charset="-122"/>
                <a:cs typeface="Century Schoolbook" pitchFamily="34" charset="-120"/>
              </a:rPr>
              <a:t>+6,4% so với đầu kỳ</a:t>
            </a:r>
            <a:endParaRPr lang="en-US" sz="1900" dirty="0"/>
          </a:p>
        </p:txBody>
      </p:sp>
      <p:sp>
        <p:nvSpPr>
          <p:cNvPr id="31" name="Shape 25"/>
          <p:cNvSpPr/>
          <p:nvPr/>
        </p:nvSpPr>
        <p:spPr>
          <a:xfrm>
            <a:off x="548640" y="5074920"/>
            <a:ext cx="11094415" cy="0"/>
          </a:xfrm>
          <a:prstGeom prst="line">
            <a:avLst/>
          </a:prstGeom>
          <a:noFill/>
          <a:ln w="12700">
            <a:solidFill>
              <a:srgbClr val="E4E8EC"/>
            </a:solidFill>
            <a:prstDash val="solid"/>
          </a:ln>
        </p:spPr>
      </p:sp>
      <p:sp>
        <p:nvSpPr>
          <p:cNvPr id="32" name="Text 26"/>
          <p:cNvSpPr/>
          <p:nvPr/>
        </p:nvSpPr>
        <p:spPr>
          <a:xfrm>
            <a:off x="548640" y="5303520"/>
            <a:ext cx="11094415" cy="822960"/>
          </a:xfrm>
          <a:prstGeom prst="rect">
            <a:avLst/>
          </a:prstGeom>
          <a:noFill/>
          <a:ln/>
        </p:spPr>
        <p:txBody>
          <a:bodyPr wrap="square" rtlCol="0" anchor="ctr"/>
          <a:lstStyle/>
          <a:p>
            <a:pPr indent="0" marL="0">
              <a:lnSpc>
                <a:spcPct val="135000"/>
              </a:lnSpc>
              <a:buNone/>
            </a:pPr>
            <a:r>
              <a:rPr lang="en-US" sz="1250" i="1" dirty="0">
                <a:solidFill>
                  <a:srgbClr val="5B6B76"/>
                </a:solidFill>
                <a:latin typeface="Arial" pitchFamily="34" charset="0"/>
                <a:ea typeface="Arial" pitchFamily="34" charset="-122"/>
                <a:cs typeface="Arial" pitchFamily="34" charset="-120"/>
              </a:rPr>
              <a:t>Kami Ely không chỉ tăng trưởng ổn định trong kỳ mà còn giữ vị thế dẫn đầu gần như tuyệt đối trong ngành hàng đồ bơi &amp; thời trang nữ trên TikTok Shop — nhưng dữ liệu cũng cho thấy một tín hiệu cảnh báo quan trọng về đà suy giảm hiệu suất LIVE (xem trang 5).</a:t>
            </a:r>
            <a:endParaRPr lang="en-US" sz="1250" dirty="0"/>
          </a:p>
        </p:txBody>
      </p:sp>
      <p:sp>
        <p:nvSpPr>
          <p:cNvPr id="33" name="Text 27"/>
          <p:cNvSpPr/>
          <p:nvPr/>
        </p:nvSpPr>
        <p:spPr>
          <a:xfrm>
            <a:off x="548640" y="6473952"/>
            <a:ext cx="6400800" cy="274320"/>
          </a:xfrm>
          <a:prstGeom prst="rect">
            <a:avLst/>
          </a:prstGeom>
          <a:noFill/>
          <a:ln/>
        </p:spPr>
        <p:txBody>
          <a:bodyPr wrap="square" rtlCol="0" anchor="ctr"/>
          <a:lstStyle/>
          <a:p>
            <a:pPr algn="l" indent="0" marL="0">
              <a:buNone/>
            </a:pPr>
            <a:r>
              <a:rPr lang="en-US" sz="850" spc="50" kern="0" dirty="0">
                <a:solidFill>
                  <a:srgbClr val="8A97A0"/>
                </a:solidFill>
                <a:latin typeface="Arial" pitchFamily="34" charset="0"/>
                <a:ea typeface="Arial" pitchFamily="34" charset="-122"/>
                <a:cs typeface="Arial" pitchFamily="34" charset="-120"/>
              </a:rPr>
              <a:t>KAMI ELY  ·  TIKTOK SHOP PERFORMANCE ANALYTICS</a:t>
            </a:r>
            <a:endParaRPr lang="en-US" sz="850" dirty="0"/>
          </a:p>
        </p:txBody>
      </p:sp>
      <p:sp>
        <p:nvSpPr>
          <p:cNvPr id="34" name="Text 28"/>
          <p:cNvSpPr/>
          <p:nvPr/>
        </p:nvSpPr>
        <p:spPr>
          <a:xfrm>
            <a:off x="10728655" y="6473952"/>
            <a:ext cx="914400" cy="274320"/>
          </a:xfrm>
          <a:prstGeom prst="rect">
            <a:avLst/>
          </a:prstGeom>
          <a:noFill/>
          <a:ln/>
        </p:spPr>
        <p:txBody>
          <a:bodyPr wrap="square" rtlCol="0" anchor="ctr"/>
          <a:lstStyle/>
          <a:p>
            <a:pPr algn="r" indent="0" marL="0">
              <a:buNone/>
            </a:pPr>
            <a:r>
              <a:rPr lang="en-US" sz="850" dirty="0">
                <a:solidFill>
                  <a:srgbClr val="8A97A0"/>
                </a:solidFill>
                <a:latin typeface="Arial" pitchFamily="34" charset="0"/>
                <a:ea typeface="Arial" pitchFamily="34" charset="-122"/>
                <a:cs typeface="Arial"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4068"/>
            <a:ext cx="91440" cy="91440"/>
          </a:xfrm>
          <a:prstGeom prst="ellipse">
            <a:avLst/>
          </a:prstGeom>
          <a:solidFill>
            <a:srgbClr val="FF6B4A"/>
          </a:solidFill>
          <a:ln/>
        </p:spPr>
      </p:sp>
      <p:sp>
        <p:nvSpPr>
          <p:cNvPr id="3" name="Text 1"/>
          <p:cNvSpPr/>
          <p:nvPr/>
        </p:nvSpPr>
        <p:spPr>
          <a:xfrm>
            <a:off x="713232" y="457200"/>
            <a:ext cx="8229600" cy="228600"/>
          </a:xfrm>
          <a:prstGeom prst="rect">
            <a:avLst/>
          </a:prstGeom>
          <a:noFill/>
          <a:ln/>
        </p:spPr>
        <p:txBody>
          <a:bodyPr wrap="square" rtlCol="0" anchor="ctr"/>
          <a:lstStyle/>
          <a:p>
            <a:pPr algn="l" indent="0" marL="0">
              <a:buNone/>
            </a:pPr>
            <a:r>
              <a:rPr lang="en-US" sz="1100" b="1" spc="120" kern="0" dirty="0">
                <a:solidFill>
                  <a:srgbClr val="FF6B4A"/>
                </a:solidFill>
                <a:latin typeface="Arial" pitchFamily="34" charset="0"/>
                <a:ea typeface="Arial" pitchFamily="34" charset="-122"/>
                <a:cs typeface="Arial" pitchFamily="34" charset="-120"/>
              </a:rPr>
              <a:t>02 · TĂNG TRƯỞNG</a:t>
            </a:r>
            <a:endParaRPr lang="en-US" sz="1100" dirty="0"/>
          </a:p>
        </p:txBody>
      </p:sp>
      <p:sp>
        <p:nvSpPr>
          <p:cNvPr id="4" name="Text 2"/>
          <p:cNvSpPr/>
          <p:nvPr/>
        </p:nvSpPr>
        <p:spPr>
          <a:xfrm>
            <a:off x="548640" y="758952"/>
            <a:ext cx="8229600" cy="548640"/>
          </a:xfrm>
          <a:prstGeom prst="rect">
            <a:avLst/>
          </a:prstGeom>
          <a:noFill/>
          <a:ln/>
        </p:spPr>
        <p:txBody>
          <a:bodyPr wrap="square" rtlCol="0" anchor="t"/>
          <a:lstStyle/>
          <a:p>
            <a:pPr algn="l" indent="0" marL="0">
              <a:buNone/>
            </a:pPr>
            <a:r>
              <a:rPr lang="en-US" sz="2800" b="1" dirty="0">
                <a:solidFill>
                  <a:srgbClr val="0D2B3E"/>
                </a:solidFill>
                <a:latin typeface="Century Schoolbook" pitchFamily="34" charset="0"/>
                <a:ea typeface="Century Schoolbook" pitchFamily="34" charset="-122"/>
                <a:cs typeface="Century Schoolbook" pitchFamily="34" charset="-120"/>
              </a:rPr>
              <a:t>Tăng trưởng cửa hàng trong 90 ngày</a:t>
            </a:r>
            <a:endParaRPr lang="en-US" sz="2800" dirty="0"/>
          </a:p>
        </p:txBody>
      </p:sp>
      <p:graphicFrame>
        <p:nvGraphicFramePr>
          <p:cNvPr id="5" name="Chart 0" descr=""/>
          <p:cNvGraphicFramePr/>
          <p:nvPr/>
        </p:nvGraphicFramePr>
        <p:xfrm>
          <a:off x="548640" y="1691640"/>
          <a:ext cx="7223760" cy="429768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635240" y="1783080"/>
            <a:ext cx="4007815" cy="896112"/>
          </a:xfrm>
          <a:prstGeom prst="rect">
            <a:avLst/>
          </a:prstGeom>
          <a:solidFill>
            <a:srgbClr val="F7F8FA"/>
          </a:solidFill>
          <a:ln w="9525">
            <a:solidFill>
              <a:srgbClr val="E4E8EC"/>
            </a:solidFill>
            <a:prstDash val="solid"/>
          </a:ln>
        </p:spPr>
      </p:sp>
      <p:sp>
        <p:nvSpPr>
          <p:cNvPr id="7" name="Text 4"/>
          <p:cNvSpPr/>
          <p:nvPr/>
        </p:nvSpPr>
        <p:spPr>
          <a:xfrm>
            <a:off x="7818120" y="1892808"/>
            <a:ext cx="3642055" cy="256032"/>
          </a:xfrm>
          <a:prstGeom prst="rect">
            <a:avLst/>
          </a:prstGeom>
          <a:noFill/>
          <a:ln/>
        </p:spPr>
        <p:txBody>
          <a:bodyPr wrap="square" rtlCol="0" anchor="ctr"/>
          <a:lstStyle/>
          <a:p>
            <a:pPr indent="0" marL="0">
              <a:buNone/>
            </a:pPr>
            <a:r>
              <a:rPr lang="en-US" sz="900" b="1" spc="60" kern="0" dirty="0">
                <a:solidFill>
                  <a:srgbClr val="8A97A0"/>
                </a:solidFill>
                <a:latin typeface="Arial" pitchFamily="34" charset="0"/>
                <a:ea typeface="Arial" pitchFamily="34" charset="-122"/>
                <a:cs typeface="Arial" pitchFamily="34" charset="-120"/>
              </a:rPr>
              <a:t>TỔNG GMV TRONG KỲ</a:t>
            </a:r>
            <a:endParaRPr lang="en-US" sz="900" dirty="0"/>
          </a:p>
        </p:txBody>
      </p:sp>
      <p:sp>
        <p:nvSpPr>
          <p:cNvPr id="8" name="Text 5"/>
          <p:cNvSpPr/>
          <p:nvPr/>
        </p:nvSpPr>
        <p:spPr>
          <a:xfrm>
            <a:off x="7818120" y="2148840"/>
            <a:ext cx="3642055" cy="457200"/>
          </a:xfrm>
          <a:prstGeom prst="rect">
            <a:avLst/>
          </a:prstGeom>
          <a:noFill/>
          <a:ln/>
        </p:spPr>
        <p:txBody>
          <a:bodyPr wrap="square" rtlCol="0" anchor="ctr"/>
          <a:lstStyle/>
          <a:p>
            <a:pPr indent="0" marL="0">
              <a:buNone/>
            </a:pPr>
            <a:r>
              <a:rPr lang="en-US" sz="1700" b="1" dirty="0">
                <a:solidFill>
                  <a:srgbClr val="0D2B3E"/>
                </a:solidFill>
                <a:latin typeface="Century Schoolbook" pitchFamily="34" charset="0"/>
                <a:ea typeface="Century Schoolbook" pitchFamily="34" charset="-122"/>
                <a:cs typeface="Century Schoolbook" pitchFamily="34" charset="-120"/>
              </a:rPr>
              <a:t>7,35 tỷ ₫</a:t>
            </a:r>
            <a:endParaRPr lang="en-US" sz="1700" dirty="0"/>
          </a:p>
        </p:txBody>
      </p:sp>
      <p:sp>
        <p:nvSpPr>
          <p:cNvPr id="9" name="Shape 6"/>
          <p:cNvSpPr/>
          <p:nvPr/>
        </p:nvSpPr>
        <p:spPr>
          <a:xfrm>
            <a:off x="7635240" y="2862072"/>
            <a:ext cx="4007815" cy="896112"/>
          </a:xfrm>
          <a:prstGeom prst="rect">
            <a:avLst/>
          </a:prstGeom>
          <a:solidFill>
            <a:srgbClr val="F7F8FA"/>
          </a:solidFill>
          <a:ln w="9525">
            <a:solidFill>
              <a:srgbClr val="E4E8EC"/>
            </a:solidFill>
            <a:prstDash val="solid"/>
          </a:ln>
        </p:spPr>
      </p:sp>
      <p:sp>
        <p:nvSpPr>
          <p:cNvPr id="10" name="Text 7"/>
          <p:cNvSpPr/>
          <p:nvPr/>
        </p:nvSpPr>
        <p:spPr>
          <a:xfrm>
            <a:off x="7818120" y="2971800"/>
            <a:ext cx="3642055" cy="256032"/>
          </a:xfrm>
          <a:prstGeom prst="rect">
            <a:avLst/>
          </a:prstGeom>
          <a:noFill/>
          <a:ln/>
        </p:spPr>
        <p:txBody>
          <a:bodyPr wrap="square" rtlCol="0" anchor="ctr"/>
          <a:lstStyle/>
          <a:p>
            <a:pPr indent="0" marL="0">
              <a:buNone/>
            </a:pPr>
            <a:r>
              <a:rPr lang="en-US" sz="900" b="1" spc="60" kern="0" dirty="0">
                <a:solidFill>
                  <a:srgbClr val="8A97A0"/>
                </a:solidFill>
                <a:latin typeface="Arial" pitchFamily="34" charset="0"/>
                <a:ea typeface="Arial" pitchFamily="34" charset="-122"/>
                <a:cs typeface="Arial" pitchFamily="34" charset="-120"/>
              </a:rPr>
              <a:t>SẢN LƯỢNG BÁN TRONG KỲ</a:t>
            </a:r>
            <a:endParaRPr lang="en-US" sz="900" dirty="0"/>
          </a:p>
        </p:txBody>
      </p:sp>
      <p:sp>
        <p:nvSpPr>
          <p:cNvPr id="11" name="Text 8"/>
          <p:cNvSpPr/>
          <p:nvPr/>
        </p:nvSpPr>
        <p:spPr>
          <a:xfrm>
            <a:off x="7818120" y="3227832"/>
            <a:ext cx="3642055" cy="457200"/>
          </a:xfrm>
          <a:prstGeom prst="rect">
            <a:avLst/>
          </a:prstGeom>
          <a:noFill/>
          <a:ln/>
        </p:spPr>
        <p:txBody>
          <a:bodyPr wrap="square" rtlCol="0" anchor="ctr"/>
          <a:lstStyle/>
          <a:p>
            <a:pPr indent="0" marL="0">
              <a:buNone/>
            </a:pPr>
            <a:r>
              <a:rPr lang="en-US" sz="1700" b="1" dirty="0">
                <a:solidFill>
                  <a:srgbClr val="0D2B3E"/>
                </a:solidFill>
                <a:latin typeface="Century Schoolbook" pitchFamily="34" charset="0"/>
                <a:ea typeface="Century Schoolbook" pitchFamily="34" charset="-122"/>
                <a:cs typeface="Century Schoolbook" pitchFamily="34" charset="-120"/>
              </a:rPr>
              <a:t>46.116 SP</a:t>
            </a:r>
            <a:endParaRPr lang="en-US" sz="1700" dirty="0"/>
          </a:p>
        </p:txBody>
      </p:sp>
      <p:sp>
        <p:nvSpPr>
          <p:cNvPr id="12" name="Shape 9"/>
          <p:cNvSpPr/>
          <p:nvPr/>
        </p:nvSpPr>
        <p:spPr>
          <a:xfrm>
            <a:off x="7635240" y="3941064"/>
            <a:ext cx="4007815" cy="896112"/>
          </a:xfrm>
          <a:prstGeom prst="rect">
            <a:avLst/>
          </a:prstGeom>
          <a:solidFill>
            <a:srgbClr val="F7F8FA"/>
          </a:solidFill>
          <a:ln w="9525">
            <a:solidFill>
              <a:srgbClr val="E4E8EC"/>
            </a:solidFill>
            <a:prstDash val="solid"/>
          </a:ln>
        </p:spPr>
      </p:sp>
      <p:sp>
        <p:nvSpPr>
          <p:cNvPr id="13" name="Text 10"/>
          <p:cNvSpPr/>
          <p:nvPr/>
        </p:nvSpPr>
        <p:spPr>
          <a:xfrm>
            <a:off x="7818120" y="4050792"/>
            <a:ext cx="3642055" cy="256032"/>
          </a:xfrm>
          <a:prstGeom prst="rect">
            <a:avLst/>
          </a:prstGeom>
          <a:noFill/>
          <a:ln/>
        </p:spPr>
        <p:txBody>
          <a:bodyPr wrap="square" rtlCol="0" anchor="ctr"/>
          <a:lstStyle/>
          <a:p>
            <a:pPr indent="0" marL="0">
              <a:buNone/>
            </a:pPr>
            <a:r>
              <a:rPr lang="en-US" sz="900" b="1" spc="60" kern="0" dirty="0">
                <a:solidFill>
                  <a:srgbClr val="8A97A0"/>
                </a:solidFill>
                <a:latin typeface="Arial" pitchFamily="34" charset="0"/>
                <a:ea typeface="Arial" pitchFamily="34" charset="-122"/>
                <a:cs typeface="Arial" pitchFamily="34" charset="-120"/>
              </a:rPr>
              <a:t>GMV TRUNG BÌNH / NGÀY</a:t>
            </a:r>
            <a:endParaRPr lang="en-US" sz="900" dirty="0"/>
          </a:p>
        </p:txBody>
      </p:sp>
      <p:sp>
        <p:nvSpPr>
          <p:cNvPr id="14" name="Text 11"/>
          <p:cNvSpPr/>
          <p:nvPr/>
        </p:nvSpPr>
        <p:spPr>
          <a:xfrm>
            <a:off x="7818120" y="4306824"/>
            <a:ext cx="3642055" cy="457200"/>
          </a:xfrm>
          <a:prstGeom prst="rect">
            <a:avLst/>
          </a:prstGeom>
          <a:noFill/>
          <a:ln/>
        </p:spPr>
        <p:txBody>
          <a:bodyPr wrap="square" rtlCol="0" anchor="ctr"/>
          <a:lstStyle/>
          <a:p>
            <a:pPr indent="0" marL="0">
              <a:buNone/>
            </a:pPr>
            <a:r>
              <a:rPr lang="en-US" sz="1700" b="1" dirty="0">
                <a:solidFill>
                  <a:srgbClr val="0D2B3E"/>
                </a:solidFill>
                <a:latin typeface="Century Schoolbook" pitchFamily="34" charset="0"/>
                <a:ea typeface="Century Schoolbook" pitchFamily="34" charset="-122"/>
                <a:cs typeface="Century Schoolbook" pitchFamily="34" charset="-120"/>
              </a:rPr>
              <a:t>81,7 triệu ₫</a:t>
            </a:r>
            <a:endParaRPr lang="en-US" sz="1700" dirty="0"/>
          </a:p>
        </p:txBody>
      </p:sp>
      <p:sp>
        <p:nvSpPr>
          <p:cNvPr id="15" name="Shape 12"/>
          <p:cNvSpPr/>
          <p:nvPr/>
        </p:nvSpPr>
        <p:spPr>
          <a:xfrm>
            <a:off x="7635240" y="5020056"/>
            <a:ext cx="4007815" cy="896112"/>
          </a:xfrm>
          <a:prstGeom prst="rect">
            <a:avLst/>
          </a:prstGeom>
          <a:solidFill>
            <a:srgbClr val="F7F8FA"/>
          </a:solidFill>
          <a:ln w="9525">
            <a:solidFill>
              <a:srgbClr val="E4E8EC"/>
            </a:solidFill>
            <a:prstDash val="solid"/>
          </a:ln>
        </p:spPr>
      </p:sp>
      <p:sp>
        <p:nvSpPr>
          <p:cNvPr id="16" name="Text 13"/>
          <p:cNvSpPr/>
          <p:nvPr/>
        </p:nvSpPr>
        <p:spPr>
          <a:xfrm>
            <a:off x="7818120" y="5129784"/>
            <a:ext cx="3642055" cy="256032"/>
          </a:xfrm>
          <a:prstGeom prst="rect">
            <a:avLst/>
          </a:prstGeom>
          <a:noFill/>
          <a:ln/>
        </p:spPr>
        <p:txBody>
          <a:bodyPr wrap="square" rtlCol="0" anchor="ctr"/>
          <a:lstStyle/>
          <a:p>
            <a:pPr indent="0" marL="0">
              <a:buNone/>
            </a:pPr>
            <a:r>
              <a:rPr lang="en-US" sz="900" b="1" spc="60" kern="0" dirty="0">
                <a:solidFill>
                  <a:srgbClr val="8A97A0"/>
                </a:solidFill>
                <a:latin typeface="Arial" pitchFamily="34" charset="0"/>
                <a:ea typeface="Arial" pitchFamily="34" charset="-122"/>
                <a:cs typeface="Arial" pitchFamily="34" charset="-120"/>
              </a:rPr>
              <a:t>ĐỘ PHỦ SP CÓ LIVE DẪN DẮT</a:t>
            </a:r>
            <a:endParaRPr lang="en-US" sz="900" dirty="0"/>
          </a:p>
        </p:txBody>
      </p:sp>
      <p:sp>
        <p:nvSpPr>
          <p:cNvPr id="17" name="Text 14"/>
          <p:cNvSpPr/>
          <p:nvPr/>
        </p:nvSpPr>
        <p:spPr>
          <a:xfrm>
            <a:off x="7818120" y="5385816"/>
            <a:ext cx="3642055" cy="457200"/>
          </a:xfrm>
          <a:prstGeom prst="rect">
            <a:avLst/>
          </a:prstGeom>
          <a:noFill/>
          <a:ln/>
        </p:spPr>
        <p:txBody>
          <a:bodyPr wrap="square" rtlCol="0" anchor="ctr"/>
          <a:lstStyle/>
          <a:p>
            <a:pPr indent="0" marL="0">
              <a:buNone/>
            </a:pPr>
            <a:r>
              <a:rPr lang="en-US" sz="1700" b="1" dirty="0">
                <a:solidFill>
                  <a:srgbClr val="0D2B3E"/>
                </a:solidFill>
                <a:latin typeface="Century Schoolbook" pitchFamily="34" charset="0"/>
                <a:ea typeface="Century Schoolbook" pitchFamily="34" charset="-122"/>
                <a:cs typeface="Century Schoolbook" pitchFamily="34" charset="-120"/>
              </a:rPr>
              <a:t>9.933 → 12.078</a:t>
            </a:r>
            <a:endParaRPr lang="en-US" sz="1700" dirty="0"/>
          </a:p>
        </p:txBody>
      </p:sp>
      <p:sp>
        <p:nvSpPr>
          <p:cNvPr id="18" name="Text 15"/>
          <p:cNvSpPr/>
          <p:nvPr/>
        </p:nvSpPr>
        <p:spPr>
          <a:xfrm>
            <a:off x="548640" y="6473952"/>
            <a:ext cx="6400800" cy="274320"/>
          </a:xfrm>
          <a:prstGeom prst="rect">
            <a:avLst/>
          </a:prstGeom>
          <a:noFill/>
          <a:ln/>
        </p:spPr>
        <p:txBody>
          <a:bodyPr wrap="square" rtlCol="0" anchor="ctr"/>
          <a:lstStyle/>
          <a:p>
            <a:pPr algn="l" indent="0" marL="0">
              <a:buNone/>
            </a:pPr>
            <a:r>
              <a:rPr lang="en-US" sz="850" spc="50" kern="0" dirty="0">
                <a:solidFill>
                  <a:srgbClr val="8A97A0"/>
                </a:solidFill>
                <a:latin typeface="Arial" pitchFamily="34" charset="0"/>
                <a:ea typeface="Arial" pitchFamily="34" charset="-122"/>
                <a:cs typeface="Arial" pitchFamily="34" charset="-120"/>
              </a:rPr>
              <a:t>KAMI ELY  ·  TIKTOK SHOP PERFORMANCE ANALYTICS</a:t>
            </a:r>
            <a:endParaRPr lang="en-US" sz="850" dirty="0"/>
          </a:p>
        </p:txBody>
      </p:sp>
      <p:sp>
        <p:nvSpPr>
          <p:cNvPr id="19" name="Text 16"/>
          <p:cNvSpPr/>
          <p:nvPr/>
        </p:nvSpPr>
        <p:spPr>
          <a:xfrm>
            <a:off x="10728655" y="6473952"/>
            <a:ext cx="914400" cy="274320"/>
          </a:xfrm>
          <a:prstGeom prst="rect">
            <a:avLst/>
          </a:prstGeom>
          <a:noFill/>
          <a:ln/>
        </p:spPr>
        <p:txBody>
          <a:bodyPr wrap="square" rtlCol="0" anchor="ctr"/>
          <a:lstStyle/>
          <a:p>
            <a:pPr algn="r" indent="0" marL="0">
              <a:buNone/>
            </a:pPr>
            <a:r>
              <a:rPr lang="en-US" sz="850" dirty="0">
                <a:solidFill>
                  <a:srgbClr val="8A97A0"/>
                </a:solidFill>
                <a:latin typeface="Arial" pitchFamily="34" charset="0"/>
                <a:ea typeface="Arial" pitchFamily="34" charset="-122"/>
                <a:cs typeface="Arial" pitchFamily="34" charset="-120"/>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1C29"/>
        </a:solidFill>
      </p:bgPr>
    </p:bg>
    <p:spTree>
      <p:nvGrpSpPr>
        <p:cNvPr id="1" name=""/>
        <p:cNvGrpSpPr/>
        <p:nvPr/>
      </p:nvGrpSpPr>
      <p:grpSpPr>
        <a:xfrm>
          <a:off x="0" y="0"/>
          <a:ext cx="0" cy="0"/>
          <a:chOff x="0" y="0"/>
          <a:chExt cx="0" cy="0"/>
        </a:xfrm>
      </p:grpSpPr>
      <p:sp>
        <p:nvSpPr>
          <p:cNvPr id="2" name="Shape 0"/>
          <p:cNvSpPr/>
          <p:nvPr/>
        </p:nvSpPr>
        <p:spPr>
          <a:xfrm>
            <a:off x="9448495" y="-2194560"/>
            <a:ext cx="5486400" cy="5486400"/>
          </a:xfrm>
          <a:prstGeom prst="ellipse">
            <a:avLst/>
          </a:prstGeom>
          <a:solidFill>
            <a:srgbClr val="FF6B4A">
              <a:alpha val="10000"/>
            </a:srgbClr>
          </a:solidFill>
          <a:ln/>
        </p:spPr>
      </p:sp>
      <p:sp>
        <p:nvSpPr>
          <p:cNvPr id="3" name="Shape 1"/>
          <p:cNvSpPr/>
          <p:nvPr/>
        </p:nvSpPr>
        <p:spPr>
          <a:xfrm>
            <a:off x="548640" y="502920"/>
            <a:ext cx="2377440" cy="365760"/>
          </a:xfrm>
          <a:prstGeom prst="rect">
            <a:avLst>
              <a:gd name="adj" fmla="val 50000"/>
            </a:avLst>
          </a:prstGeom>
          <a:solidFill>
            <a:srgbClr val="FF6B4A">
              <a:alpha val="18000"/>
            </a:srgbClr>
          </a:solidFill>
          <a:ln/>
        </p:spPr>
      </p:sp>
      <p:sp>
        <p:nvSpPr>
          <p:cNvPr id="4" name="Shape 2"/>
          <p:cNvSpPr/>
          <p:nvPr/>
        </p:nvSpPr>
        <p:spPr>
          <a:xfrm>
            <a:off x="603504" y="566928"/>
            <a:ext cx="256032" cy="256032"/>
          </a:xfrm>
          <a:prstGeom prst="ellipse">
            <a:avLst/>
          </a:prstGeom>
          <a:solidFill>
            <a:srgbClr val="FF6B4A"/>
          </a:solidFill>
          <a:ln/>
        </p:spPr>
      </p:sp>
      <p:pic>
        <p:nvPicPr>
          <p:cNvPr id="5" name="Image 0" descr="icons/alert.png">    </p:cNvPr>
          <p:cNvPicPr>
            <a:picLocks noChangeAspect="1"/>
          </p:cNvPicPr>
          <p:nvPr/>
        </p:nvPicPr>
        <p:blipFill>
          <a:blip r:embed="rId1"/>
          <a:stretch>
            <a:fillRect/>
          </a:stretch>
        </p:blipFill>
        <p:spPr>
          <a:xfrm>
            <a:off x="670072" y="633496"/>
            <a:ext cx="122895" cy="122895"/>
          </a:xfrm>
          <a:prstGeom prst="rect">
            <a:avLst/>
          </a:prstGeom>
        </p:spPr>
      </p:pic>
      <p:sp>
        <p:nvSpPr>
          <p:cNvPr id="6" name="Text 3"/>
          <p:cNvSpPr/>
          <p:nvPr/>
        </p:nvSpPr>
        <p:spPr>
          <a:xfrm>
            <a:off x="932688" y="502920"/>
            <a:ext cx="1920240" cy="365760"/>
          </a:xfrm>
          <a:prstGeom prst="rect">
            <a:avLst/>
          </a:prstGeom>
          <a:noFill/>
          <a:ln/>
        </p:spPr>
        <p:txBody>
          <a:bodyPr wrap="square" rtlCol="0" anchor="ctr"/>
          <a:lstStyle/>
          <a:p>
            <a:pPr indent="0" marL="0">
              <a:buNone/>
            </a:pPr>
            <a:r>
              <a:rPr lang="en-US" sz="1100" b="1" spc="80" kern="0" dirty="0">
                <a:solidFill>
                  <a:srgbClr val="FF8B70"/>
                </a:solidFill>
                <a:latin typeface="Arial" pitchFamily="34" charset="0"/>
                <a:ea typeface="Arial" pitchFamily="34" charset="-122"/>
                <a:cs typeface="Arial" pitchFamily="34" charset="-120"/>
              </a:rPr>
              <a:t>PHÁT HIỆN CHÍNH</a:t>
            </a:r>
            <a:endParaRPr lang="en-US" sz="1100" dirty="0"/>
          </a:p>
        </p:txBody>
      </p:sp>
      <p:sp>
        <p:nvSpPr>
          <p:cNvPr id="7" name="Text 4"/>
          <p:cNvSpPr/>
          <p:nvPr/>
        </p:nvSpPr>
        <p:spPr>
          <a:xfrm>
            <a:off x="548640" y="1051560"/>
            <a:ext cx="7589520" cy="868680"/>
          </a:xfrm>
          <a:prstGeom prst="rect">
            <a:avLst/>
          </a:prstGeom>
          <a:noFill/>
          <a:ln/>
        </p:spPr>
        <p:txBody>
          <a:bodyPr wrap="square" rtlCol="0" anchor="ctr"/>
          <a:lstStyle/>
          <a:p>
            <a:pPr indent="0" marL="0">
              <a:lnSpc>
                <a:spcPct val="108000"/>
              </a:lnSpc>
              <a:buNone/>
            </a:pPr>
            <a:r>
              <a:rPr lang="en-US" sz="2700" b="1" dirty="0">
                <a:solidFill>
                  <a:srgbClr val="FFFFFF"/>
                </a:solidFill>
                <a:latin typeface="Century Schoolbook" pitchFamily="34" charset="0"/>
                <a:ea typeface="Century Schoolbook" pitchFamily="34" charset="-122"/>
                <a:cs typeface="Century Schoolbook" pitchFamily="34" charset="-120"/>
              </a:rPr>
              <a:t>Hiệu suất LIVE giảm mạnh dù tần suất phát sóng không đổi</a:t>
            </a:r>
            <a:endParaRPr lang="en-US" sz="2700" dirty="0"/>
          </a:p>
        </p:txBody>
      </p:sp>
      <p:sp>
        <p:nvSpPr>
          <p:cNvPr id="8" name="Text 5"/>
          <p:cNvSpPr/>
          <p:nvPr/>
        </p:nvSpPr>
        <p:spPr>
          <a:xfrm>
            <a:off x="548640" y="1965960"/>
            <a:ext cx="7589520" cy="1234440"/>
          </a:xfrm>
          <a:prstGeom prst="rect">
            <a:avLst/>
          </a:prstGeom>
          <a:noFill/>
          <a:ln/>
        </p:spPr>
        <p:txBody>
          <a:bodyPr wrap="square" rtlCol="0" anchor="ctr"/>
          <a:lstStyle/>
          <a:p>
            <a:pPr indent="0" marL="0">
              <a:lnSpc>
                <a:spcPct val="135000"/>
              </a:lnSpc>
              <a:buNone/>
            </a:pPr>
            <a:r>
              <a:rPr lang="en-US" sz="1200" dirty="0">
                <a:solidFill>
                  <a:srgbClr val="D7E0E6"/>
                </a:solidFill>
                <a:latin typeface="Arial" pitchFamily="34" charset="0"/>
                <a:ea typeface="Arial" pitchFamily="34" charset="-122"/>
                <a:cs typeface="Arial" pitchFamily="34" charset="-120"/>
              </a:rPr>
              <a:t>Từ tuần đỉnh điểm (29/05/2026) đến tuần thấp điểm (07/08/2026), lượt xem trung bình mỗi phiên LIVE giảm 85,9% — kéo theo GMV trung bình mỗi phiên giảm tới 96,7%. Trong khi đó, số phiên LIVE mỗi tuần (10–20 phiên) và tổng giờ phát gần như không đổi. Tương quan Lượt xem ↔ GMV đạt r=0.87 (rất mạnh) — vấn đề nằm ở khả năng tiếp cận (reach), không phải cường độ phát sóng.</a:t>
            </a:r>
            <a:endParaRPr lang="en-US" sz="1200" dirty="0"/>
          </a:p>
        </p:txBody>
      </p:sp>
      <p:sp>
        <p:nvSpPr>
          <p:cNvPr id="9" name="Shape 6"/>
          <p:cNvSpPr/>
          <p:nvPr/>
        </p:nvSpPr>
        <p:spPr>
          <a:xfrm>
            <a:off x="548640" y="3429000"/>
            <a:ext cx="1737360" cy="960120"/>
          </a:xfrm>
          <a:prstGeom prst="rect">
            <a:avLst/>
          </a:prstGeom>
          <a:solidFill>
            <a:srgbClr val="FFFFFF">
              <a:alpha val="8000"/>
            </a:srgbClr>
          </a:solidFill>
          <a:ln w="12700">
            <a:solidFill>
              <a:srgbClr val="FFFFFF">
                <a:alpha val="18000"/>
              </a:srgbClr>
            </a:solidFill>
            <a:prstDash val="solid"/>
          </a:ln>
        </p:spPr>
      </p:sp>
      <p:sp>
        <p:nvSpPr>
          <p:cNvPr id="10" name="Text 7"/>
          <p:cNvSpPr/>
          <p:nvPr/>
        </p:nvSpPr>
        <p:spPr>
          <a:xfrm>
            <a:off x="685800" y="3520440"/>
            <a:ext cx="1463040" cy="457200"/>
          </a:xfrm>
          <a:prstGeom prst="rect">
            <a:avLst/>
          </a:prstGeom>
          <a:noFill/>
          <a:ln/>
        </p:spPr>
        <p:txBody>
          <a:bodyPr wrap="square" rtlCol="0" anchor="ctr"/>
          <a:lstStyle/>
          <a:p>
            <a:pPr indent="0" marL="0">
              <a:buNone/>
            </a:pPr>
            <a:r>
              <a:rPr lang="en-US" sz="1900" b="1" dirty="0">
                <a:solidFill>
                  <a:srgbClr val="FF8B70"/>
                </a:solidFill>
                <a:latin typeface="Century Schoolbook" pitchFamily="34" charset="0"/>
                <a:ea typeface="Century Schoolbook" pitchFamily="34" charset="-122"/>
                <a:cs typeface="Century Schoolbook" pitchFamily="34" charset="-120"/>
              </a:rPr>
              <a:t>-86%</a:t>
            </a:r>
            <a:endParaRPr lang="en-US" sz="1900" dirty="0"/>
          </a:p>
        </p:txBody>
      </p:sp>
      <p:sp>
        <p:nvSpPr>
          <p:cNvPr id="11" name="Text 8"/>
          <p:cNvSpPr/>
          <p:nvPr/>
        </p:nvSpPr>
        <p:spPr>
          <a:xfrm>
            <a:off x="685800" y="3959352"/>
            <a:ext cx="1463040" cy="384048"/>
          </a:xfrm>
          <a:prstGeom prst="rect">
            <a:avLst/>
          </a:prstGeom>
          <a:noFill/>
          <a:ln/>
        </p:spPr>
        <p:txBody>
          <a:bodyPr wrap="square" rtlCol="0" anchor="ctr"/>
          <a:lstStyle/>
          <a:p>
            <a:pPr indent="0" marL="0">
              <a:lnSpc>
                <a:spcPct val="110000"/>
              </a:lnSpc>
              <a:buNone/>
            </a:pPr>
            <a:r>
              <a:rPr lang="en-US" sz="850" dirty="0">
                <a:solidFill>
                  <a:srgbClr val="B8C6CE"/>
                </a:solidFill>
                <a:latin typeface="Arial" pitchFamily="34" charset="0"/>
                <a:ea typeface="Arial" pitchFamily="34" charset="-122"/>
                <a:cs typeface="Arial" pitchFamily="34" charset="-120"/>
              </a:rPr>
              <a:t>Lượt xem TB/phiên (đỉnh → đáy)</a:t>
            </a:r>
            <a:endParaRPr lang="en-US" sz="850" dirty="0"/>
          </a:p>
        </p:txBody>
      </p:sp>
      <p:sp>
        <p:nvSpPr>
          <p:cNvPr id="12" name="Shape 9"/>
          <p:cNvSpPr/>
          <p:nvPr/>
        </p:nvSpPr>
        <p:spPr>
          <a:xfrm>
            <a:off x="2432304" y="3429000"/>
            <a:ext cx="1737360" cy="960120"/>
          </a:xfrm>
          <a:prstGeom prst="rect">
            <a:avLst/>
          </a:prstGeom>
          <a:solidFill>
            <a:srgbClr val="FFFFFF">
              <a:alpha val="8000"/>
            </a:srgbClr>
          </a:solidFill>
          <a:ln w="12700">
            <a:solidFill>
              <a:srgbClr val="FFFFFF">
                <a:alpha val="18000"/>
              </a:srgbClr>
            </a:solidFill>
            <a:prstDash val="solid"/>
          </a:ln>
        </p:spPr>
      </p:sp>
      <p:sp>
        <p:nvSpPr>
          <p:cNvPr id="13" name="Text 10"/>
          <p:cNvSpPr/>
          <p:nvPr/>
        </p:nvSpPr>
        <p:spPr>
          <a:xfrm>
            <a:off x="2569464" y="3520440"/>
            <a:ext cx="1463040" cy="457200"/>
          </a:xfrm>
          <a:prstGeom prst="rect">
            <a:avLst/>
          </a:prstGeom>
          <a:noFill/>
          <a:ln/>
        </p:spPr>
        <p:txBody>
          <a:bodyPr wrap="square" rtlCol="0" anchor="ctr"/>
          <a:lstStyle/>
          <a:p>
            <a:pPr indent="0" marL="0">
              <a:buNone/>
            </a:pPr>
            <a:r>
              <a:rPr lang="en-US" sz="1900" b="1" dirty="0">
                <a:solidFill>
                  <a:srgbClr val="FF8B70"/>
                </a:solidFill>
                <a:latin typeface="Century Schoolbook" pitchFamily="34" charset="0"/>
                <a:ea typeface="Century Schoolbook" pitchFamily="34" charset="-122"/>
                <a:cs typeface="Century Schoolbook" pitchFamily="34" charset="-120"/>
              </a:rPr>
              <a:t>-97%</a:t>
            </a:r>
            <a:endParaRPr lang="en-US" sz="1900" dirty="0"/>
          </a:p>
        </p:txBody>
      </p:sp>
      <p:sp>
        <p:nvSpPr>
          <p:cNvPr id="14" name="Text 11"/>
          <p:cNvSpPr/>
          <p:nvPr/>
        </p:nvSpPr>
        <p:spPr>
          <a:xfrm>
            <a:off x="2569464" y="3959352"/>
            <a:ext cx="1463040" cy="384048"/>
          </a:xfrm>
          <a:prstGeom prst="rect">
            <a:avLst/>
          </a:prstGeom>
          <a:noFill/>
          <a:ln/>
        </p:spPr>
        <p:txBody>
          <a:bodyPr wrap="square" rtlCol="0" anchor="ctr"/>
          <a:lstStyle/>
          <a:p>
            <a:pPr indent="0" marL="0">
              <a:lnSpc>
                <a:spcPct val="110000"/>
              </a:lnSpc>
              <a:buNone/>
            </a:pPr>
            <a:r>
              <a:rPr lang="en-US" sz="850" dirty="0">
                <a:solidFill>
                  <a:srgbClr val="B8C6CE"/>
                </a:solidFill>
                <a:latin typeface="Arial" pitchFamily="34" charset="0"/>
                <a:ea typeface="Arial" pitchFamily="34" charset="-122"/>
                <a:cs typeface="Arial" pitchFamily="34" charset="-120"/>
              </a:rPr>
              <a:t>GMV TB/phiên (đỉnh → đáy)</a:t>
            </a:r>
            <a:endParaRPr lang="en-US" sz="850" dirty="0"/>
          </a:p>
        </p:txBody>
      </p:sp>
      <p:sp>
        <p:nvSpPr>
          <p:cNvPr id="15" name="Shape 12"/>
          <p:cNvSpPr/>
          <p:nvPr/>
        </p:nvSpPr>
        <p:spPr>
          <a:xfrm>
            <a:off x="4315968" y="3429000"/>
            <a:ext cx="1737360" cy="960120"/>
          </a:xfrm>
          <a:prstGeom prst="rect">
            <a:avLst/>
          </a:prstGeom>
          <a:solidFill>
            <a:srgbClr val="FFFFFF">
              <a:alpha val="8000"/>
            </a:srgbClr>
          </a:solidFill>
          <a:ln w="12700">
            <a:solidFill>
              <a:srgbClr val="FFFFFF">
                <a:alpha val="18000"/>
              </a:srgbClr>
            </a:solidFill>
            <a:prstDash val="solid"/>
          </a:ln>
        </p:spPr>
      </p:sp>
      <p:sp>
        <p:nvSpPr>
          <p:cNvPr id="16" name="Text 13"/>
          <p:cNvSpPr/>
          <p:nvPr/>
        </p:nvSpPr>
        <p:spPr>
          <a:xfrm>
            <a:off x="4453128" y="3520440"/>
            <a:ext cx="1463040" cy="457200"/>
          </a:xfrm>
          <a:prstGeom prst="rect">
            <a:avLst/>
          </a:prstGeom>
          <a:noFill/>
          <a:ln/>
        </p:spPr>
        <p:txBody>
          <a:bodyPr wrap="square" rtlCol="0" anchor="ctr"/>
          <a:lstStyle/>
          <a:p>
            <a:pPr indent="0" marL="0">
              <a:buNone/>
            </a:pPr>
            <a:r>
              <a:rPr lang="en-US" sz="1900" b="1" dirty="0">
                <a:solidFill>
                  <a:srgbClr val="FF8B70"/>
                </a:solidFill>
                <a:latin typeface="Century Schoolbook" pitchFamily="34" charset="0"/>
                <a:ea typeface="Century Schoolbook" pitchFamily="34" charset="-122"/>
                <a:cs typeface="Century Schoolbook" pitchFamily="34" charset="-120"/>
              </a:rPr>
              <a:t>r = 0.87</a:t>
            </a:r>
            <a:endParaRPr lang="en-US" sz="1900" dirty="0"/>
          </a:p>
        </p:txBody>
      </p:sp>
      <p:sp>
        <p:nvSpPr>
          <p:cNvPr id="17" name="Text 14"/>
          <p:cNvSpPr/>
          <p:nvPr/>
        </p:nvSpPr>
        <p:spPr>
          <a:xfrm>
            <a:off x="4453128" y="3959352"/>
            <a:ext cx="1463040" cy="384048"/>
          </a:xfrm>
          <a:prstGeom prst="rect">
            <a:avLst/>
          </a:prstGeom>
          <a:noFill/>
          <a:ln/>
        </p:spPr>
        <p:txBody>
          <a:bodyPr wrap="square" rtlCol="0" anchor="ctr"/>
          <a:lstStyle/>
          <a:p>
            <a:pPr indent="0" marL="0">
              <a:lnSpc>
                <a:spcPct val="110000"/>
              </a:lnSpc>
              <a:buNone/>
            </a:pPr>
            <a:r>
              <a:rPr lang="en-US" sz="850" dirty="0">
                <a:solidFill>
                  <a:srgbClr val="B8C6CE"/>
                </a:solidFill>
                <a:latin typeface="Arial" pitchFamily="34" charset="0"/>
                <a:ea typeface="Arial" pitchFamily="34" charset="-122"/>
                <a:cs typeface="Arial" pitchFamily="34" charset="-120"/>
              </a:rPr>
              <a:t>Tương quan Lượt xem ↔ GMV/phiên</a:t>
            </a:r>
            <a:endParaRPr lang="en-US" sz="850" dirty="0"/>
          </a:p>
        </p:txBody>
      </p:sp>
      <p:sp>
        <p:nvSpPr>
          <p:cNvPr id="18" name="Shape 15"/>
          <p:cNvSpPr/>
          <p:nvPr/>
        </p:nvSpPr>
        <p:spPr>
          <a:xfrm>
            <a:off x="6199632" y="3429000"/>
            <a:ext cx="1737360" cy="960120"/>
          </a:xfrm>
          <a:prstGeom prst="rect">
            <a:avLst/>
          </a:prstGeom>
          <a:solidFill>
            <a:srgbClr val="FFFFFF">
              <a:alpha val="8000"/>
            </a:srgbClr>
          </a:solidFill>
          <a:ln w="12700">
            <a:solidFill>
              <a:srgbClr val="FFFFFF">
                <a:alpha val="18000"/>
              </a:srgbClr>
            </a:solidFill>
            <a:prstDash val="solid"/>
          </a:ln>
        </p:spPr>
      </p:sp>
      <p:sp>
        <p:nvSpPr>
          <p:cNvPr id="19" name="Text 16"/>
          <p:cNvSpPr/>
          <p:nvPr/>
        </p:nvSpPr>
        <p:spPr>
          <a:xfrm>
            <a:off x="6336792" y="3520440"/>
            <a:ext cx="1463040" cy="457200"/>
          </a:xfrm>
          <a:prstGeom prst="rect">
            <a:avLst/>
          </a:prstGeom>
          <a:noFill/>
          <a:ln/>
        </p:spPr>
        <p:txBody>
          <a:bodyPr wrap="square" rtlCol="0" anchor="ctr"/>
          <a:lstStyle/>
          <a:p>
            <a:pPr indent="0" marL="0">
              <a:buNone/>
            </a:pPr>
            <a:r>
              <a:rPr lang="en-US" sz="1900" b="1" dirty="0">
                <a:solidFill>
                  <a:srgbClr val="FF8B70"/>
                </a:solidFill>
                <a:latin typeface="Century Schoolbook" pitchFamily="34" charset="0"/>
                <a:ea typeface="Century Schoolbook" pitchFamily="34" charset="-122"/>
                <a:cs typeface="Century Schoolbook" pitchFamily="34" charset="-120"/>
              </a:rPr>
              <a:t>r = -0.66</a:t>
            </a:r>
            <a:endParaRPr lang="en-US" sz="1900" dirty="0"/>
          </a:p>
        </p:txBody>
      </p:sp>
      <p:sp>
        <p:nvSpPr>
          <p:cNvPr id="20" name="Text 17"/>
          <p:cNvSpPr/>
          <p:nvPr/>
        </p:nvSpPr>
        <p:spPr>
          <a:xfrm>
            <a:off x="6336792" y="3959352"/>
            <a:ext cx="1463040" cy="384048"/>
          </a:xfrm>
          <a:prstGeom prst="rect">
            <a:avLst/>
          </a:prstGeom>
          <a:noFill/>
          <a:ln/>
        </p:spPr>
        <p:txBody>
          <a:bodyPr wrap="square" rtlCol="0" anchor="ctr"/>
          <a:lstStyle/>
          <a:p>
            <a:pPr indent="0" marL="0">
              <a:lnSpc>
                <a:spcPct val="110000"/>
              </a:lnSpc>
              <a:buNone/>
            </a:pPr>
            <a:r>
              <a:rPr lang="en-US" sz="850" dirty="0">
                <a:solidFill>
                  <a:srgbClr val="B8C6CE"/>
                </a:solidFill>
                <a:latin typeface="Arial" pitchFamily="34" charset="0"/>
                <a:ea typeface="Arial" pitchFamily="34" charset="-122"/>
                <a:cs typeface="Arial" pitchFamily="34" charset="-120"/>
              </a:rPr>
              <a:t>Tương quan Số phiên ↔ GMV tuần</a:t>
            </a:r>
            <a:endParaRPr lang="en-US" sz="850" dirty="0"/>
          </a:p>
        </p:txBody>
      </p:sp>
      <p:graphicFrame>
        <p:nvGraphicFramePr>
          <p:cNvPr id="21" name="Chart 0" descr=""/>
          <p:cNvGraphicFramePr/>
          <p:nvPr/>
        </p:nvGraphicFramePr>
        <p:xfrm>
          <a:off x="8229600" y="1051560"/>
          <a:ext cx="3429000" cy="5120640"/>
        </p:xfrm>
        <a:graphic xmlns:a="http://schemas.openxmlformats.org/drawingml/2006/main">
          <a:graphicData uri="http://schemas.openxmlformats.org/drawingml/2006/chart">
            <c:chart xmlns:c="http://schemas.openxmlformats.org/drawingml/2006/chart" r:id="rId2"/>
          </a:graphicData>
        </a:graphic>
      </p:graphicFrame>
      <p:sp>
        <p:nvSpPr>
          <p:cNvPr id="22" name="Text 18"/>
          <p:cNvSpPr/>
          <p:nvPr/>
        </p:nvSpPr>
        <p:spPr>
          <a:xfrm>
            <a:off x="548640" y="6473952"/>
            <a:ext cx="6400800" cy="274320"/>
          </a:xfrm>
          <a:prstGeom prst="rect">
            <a:avLst/>
          </a:prstGeom>
          <a:noFill/>
          <a:ln/>
        </p:spPr>
        <p:txBody>
          <a:bodyPr wrap="square" rtlCol="0" anchor="ctr"/>
          <a:lstStyle/>
          <a:p>
            <a:pPr algn="l" indent="0" marL="0">
              <a:buNone/>
            </a:pPr>
            <a:r>
              <a:rPr lang="en-US" sz="850" spc="50" kern="0" dirty="0">
                <a:solidFill>
                  <a:srgbClr val="5C7686"/>
                </a:solidFill>
                <a:latin typeface="Arial" pitchFamily="34" charset="0"/>
                <a:ea typeface="Arial" pitchFamily="34" charset="-122"/>
                <a:cs typeface="Arial" pitchFamily="34" charset="-120"/>
              </a:rPr>
              <a:t>KAMI ELY  ·  TIKTOK SHOP PERFORMANCE ANALYTICS</a:t>
            </a:r>
            <a:endParaRPr lang="en-US" sz="850" dirty="0"/>
          </a:p>
        </p:txBody>
      </p:sp>
      <p:sp>
        <p:nvSpPr>
          <p:cNvPr id="23" name="Text 19"/>
          <p:cNvSpPr/>
          <p:nvPr/>
        </p:nvSpPr>
        <p:spPr>
          <a:xfrm>
            <a:off x="10728655" y="6473952"/>
            <a:ext cx="914400" cy="274320"/>
          </a:xfrm>
          <a:prstGeom prst="rect">
            <a:avLst/>
          </a:prstGeom>
          <a:noFill/>
          <a:ln/>
        </p:spPr>
        <p:txBody>
          <a:bodyPr wrap="square" rtlCol="0" anchor="ctr"/>
          <a:lstStyle/>
          <a:p>
            <a:pPr algn="r" indent="0" marL="0">
              <a:buNone/>
            </a:pPr>
            <a:r>
              <a:rPr lang="en-US" sz="850" dirty="0">
                <a:solidFill>
                  <a:srgbClr val="5C7686"/>
                </a:solidFill>
                <a:latin typeface="Arial" pitchFamily="34" charset="0"/>
                <a:ea typeface="Arial" pitchFamily="34" charset="-122"/>
                <a:cs typeface="Arial" pitchFamily="34" charset="-120"/>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4068"/>
            <a:ext cx="91440" cy="91440"/>
          </a:xfrm>
          <a:prstGeom prst="ellipse">
            <a:avLst/>
          </a:prstGeom>
          <a:solidFill>
            <a:srgbClr val="FF6B4A"/>
          </a:solidFill>
          <a:ln/>
        </p:spPr>
      </p:sp>
      <p:sp>
        <p:nvSpPr>
          <p:cNvPr id="3" name="Text 1"/>
          <p:cNvSpPr/>
          <p:nvPr/>
        </p:nvSpPr>
        <p:spPr>
          <a:xfrm>
            <a:off x="713232" y="457200"/>
            <a:ext cx="8229600" cy="228600"/>
          </a:xfrm>
          <a:prstGeom prst="rect">
            <a:avLst/>
          </a:prstGeom>
          <a:noFill/>
          <a:ln/>
        </p:spPr>
        <p:txBody>
          <a:bodyPr wrap="square" rtlCol="0" anchor="ctr"/>
          <a:lstStyle/>
          <a:p>
            <a:pPr algn="l" indent="0" marL="0">
              <a:buNone/>
            </a:pPr>
            <a:r>
              <a:rPr lang="en-US" sz="1100" b="1" spc="120" kern="0" dirty="0">
                <a:solidFill>
                  <a:srgbClr val="FF6B4A"/>
                </a:solidFill>
                <a:latin typeface="Arial" pitchFamily="34" charset="0"/>
                <a:ea typeface="Arial" pitchFamily="34" charset="-122"/>
                <a:cs typeface="Arial" pitchFamily="34" charset="-120"/>
              </a:rPr>
              <a:t>03 · CƠ CẤU DOANH THU</a:t>
            </a:r>
            <a:endParaRPr lang="en-US" sz="1100" dirty="0"/>
          </a:p>
        </p:txBody>
      </p:sp>
      <p:sp>
        <p:nvSpPr>
          <p:cNvPr id="4" name="Text 2"/>
          <p:cNvSpPr/>
          <p:nvPr/>
        </p:nvSpPr>
        <p:spPr>
          <a:xfrm>
            <a:off x="548640" y="758952"/>
            <a:ext cx="8229600" cy="548640"/>
          </a:xfrm>
          <a:prstGeom prst="rect">
            <a:avLst/>
          </a:prstGeom>
          <a:noFill/>
          <a:ln/>
        </p:spPr>
        <p:txBody>
          <a:bodyPr wrap="square" rtlCol="0" anchor="t"/>
          <a:lstStyle/>
          <a:p>
            <a:pPr algn="l" indent="0" marL="0">
              <a:buNone/>
            </a:pPr>
            <a:r>
              <a:rPr lang="en-US" sz="2800" b="1" dirty="0">
                <a:solidFill>
                  <a:srgbClr val="0D2B3E"/>
                </a:solidFill>
                <a:latin typeface="Century Schoolbook" pitchFamily="34" charset="0"/>
                <a:ea typeface="Century Schoolbook" pitchFamily="34" charset="-122"/>
                <a:cs typeface="Century Schoolbook" pitchFamily="34" charset="-120"/>
              </a:rPr>
              <a:t>Doanh thu đến từ đâu?</a:t>
            </a:r>
            <a:endParaRPr lang="en-US" sz="2800" dirty="0"/>
          </a:p>
        </p:txBody>
      </p:sp>
      <p:sp>
        <p:nvSpPr>
          <p:cNvPr id="5" name="Text 3"/>
          <p:cNvSpPr/>
          <p:nvPr/>
        </p:nvSpPr>
        <p:spPr>
          <a:xfrm>
            <a:off x="548640" y="1234440"/>
            <a:ext cx="11094415" cy="411480"/>
          </a:xfrm>
          <a:prstGeom prst="rect">
            <a:avLst/>
          </a:prstGeom>
          <a:noFill/>
          <a:ln/>
        </p:spPr>
        <p:txBody>
          <a:bodyPr wrap="square" rtlCol="0" anchor="ctr"/>
          <a:lstStyle/>
          <a:p>
            <a:pPr indent="0" marL="0">
              <a:buNone/>
            </a:pPr>
            <a:r>
              <a:rPr lang="en-US" sz="1200" dirty="0">
                <a:solidFill>
                  <a:srgbClr val="5B6B76"/>
                </a:solidFill>
                <a:latin typeface="Arial" pitchFamily="34" charset="0"/>
                <a:ea typeface="Arial" pitchFamily="34" charset="-122"/>
                <a:cs typeface="Arial" pitchFamily="34" charset="-120"/>
              </a:rPr>
              <a:t>Ước tính đóng góp GMV theo kênh trong kỳ 90 ngày, dựa trên GMV theo dõi được từ các phiên LIVE và video của gian hàng so với tổng GMV toàn cửa hàng.</a:t>
            </a:r>
            <a:endParaRPr lang="en-US" sz="1200" dirty="0"/>
          </a:p>
        </p:txBody>
      </p:sp>
      <p:graphicFrame>
        <p:nvGraphicFramePr>
          <p:cNvPr id="6" name="Chart 0" descr=""/>
          <p:cNvGraphicFramePr/>
          <p:nvPr/>
        </p:nvGraphicFramePr>
        <p:xfrm>
          <a:off x="548640" y="1828800"/>
          <a:ext cx="5120640" cy="420624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577840" y="1965960"/>
            <a:ext cx="6065215" cy="1207008"/>
          </a:xfrm>
          <a:prstGeom prst="rect">
            <a:avLst/>
          </a:prstGeom>
          <a:solidFill>
            <a:srgbClr val="F7F8FA"/>
          </a:solidFill>
          <a:ln w="9525">
            <a:solidFill>
              <a:srgbClr val="E4E8EC"/>
            </a:solidFill>
            <a:prstDash val="solid"/>
          </a:ln>
        </p:spPr>
      </p:sp>
      <p:sp>
        <p:nvSpPr>
          <p:cNvPr id="8" name="Shape 5"/>
          <p:cNvSpPr/>
          <p:nvPr/>
        </p:nvSpPr>
        <p:spPr>
          <a:xfrm>
            <a:off x="5779008" y="2167128"/>
            <a:ext cx="548640" cy="548640"/>
          </a:xfrm>
          <a:prstGeom prst="ellipse">
            <a:avLst/>
          </a:prstGeom>
          <a:solidFill>
            <a:srgbClr val="FF6B4A"/>
          </a:solidFill>
          <a:ln/>
        </p:spPr>
      </p:sp>
      <p:pic>
        <p:nvPicPr>
          <p:cNvPr id="9" name="Image 0" descr="icons/radio.png">    </p:cNvPr>
          <p:cNvPicPr>
            <a:picLocks noChangeAspect="1"/>
          </p:cNvPicPr>
          <p:nvPr/>
        </p:nvPicPr>
        <p:blipFill>
          <a:blip r:embed="rId2"/>
          <a:stretch>
            <a:fillRect/>
          </a:stretch>
        </p:blipFill>
        <p:spPr>
          <a:xfrm>
            <a:off x="5921654" y="2309774"/>
            <a:ext cx="263347" cy="263347"/>
          </a:xfrm>
          <a:prstGeom prst="rect">
            <a:avLst/>
          </a:prstGeom>
        </p:spPr>
      </p:pic>
      <p:sp>
        <p:nvSpPr>
          <p:cNvPr id="10" name="Text 6"/>
          <p:cNvSpPr/>
          <p:nvPr/>
        </p:nvSpPr>
        <p:spPr>
          <a:xfrm>
            <a:off x="6492240" y="2103120"/>
            <a:ext cx="4967935" cy="320040"/>
          </a:xfrm>
          <a:prstGeom prst="rect">
            <a:avLst/>
          </a:prstGeom>
          <a:noFill/>
          <a:ln/>
        </p:spPr>
        <p:txBody>
          <a:bodyPr wrap="square" rtlCol="0" anchor="ctr"/>
          <a:lstStyle/>
          <a:p>
            <a:pPr indent="0" marL="0">
              <a:buNone/>
            </a:pPr>
            <a:r>
              <a:rPr lang="en-US" sz="1500" b="1" dirty="0">
                <a:solidFill>
                  <a:srgbClr val="0D2B3E"/>
                </a:solidFill>
                <a:latin typeface="Century Schoolbook" pitchFamily="34" charset="0"/>
                <a:ea typeface="Century Schoolbook" pitchFamily="34" charset="-122"/>
                <a:cs typeface="Century Schoolbook" pitchFamily="34" charset="-120"/>
              </a:rPr>
              <a:t>LIVE</a:t>
            </a:r>
            <a:endParaRPr lang="en-US" sz="1500" dirty="0"/>
          </a:p>
        </p:txBody>
      </p:sp>
      <p:sp>
        <p:nvSpPr>
          <p:cNvPr id="11" name="Text 7"/>
          <p:cNvSpPr/>
          <p:nvPr/>
        </p:nvSpPr>
        <p:spPr>
          <a:xfrm>
            <a:off x="6492240" y="2423160"/>
            <a:ext cx="4967935" cy="320040"/>
          </a:xfrm>
          <a:prstGeom prst="rect">
            <a:avLst/>
          </a:prstGeom>
          <a:noFill/>
          <a:ln/>
        </p:spPr>
        <p:txBody>
          <a:bodyPr wrap="square" rtlCol="0" anchor="ctr"/>
          <a:lstStyle/>
          <a:p>
            <a:pPr indent="0" marL="0">
              <a:buNone/>
            </a:pPr>
            <a:r>
              <a:rPr lang="en-US" sz="1100" dirty="0">
                <a:solidFill>
                  <a:srgbClr val="5B6B76"/>
                </a:solidFill>
                <a:latin typeface="Arial" pitchFamily="34" charset="0"/>
                <a:ea typeface="Arial" pitchFamily="34" charset="-122"/>
                <a:cs typeface="Arial" pitchFamily="34" charset="-120"/>
              </a:rPr>
              <a:t>5,41 tỷ ₫   ·   37.957 sản phẩm</a:t>
            </a:r>
            <a:endParaRPr lang="en-US" sz="1100" dirty="0"/>
          </a:p>
        </p:txBody>
      </p:sp>
      <p:sp>
        <p:nvSpPr>
          <p:cNvPr id="12" name="Text 8"/>
          <p:cNvSpPr/>
          <p:nvPr/>
        </p:nvSpPr>
        <p:spPr>
          <a:xfrm>
            <a:off x="6492240" y="2743200"/>
            <a:ext cx="4967935" cy="365760"/>
          </a:xfrm>
          <a:prstGeom prst="rect">
            <a:avLst/>
          </a:prstGeom>
          <a:noFill/>
          <a:ln/>
        </p:spPr>
        <p:txBody>
          <a:bodyPr wrap="square" rtlCol="0" anchor="ctr"/>
          <a:lstStyle/>
          <a:p>
            <a:pPr indent="0" marL="0">
              <a:buNone/>
            </a:pPr>
            <a:r>
              <a:rPr lang="en-US" sz="1400" b="1" dirty="0">
                <a:solidFill>
                  <a:srgbClr val="FF6B4A"/>
                </a:solidFill>
                <a:latin typeface="Century Schoolbook" pitchFamily="34" charset="0"/>
                <a:ea typeface="Century Schoolbook" pitchFamily="34" charset="-122"/>
                <a:cs typeface="Century Schoolbook" pitchFamily="34" charset="-120"/>
              </a:rPr>
              <a:t>73,5%</a:t>
            </a:r>
            <a:endParaRPr lang="en-US" sz="1400" dirty="0"/>
          </a:p>
        </p:txBody>
      </p:sp>
      <p:sp>
        <p:nvSpPr>
          <p:cNvPr id="13" name="Shape 9"/>
          <p:cNvSpPr/>
          <p:nvPr/>
        </p:nvSpPr>
        <p:spPr>
          <a:xfrm>
            <a:off x="5577840" y="3383280"/>
            <a:ext cx="6065215" cy="1207008"/>
          </a:xfrm>
          <a:prstGeom prst="rect">
            <a:avLst/>
          </a:prstGeom>
          <a:solidFill>
            <a:srgbClr val="F7F8FA"/>
          </a:solidFill>
          <a:ln w="9525">
            <a:solidFill>
              <a:srgbClr val="E4E8EC"/>
            </a:solidFill>
            <a:prstDash val="solid"/>
          </a:ln>
        </p:spPr>
      </p:sp>
      <p:sp>
        <p:nvSpPr>
          <p:cNvPr id="14" name="Shape 10"/>
          <p:cNvSpPr/>
          <p:nvPr/>
        </p:nvSpPr>
        <p:spPr>
          <a:xfrm>
            <a:off x="5779008" y="3584448"/>
            <a:ext cx="548640" cy="548640"/>
          </a:xfrm>
          <a:prstGeom prst="ellipse">
            <a:avLst/>
          </a:prstGeom>
          <a:solidFill>
            <a:srgbClr val="1FA9A0"/>
          </a:solidFill>
          <a:ln/>
        </p:spPr>
      </p:sp>
      <p:pic>
        <p:nvPicPr>
          <p:cNvPr id="15" name="Image 1" descr="icons/video.png">    </p:cNvPr>
          <p:cNvPicPr>
            <a:picLocks noChangeAspect="1"/>
          </p:cNvPicPr>
          <p:nvPr/>
        </p:nvPicPr>
        <p:blipFill>
          <a:blip r:embed="rId3"/>
          <a:stretch>
            <a:fillRect/>
          </a:stretch>
        </p:blipFill>
        <p:spPr>
          <a:xfrm>
            <a:off x="5921654" y="3727094"/>
            <a:ext cx="263347" cy="263347"/>
          </a:xfrm>
          <a:prstGeom prst="rect">
            <a:avLst/>
          </a:prstGeom>
        </p:spPr>
      </p:pic>
      <p:sp>
        <p:nvSpPr>
          <p:cNvPr id="16" name="Text 11"/>
          <p:cNvSpPr/>
          <p:nvPr/>
        </p:nvSpPr>
        <p:spPr>
          <a:xfrm>
            <a:off x="6492240" y="3520440"/>
            <a:ext cx="4967935" cy="320040"/>
          </a:xfrm>
          <a:prstGeom prst="rect">
            <a:avLst/>
          </a:prstGeom>
          <a:noFill/>
          <a:ln/>
        </p:spPr>
        <p:txBody>
          <a:bodyPr wrap="square" rtlCol="0" anchor="ctr"/>
          <a:lstStyle/>
          <a:p>
            <a:pPr indent="0" marL="0">
              <a:buNone/>
            </a:pPr>
            <a:r>
              <a:rPr lang="en-US" sz="1500" b="1" dirty="0">
                <a:solidFill>
                  <a:srgbClr val="0D2B3E"/>
                </a:solidFill>
                <a:latin typeface="Century Schoolbook" pitchFamily="34" charset="0"/>
                <a:ea typeface="Century Schoolbook" pitchFamily="34" charset="-122"/>
                <a:cs typeface="Century Schoolbook" pitchFamily="34" charset="-120"/>
              </a:rPr>
              <a:t>Video</a:t>
            </a:r>
            <a:endParaRPr lang="en-US" sz="1500" dirty="0"/>
          </a:p>
        </p:txBody>
      </p:sp>
      <p:sp>
        <p:nvSpPr>
          <p:cNvPr id="17" name="Text 12"/>
          <p:cNvSpPr/>
          <p:nvPr/>
        </p:nvSpPr>
        <p:spPr>
          <a:xfrm>
            <a:off x="6492240" y="3840480"/>
            <a:ext cx="4967935" cy="320040"/>
          </a:xfrm>
          <a:prstGeom prst="rect">
            <a:avLst/>
          </a:prstGeom>
          <a:noFill/>
          <a:ln/>
        </p:spPr>
        <p:txBody>
          <a:bodyPr wrap="square" rtlCol="0" anchor="ctr"/>
          <a:lstStyle/>
          <a:p>
            <a:pPr indent="0" marL="0">
              <a:buNone/>
            </a:pPr>
            <a:r>
              <a:rPr lang="en-US" sz="1100" dirty="0">
                <a:solidFill>
                  <a:srgbClr val="5B6B76"/>
                </a:solidFill>
                <a:latin typeface="Arial" pitchFamily="34" charset="0"/>
                <a:ea typeface="Arial" pitchFamily="34" charset="-122"/>
                <a:cs typeface="Arial" pitchFamily="34" charset="-120"/>
              </a:rPr>
              <a:t>236,8 triệu ₫   ·   1.367 sản phẩm</a:t>
            </a:r>
            <a:endParaRPr lang="en-US" sz="1100" dirty="0"/>
          </a:p>
        </p:txBody>
      </p:sp>
      <p:sp>
        <p:nvSpPr>
          <p:cNvPr id="18" name="Text 13"/>
          <p:cNvSpPr/>
          <p:nvPr/>
        </p:nvSpPr>
        <p:spPr>
          <a:xfrm>
            <a:off x="6492240" y="4160520"/>
            <a:ext cx="4967935" cy="365760"/>
          </a:xfrm>
          <a:prstGeom prst="rect">
            <a:avLst/>
          </a:prstGeom>
          <a:noFill/>
          <a:ln/>
        </p:spPr>
        <p:txBody>
          <a:bodyPr wrap="square" rtlCol="0" anchor="ctr"/>
          <a:lstStyle/>
          <a:p>
            <a:pPr indent="0" marL="0">
              <a:buNone/>
            </a:pPr>
            <a:r>
              <a:rPr lang="en-US" sz="1400" b="1" dirty="0">
                <a:solidFill>
                  <a:srgbClr val="1FA9A0"/>
                </a:solidFill>
                <a:latin typeface="Century Schoolbook" pitchFamily="34" charset="0"/>
                <a:ea typeface="Century Schoolbook" pitchFamily="34" charset="-122"/>
                <a:cs typeface="Century Schoolbook" pitchFamily="34" charset="-120"/>
              </a:rPr>
              <a:t>3,2%</a:t>
            </a:r>
            <a:endParaRPr lang="en-US" sz="1400" dirty="0"/>
          </a:p>
        </p:txBody>
      </p:sp>
      <p:sp>
        <p:nvSpPr>
          <p:cNvPr id="19" name="Shape 14"/>
          <p:cNvSpPr/>
          <p:nvPr/>
        </p:nvSpPr>
        <p:spPr>
          <a:xfrm>
            <a:off x="5577840" y="4800600"/>
            <a:ext cx="6065215" cy="1207008"/>
          </a:xfrm>
          <a:prstGeom prst="rect">
            <a:avLst/>
          </a:prstGeom>
          <a:solidFill>
            <a:srgbClr val="F7F8FA"/>
          </a:solidFill>
          <a:ln w="9525">
            <a:solidFill>
              <a:srgbClr val="E4E8EC"/>
            </a:solidFill>
            <a:prstDash val="solid"/>
          </a:ln>
        </p:spPr>
      </p:sp>
      <p:sp>
        <p:nvSpPr>
          <p:cNvPr id="20" name="Shape 15"/>
          <p:cNvSpPr/>
          <p:nvPr/>
        </p:nvSpPr>
        <p:spPr>
          <a:xfrm>
            <a:off x="5779008" y="5001768"/>
            <a:ext cx="548640" cy="548640"/>
          </a:xfrm>
          <a:prstGeom prst="ellipse">
            <a:avLst/>
          </a:prstGeom>
          <a:solidFill>
            <a:srgbClr val="F2B84B"/>
          </a:solidFill>
          <a:ln/>
        </p:spPr>
      </p:sp>
      <p:pic>
        <p:nvPicPr>
          <p:cNvPr id="21" name="Image 2" descr="icons/bag.png">    </p:cNvPr>
          <p:cNvPicPr>
            <a:picLocks noChangeAspect="1"/>
          </p:cNvPicPr>
          <p:nvPr/>
        </p:nvPicPr>
        <p:blipFill>
          <a:blip r:embed="rId4"/>
          <a:stretch>
            <a:fillRect/>
          </a:stretch>
        </p:blipFill>
        <p:spPr>
          <a:xfrm>
            <a:off x="5921654" y="5144414"/>
            <a:ext cx="263347" cy="263347"/>
          </a:xfrm>
          <a:prstGeom prst="rect">
            <a:avLst/>
          </a:prstGeom>
        </p:spPr>
      </p:pic>
      <p:sp>
        <p:nvSpPr>
          <p:cNvPr id="22" name="Text 16"/>
          <p:cNvSpPr/>
          <p:nvPr/>
        </p:nvSpPr>
        <p:spPr>
          <a:xfrm>
            <a:off x="6492240" y="4937760"/>
            <a:ext cx="4967935" cy="320040"/>
          </a:xfrm>
          <a:prstGeom prst="rect">
            <a:avLst/>
          </a:prstGeom>
          <a:noFill/>
          <a:ln/>
        </p:spPr>
        <p:txBody>
          <a:bodyPr wrap="square" rtlCol="0" anchor="ctr"/>
          <a:lstStyle/>
          <a:p>
            <a:pPr indent="0" marL="0">
              <a:buNone/>
            </a:pPr>
            <a:r>
              <a:rPr lang="en-US" sz="1500" b="1" dirty="0">
                <a:solidFill>
                  <a:srgbClr val="0D2B3E"/>
                </a:solidFill>
                <a:latin typeface="Century Schoolbook" pitchFamily="34" charset="0"/>
                <a:ea typeface="Century Schoolbook" pitchFamily="34" charset="-122"/>
                <a:cs typeface="Century Schoolbook" pitchFamily="34" charset="-120"/>
              </a:rPr>
              <a:t>Kênh khác</a:t>
            </a:r>
            <a:endParaRPr lang="en-US" sz="1500" dirty="0"/>
          </a:p>
        </p:txBody>
      </p:sp>
      <p:sp>
        <p:nvSpPr>
          <p:cNvPr id="23" name="Text 17"/>
          <p:cNvSpPr/>
          <p:nvPr/>
        </p:nvSpPr>
        <p:spPr>
          <a:xfrm>
            <a:off x="6492240" y="5257800"/>
            <a:ext cx="4967935" cy="320040"/>
          </a:xfrm>
          <a:prstGeom prst="rect">
            <a:avLst/>
          </a:prstGeom>
          <a:noFill/>
          <a:ln/>
        </p:spPr>
        <p:txBody>
          <a:bodyPr wrap="square" rtlCol="0" anchor="ctr"/>
          <a:lstStyle/>
          <a:p>
            <a:pPr indent="0" marL="0">
              <a:buNone/>
            </a:pPr>
            <a:r>
              <a:rPr lang="en-US" sz="1100" dirty="0">
                <a:solidFill>
                  <a:srgbClr val="5B6B76"/>
                </a:solidFill>
                <a:latin typeface="Arial" pitchFamily="34" charset="0"/>
                <a:ea typeface="Arial" pitchFamily="34" charset="-122"/>
                <a:cs typeface="Arial" pitchFamily="34" charset="-120"/>
              </a:rPr>
              <a:t>1,71 tỷ ₫   ·   6.792 sản phẩm</a:t>
            </a:r>
            <a:endParaRPr lang="en-US" sz="1100" dirty="0"/>
          </a:p>
        </p:txBody>
      </p:sp>
      <p:sp>
        <p:nvSpPr>
          <p:cNvPr id="24" name="Text 18"/>
          <p:cNvSpPr/>
          <p:nvPr/>
        </p:nvSpPr>
        <p:spPr>
          <a:xfrm>
            <a:off x="6492240" y="5577840"/>
            <a:ext cx="4967935" cy="365760"/>
          </a:xfrm>
          <a:prstGeom prst="rect">
            <a:avLst/>
          </a:prstGeom>
          <a:noFill/>
          <a:ln/>
        </p:spPr>
        <p:txBody>
          <a:bodyPr wrap="square" rtlCol="0" anchor="ctr"/>
          <a:lstStyle/>
          <a:p>
            <a:pPr indent="0" marL="0">
              <a:buNone/>
            </a:pPr>
            <a:r>
              <a:rPr lang="en-US" sz="1400" b="1" dirty="0">
                <a:solidFill>
                  <a:srgbClr val="E14F30"/>
                </a:solidFill>
                <a:latin typeface="Century Schoolbook" pitchFamily="34" charset="0"/>
                <a:ea typeface="Century Schoolbook" pitchFamily="34" charset="-122"/>
                <a:cs typeface="Century Schoolbook" pitchFamily="34" charset="-120"/>
              </a:rPr>
              <a:t>23,3%</a:t>
            </a:r>
            <a:endParaRPr lang="en-US" sz="1400" dirty="0"/>
          </a:p>
        </p:txBody>
      </p:sp>
      <p:sp>
        <p:nvSpPr>
          <p:cNvPr id="25" name="Text 19"/>
          <p:cNvSpPr/>
          <p:nvPr/>
        </p:nvSpPr>
        <p:spPr>
          <a:xfrm>
            <a:off x="548640" y="6473952"/>
            <a:ext cx="6400800" cy="274320"/>
          </a:xfrm>
          <a:prstGeom prst="rect">
            <a:avLst/>
          </a:prstGeom>
          <a:noFill/>
          <a:ln/>
        </p:spPr>
        <p:txBody>
          <a:bodyPr wrap="square" rtlCol="0" anchor="ctr"/>
          <a:lstStyle/>
          <a:p>
            <a:pPr algn="l" indent="0" marL="0">
              <a:buNone/>
            </a:pPr>
            <a:r>
              <a:rPr lang="en-US" sz="850" spc="50" kern="0" dirty="0">
                <a:solidFill>
                  <a:srgbClr val="8A97A0"/>
                </a:solidFill>
                <a:latin typeface="Arial" pitchFamily="34" charset="0"/>
                <a:ea typeface="Arial" pitchFamily="34" charset="-122"/>
                <a:cs typeface="Arial" pitchFamily="34" charset="-120"/>
              </a:rPr>
              <a:t>KAMI ELY  ·  TIKTOK SHOP PERFORMANCE ANALYTICS</a:t>
            </a:r>
            <a:endParaRPr lang="en-US" sz="850" dirty="0"/>
          </a:p>
        </p:txBody>
      </p:sp>
      <p:sp>
        <p:nvSpPr>
          <p:cNvPr id="26" name="Text 20"/>
          <p:cNvSpPr/>
          <p:nvPr/>
        </p:nvSpPr>
        <p:spPr>
          <a:xfrm>
            <a:off x="10728655" y="6473952"/>
            <a:ext cx="914400" cy="274320"/>
          </a:xfrm>
          <a:prstGeom prst="rect">
            <a:avLst/>
          </a:prstGeom>
          <a:noFill/>
          <a:ln/>
        </p:spPr>
        <p:txBody>
          <a:bodyPr wrap="square" rtlCol="0" anchor="ctr"/>
          <a:lstStyle/>
          <a:p>
            <a:pPr algn="r" indent="0" marL="0">
              <a:buNone/>
            </a:pPr>
            <a:r>
              <a:rPr lang="en-US" sz="850" dirty="0">
                <a:solidFill>
                  <a:srgbClr val="8A97A0"/>
                </a:solidFill>
                <a:latin typeface="Arial" pitchFamily="34" charset="0"/>
                <a:ea typeface="Arial" pitchFamily="34" charset="-122"/>
                <a:cs typeface="Arial" pitchFamily="34" charset="-120"/>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4068"/>
            <a:ext cx="91440" cy="91440"/>
          </a:xfrm>
          <a:prstGeom prst="ellipse">
            <a:avLst/>
          </a:prstGeom>
          <a:solidFill>
            <a:srgbClr val="FF6B4A"/>
          </a:solidFill>
          <a:ln/>
        </p:spPr>
      </p:sp>
      <p:sp>
        <p:nvSpPr>
          <p:cNvPr id="3" name="Text 1"/>
          <p:cNvSpPr/>
          <p:nvPr/>
        </p:nvSpPr>
        <p:spPr>
          <a:xfrm>
            <a:off x="713232" y="457200"/>
            <a:ext cx="8229600" cy="228600"/>
          </a:xfrm>
          <a:prstGeom prst="rect">
            <a:avLst/>
          </a:prstGeom>
          <a:noFill/>
          <a:ln/>
        </p:spPr>
        <p:txBody>
          <a:bodyPr wrap="square" rtlCol="0" anchor="ctr"/>
          <a:lstStyle/>
          <a:p>
            <a:pPr algn="l" indent="0" marL="0">
              <a:buNone/>
            </a:pPr>
            <a:r>
              <a:rPr lang="en-US" sz="1100" b="1" spc="120" kern="0" dirty="0">
                <a:solidFill>
                  <a:srgbClr val="FF6B4A"/>
                </a:solidFill>
                <a:latin typeface="Arial" pitchFamily="34" charset="0"/>
                <a:ea typeface="Arial" pitchFamily="34" charset="-122"/>
                <a:cs typeface="Arial" pitchFamily="34" charset="-120"/>
              </a:rPr>
              <a:t>04 · LIVESTREAM</a:t>
            </a:r>
            <a:endParaRPr lang="en-US" sz="1100" dirty="0"/>
          </a:p>
        </p:txBody>
      </p:sp>
      <p:sp>
        <p:nvSpPr>
          <p:cNvPr id="4" name="Text 2"/>
          <p:cNvSpPr/>
          <p:nvPr/>
        </p:nvSpPr>
        <p:spPr>
          <a:xfrm>
            <a:off x="548640" y="758952"/>
            <a:ext cx="8229600" cy="548640"/>
          </a:xfrm>
          <a:prstGeom prst="rect">
            <a:avLst/>
          </a:prstGeom>
          <a:noFill/>
          <a:ln/>
        </p:spPr>
        <p:txBody>
          <a:bodyPr wrap="square" rtlCol="0" anchor="t"/>
          <a:lstStyle/>
          <a:p>
            <a:pPr algn="l" indent="0" marL="0">
              <a:buNone/>
            </a:pPr>
            <a:r>
              <a:rPr lang="en-US" sz="2800" b="1" dirty="0">
                <a:solidFill>
                  <a:srgbClr val="0D2B3E"/>
                </a:solidFill>
                <a:latin typeface="Century Schoolbook" pitchFamily="34" charset="0"/>
                <a:ea typeface="Century Schoolbook" pitchFamily="34" charset="-122"/>
                <a:cs typeface="Century Schoolbook" pitchFamily="34" charset="-120"/>
              </a:rPr>
              <a:t>Hiệu quả bán hàng qua LIVE</a:t>
            </a:r>
            <a:endParaRPr lang="en-US" sz="2800" dirty="0"/>
          </a:p>
        </p:txBody>
      </p:sp>
      <p:sp>
        <p:nvSpPr>
          <p:cNvPr id="5" name="Text 3"/>
          <p:cNvSpPr/>
          <p:nvPr/>
        </p:nvSpPr>
        <p:spPr>
          <a:xfrm>
            <a:off x="548640" y="1234440"/>
            <a:ext cx="2602154" cy="411480"/>
          </a:xfrm>
          <a:prstGeom prst="rect">
            <a:avLst/>
          </a:prstGeom>
          <a:noFill/>
          <a:ln/>
        </p:spPr>
        <p:txBody>
          <a:bodyPr wrap="square" rtlCol="0" anchor="ctr"/>
          <a:lstStyle/>
          <a:p>
            <a:pPr indent="0" marL="0">
              <a:buNone/>
            </a:pPr>
            <a:r>
              <a:rPr lang="en-US" sz="2100" b="1" dirty="0">
                <a:solidFill>
                  <a:srgbClr val="0D2B3E"/>
                </a:solidFill>
                <a:latin typeface="Century Schoolbook" pitchFamily="34" charset="0"/>
                <a:ea typeface="Century Schoolbook" pitchFamily="34" charset="-122"/>
                <a:cs typeface="Century Schoolbook" pitchFamily="34" charset="-120"/>
              </a:rPr>
              <a:t>200</a:t>
            </a:r>
            <a:endParaRPr lang="en-US" sz="2100" dirty="0"/>
          </a:p>
        </p:txBody>
      </p:sp>
      <p:sp>
        <p:nvSpPr>
          <p:cNvPr id="6" name="Text 4"/>
          <p:cNvSpPr/>
          <p:nvPr/>
        </p:nvSpPr>
        <p:spPr>
          <a:xfrm>
            <a:off x="548640" y="1636776"/>
            <a:ext cx="2602154" cy="320040"/>
          </a:xfrm>
          <a:prstGeom prst="rect">
            <a:avLst/>
          </a:prstGeom>
          <a:noFill/>
          <a:ln/>
        </p:spPr>
        <p:txBody>
          <a:bodyPr wrap="square" rtlCol="0" anchor="ctr"/>
          <a:lstStyle/>
          <a:p>
            <a:pPr indent="0" marL="0">
              <a:buNone/>
            </a:pPr>
            <a:r>
              <a:rPr lang="en-US" sz="950" dirty="0">
                <a:solidFill>
                  <a:srgbClr val="5B6B76"/>
                </a:solidFill>
                <a:latin typeface="Arial" pitchFamily="34" charset="0"/>
                <a:ea typeface="Arial" pitchFamily="34" charset="-122"/>
                <a:cs typeface="Arial" pitchFamily="34" charset="-120"/>
              </a:rPr>
              <a:t>Phiên Shop LIVE</a:t>
            </a:r>
            <a:endParaRPr lang="en-US" sz="950" dirty="0"/>
          </a:p>
        </p:txBody>
      </p:sp>
      <p:sp>
        <p:nvSpPr>
          <p:cNvPr id="7" name="Text 5"/>
          <p:cNvSpPr/>
          <p:nvPr/>
        </p:nvSpPr>
        <p:spPr>
          <a:xfrm>
            <a:off x="3379394" y="1234440"/>
            <a:ext cx="2602154" cy="411480"/>
          </a:xfrm>
          <a:prstGeom prst="rect">
            <a:avLst/>
          </a:prstGeom>
          <a:noFill/>
          <a:ln/>
        </p:spPr>
        <p:txBody>
          <a:bodyPr wrap="square" rtlCol="0" anchor="ctr"/>
          <a:lstStyle/>
          <a:p>
            <a:pPr indent="0" marL="0">
              <a:buNone/>
            </a:pPr>
            <a:r>
              <a:rPr lang="en-US" sz="2100" b="1" dirty="0">
                <a:solidFill>
                  <a:srgbClr val="0D2B3E"/>
                </a:solidFill>
                <a:latin typeface="Century Schoolbook" pitchFamily="34" charset="0"/>
                <a:ea typeface="Century Schoolbook" pitchFamily="34" charset="-122"/>
                <a:cs typeface="Century Schoolbook" pitchFamily="34" charset="-120"/>
              </a:rPr>
              <a:t>1.516.376</a:t>
            </a:r>
            <a:endParaRPr lang="en-US" sz="2100" dirty="0"/>
          </a:p>
        </p:txBody>
      </p:sp>
      <p:sp>
        <p:nvSpPr>
          <p:cNvPr id="8" name="Text 6"/>
          <p:cNvSpPr/>
          <p:nvPr/>
        </p:nvSpPr>
        <p:spPr>
          <a:xfrm>
            <a:off x="3379394" y="1636776"/>
            <a:ext cx="2602154" cy="320040"/>
          </a:xfrm>
          <a:prstGeom prst="rect">
            <a:avLst/>
          </a:prstGeom>
          <a:noFill/>
          <a:ln/>
        </p:spPr>
        <p:txBody>
          <a:bodyPr wrap="square" rtlCol="0" anchor="ctr"/>
          <a:lstStyle/>
          <a:p>
            <a:pPr indent="0" marL="0">
              <a:buNone/>
            </a:pPr>
            <a:r>
              <a:rPr lang="en-US" sz="950" dirty="0">
                <a:solidFill>
                  <a:srgbClr val="5B6B76"/>
                </a:solidFill>
                <a:latin typeface="Arial" pitchFamily="34" charset="0"/>
                <a:ea typeface="Arial" pitchFamily="34" charset="-122"/>
                <a:cs typeface="Arial" pitchFamily="34" charset="-120"/>
              </a:rPr>
              <a:t>Tổng lượt xem tích lũy</a:t>
            </a:r>
            <a:endParaRPr lang="en-US" sz="950" dirty="0"/>
          </a:p>
        </p:txBody>
      </p:sp>
      <p:sp>
        <p:nvSpPr>
          <p:cNvPr id="9" name="Text 7"/>
          <p:cNvSpPr/>
          <p:nvPr/>
        </p:nvSpPr>
        <p:spPr>
          <a:xfrm>
            <a:off x="6210148" y="1234440"/>
            <a:ext cx="2602154" cy="411480"/>
          </a:xfrm>
          <a:prstGeom prst="rect">
            <a:avLst/>
          </a:prstGeom>
          <a:noFill/>
          <a:ln/>
        </p:spPr>
        <p:txBody>
          <a:bodyPr wrap="square" rtlCol="0" anchor="ctr"/>
          <a:lstStyle/>
          <a:p>
            <a:pPr indent="0" marL="0">
              <a:buNone/>
            </a:pPr>
            <a:r>
              <a:rPr lang="en-US" sz="2100" b="1" dirty="0">
                <a:solidFill>
                  <a:srgbClr val="0D2B3E"/>
                </a:solidFill>
                <a:latin typeface="Century Schoolbook" pitchFamily="34" charset="0"/>
                <a:ea typeface="Century Schoolbook" pitchFamily="34" charset="-122"/>
                <a:cs typeface="Century Schoolbook" pitchFamily="34" charset="-120"/>
              </a:rPr>
              <a:t>27 triệu ₫</a:t>
            </a:r>
            <a:endParaRPr lang="en-US" sz="2100" dirty="0"/>
          </a:p>
        </p:txBody>
      </p:sp>
      <p:sp>
        <p:nvSpPr>
          <p:cNvPr id="10" name="Text 8"/>
          <p:cNvSpPr/>
          <p:nvPr/>
        </p:nvSpPr>
        <p:spPr>
          <a:xfrm>
            <a:off x="6210148" y="1636776"/>
            <a:ext cx="2602154" cy="320040"/>
          </a:xfrm>
          <a:prstGeom prst="rect">
            <a:avLst/>
          </a:prstGeom>
          <a:noFill/>
          <a:ln/>
        </p:spPr>
        <p:txBody>
          <a:bodyPr wrap="square" rtlCol="0" anchor="ctr"/>
          <a:lstStyle/>
          <a:p>
            <a:pPr indent="0" marL="0">
              <a:buNone/>
            </a:pPr>
            <a:r>
              <a:rPr lang="en-US" sz="950" dirty="0">
                <a:solidFill>
                  <a:srgbClr val="5B6B76"/>
                </a:solidFill>
                <a:latin typeface="Arial" pitchFamily="34" charset="0"/>
                <a:ea typeface="Arial" pitchFamily="34" charset="-122"/>
                <a:cs typeface="Arial" pitchFamily="34" charset="-120"/>
              </a:rPr>
              <a:t>GMV TB / phiên</a:t>
            </a:r>
            <a:endParaRPr lang="en-US" sz="950" dirty="0"/>
          </a:p>
        </p:txBody>
      </p:sp>
      <p:sp>
        <p:nvSpPr>
          <p:cNvPr id="11" name="Text 9"/>
          <p:cNvSpPr/>
          <p:nvPr/>
        </p:nvSpPr>
        <p:spPr>
          <a:xfrm>
            <a:off x="9040901" y="1234440"/>
            <a:ext cx="2602154" cy="411480"/>
          </a:xfrm>
          <a:prstGeom prst="rect">
            <a:avLst/>
          </a:prstGeom>
          <a:noFill/>
          <a:ln/>
        </p:spPr>
        <p:txBody>
          <a:bodyPr wrap="square" rtlCol="0" anchor="ctr"/>
          <a:lstStyle/>
          <a:p>
            <a:pPr indent="0" marL="0">
              <a:buNone/>
            </a:pPr>
            <a:r>
              <a:rPr lang="en-US" sz="2100" b="1" dirty="0">
                <a:solidFill>
                  <a:srgbClr val="0D2B3E"/>
                </a:solidFill>
                <a:latin typeface="Century Schoolbook" pitchFamily="34" charset="0"/>
                <a:ea typeface="Century Schoolbook" pitchFamily="34" charset="-122"/>
                <a:cs typeface="Century Schoolbook" pitchFamily="34" charset="-120"/>
              </a:rPr>
              <a:t>2,50%</a:t>
            </a:r>
            <a:endParaRPr lang="en-US" sz="2100" dirty="0"/>
          </a:p>
        </p:txBody>
      </p:sp>
      <p:sp>
        <p:nvSpPr>
          <p:cNvPr id="12" name="Text 10"/>
          <p:cNvSpPr/>
          <p:nvPr/>
        </p:nvSpPr>
        <p:spPr>
          <a:xfrm>
            <a:off x="9040901" y="1636776"/>
            <a:ext cx="2602154" cy="320040"/>
          </a:xfrm>
          <a:prstGeom prst="rect">
            <a:avLst/>
          </a:prstGeom>
          <a:noFill/>
          <a:ln/>
        </p:spPr>
        <p:txBody>
          <a:bodyPr wrap="square" rtlCol="0" anchor="ctr"/>
          <a:lstStyle/>
          <a:p>
            <a:pPr indent="0" marL="0">
              <a:buNone/>
            </a:pPr>
            <a:r>
              <a:rPr lang="en-US" sz="950" dirty="0">
                <a:solidFill>
                  <a:srgbClr val="5B6B76"/>
                </a:solidFill>
                <a:latin typeface="Arial" pitchFamily="34" charset="0"/>
                <a:ea typeface="Arial" pitchFamily="34" charset="-122"/>
                <a:cs typeface="Arial" pitchFamily="34" charset="-120"/>
              </a:rPr>
              <a:t>Tỷ lệ chuyển đổi</a:t>
            </a:r>
            <a:endParaRPr lang="en-US" sz="950" dirty="0"/>
          </a:p>
        </p:txBody>
      </p:sp>
      <p:sp>
        <p:nvSpPr>
          <p:cNvPr id="13" name="Shape 11"/>
          <p:cNvSpPr/>
          <p:nvPr/>
        </p:nvSpPr>
        <p:spPr>
          <a:xfrm>
            <a:off x="548640" y="2057400"/>
            <a:ext cx="11094415" cy="0"/>
          </a:xfrm>
          <a:prstGeom prst="line">
            <a:avLst/>
          </a:prstGeom>
          <a:noFill/>
          <a:ln w="12700">
            <a:solidFill>
              <a:srgbClr val="E4E8EC"/>
            </a:solidFill>
            <a:prstDash val="solid"/>
          </a:ln>
        </p:spPr>
      </p:sp>
      <p:graphicFrame>
        <p:nvGraphicFramePr>
          <p:cNvPr id="14" name="Chart 0" descr=""/>
          <p:cNvGraphicFramePr/>
          <p:nvPr/>
        </p:nvGraphicFramePr>
        <p:xfrm>
          <a:off x="548640" y="2286000"/>
          <a:ext cx="7223760" cy="370332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p:nvPr/>
        </p:nvSpPr>
        <p:spPr>
          <a:xfrm>
            <a:off x="7635240" y="2286000"/>
            <a:ext cx="4007815" cy="274320"/>
          </a:xfrm>
          <a:prstGeom prst="rect">
            <a:avLst/>
          </a:prstGeom>
          <a:noFill/>
          <a:ln/>
        </p:spPr>
        <p:txBody>
          <a:bodyPr wrap="square" rtlCol="0" anchor="ctr"/>
          <a:lstStyle/>
          <a:p>
            <a:pPr indent="0" marL="0">
              <a:buNone/>
            </a:pPr>
            <a:r>
              <a:rPr lang="en-US" sz="1000" b="1" spc="60" kern="0" dirty="0">
                <a:solidFill>
                  <a:srgbClr val="E14F30"/>
                </a:solidFill>
                <a:latin typeface="Arial" pitchFamily="34" charset="0"/>
                <a:ea typeface="Arial" pitchFamily="34" charset="-122"/>
                <a:cs typeface="Arial" pitchFamily="34" charset="-120"/>
              </a:rPr>
              <a:t>TOP 3 PHIÊN LIVE HIỆU QUẢ NHẤT</a:t>
            </a:r>
            <a:endParaRPr lang="en-US" sz="1000" dirty="0"/>
          </a:p>
        </p:txBody>
      </p:sp>
      <p:sp>
        <p:nvSpPr>
          <p:cNvPr id="16" name="Shape 13"/>
          <p:cNvSpPr/>
          <p:nvPr/>
        </p:nvSpPr>
        <p:spPr>
          <a:xfrm>
            <a:off x="7635240" y="2651760"/>
            <a:ext cx="4007815" cy="932688"/>
          </a:xfrm>
          <a:prstGeom prst="rect">
            <a:avLst/>
          </a:prstGeom>
          <a:solidFill>
            <a:srgbClr val="F7F8FA"/>
          </a:solidFill>
          <a:ln w="9525">
            <a:solidFill>
              <a:srgbClr val="E4E8EC"/>
            </a:solidFill>
            <a:prstDash val="solid"/>
          </a:ln>
        </p:spPr>
      </p:sp>
      <p:sp>
        <p:nvSpPr>
          <p:cNvPr id="17" name="Text 14"/>
          <p:cNvSpPr/>
          <p:nvPr/>
        </p:nvSpPr>
        <p:spPr>
          <a:xfrm>
            <a:off x="7744968" y="2743200"/>
            <a:ext cx="365760" cy="365760"/>
          </a:xfrm>
          <a:prstGeom prst="rect">
            <a:avLst/>
          </a:prstGeom>
          <a:noFill/>
          <a:ln/>
        </p:spPr>
        <p:txBody>
          <a:bodyPr wrap="square" rtlCol="0" anchor="ctr"/>
          <a:lstStyle/>
          <a:p>
            <a:pPr indent="0" marL="0">
              <a:buNone/>
            </a:pPr>
            <a:r>
              <a:rPr lang="en-US" sz="1600" b="1" dirty="0">
                <a:solidFill>
                  <a:srgbClr val="8A97A0"/>
                </a:solidFill>
                <a:latin typeface="Century Schoolbook" pitchFamily="34" charset="0"/>
                <a:ea typeface="Century Schoolbook" pitchFamily="34" charset="-122"/>
                <a:cs typeface="Century Schoolbook" pitchFamily="34" charset="-120"/>
              </a:rPr>
              <a:t>1</a:t>
            </a:r>
            <a:endParaRPr lang="en-US" sz="1600" dirty="0"/>
          </a:p>
        </p:txBody>
      </p:sp>
      <p:sp>
        <p:nvSpPr>
          <p:cNvPr id="18" name="Text 15"/>
          <p:cNvSpPr/>
          <p:nvPr/>
        </p:nvSpPr>
        <p:spPr>
          <a:xfrm>
            <a:off x="8092440" y="2724912"/>
            <a:ext cx="3413455" cy="292608"/>
          </a:xfrm>
          <a:prstGeom prst="rect">
            <a:avLst/>
          </a:prstGeom>
          <a:noFill/>
          <a:ln/>
        </p:spPr>
        <p:txBody>
          <a:bodyPr wrap="square" rtlCol="0" anchor="ctr"/>
          <a:lstStyle/>
          <a:p>
            <a:pPr indent="0" marL="0">
              <a:buNone/>
            </a:pPr>
            <a:r>
              <a:rPr lang="en-US" sz="1050" b="1" dirty="0">
                <a:solidFill>
                  <a:srgbClr val="16222B"/>
                </a:solidFill>
                <a:latin typeface="Arial" pitchFamily="34" charset="0"/>
                <a:ea typeface="Arial" pitchFamily="34" charset="-122"/>
                <a:cs typeface="Arial" pitchFamily="34" charset="-120"/>
              </a:rPr>
              <a:t>Sale KamiELy</a:t>
            </a:r>
            <a:endParaRPr lang="en-US" sz="1050" dirty="0"/>
          </a:p>
        </p:txBody>
      </p:sp>
      <p:sp>
        <p:nvSpPr>
          <p:cNvPr id="19" name="Text 16"/>
          <p:cNvSpPr/>
          <p:nvPr/>
        </p:nvSpPr>
        <p:spPr>
          <a:xfrm>
            <a:off x="8092440" y="2999232"/>
            <a:ext cx="3413455" cy="274320"/>
          </a:xfrm>
          <a:prstGeom prst="rect">
            <a:avLst/>
          </a:prstGeom>
          <a:noFill/>
          <a:ln/>
        </p:spPr>
        <p:txBody>
          <a:bodyPr wrap="square" rtlCol="0" anchor="ctr"/>
          <a:lstStyle/>
          <a:p>
            <a:pPr indent="0" marL="0">
              <a:buNone/>
            </a:pPr>
            <a:r>
              <a:rPr lang="en-US" sz="850" dirty="0">
                <a:solidFill>
                  <a:srgbClr val="5B6B76"/>
                </a:solidFill>
                <a:latin typeface="Arial" pitchFamily="34" charset="0"/>
                <a:ea typeface="Arial" pitchFamily="34" charset="-122"/>
                <a:cs typeface="Arial" pitchFamily="34" charset="-120"/>
              </a:rPr>
              <a:t>16/06/2026  ·  16.9h  ·  25.535 người xem</a:t>
            </a:r>
            <a:endParaRPr lang="en-US" sz="850" dirty="0"/>
          </a:p>
        </p:txBody>
      </p:sp>
      <p:sp>
        <p:nvSpPr>
          <p:cNvPr id="20" name="Text 17"/>
          <p:cNvSpPr/>
          <p:nvPr/>
        </p:nvSpPr>
        <p:spPr>
          <a:xfrm>
            <a:off x="8092440" y="3273552"/>
            <a:ext cx="3413455" cy="274320"/>
          </a:xfrm>
          <a:prstGeom prst="rect">
            <a:avLst/>
          </a:prstGeom>
          <a:noFill/>
          <a:ln/>
        </p:spPr>
        <p:txBody>
          <a:bodyPr wrap="square" rtlCol="0" anchor="ctr"/>
          <a:lstStyle/>
          <a:p>
            <a:pPr indent="0" marL="0">
              <a:buNone/>
            </a:pPr>
            <a:r>
              <a:rPr lang="en-US" sz="1150" b="1" dirty="0">
                <a:solidFill>
                  <a:srgbClr val="E14F30"/>
                </a:solidFill>
                <a:latin typeface="Century Schoolbook" pitchFamily="34" charset="0"/>
                <a:ea typeface="Century Schoolbook" pitchFamily="34" charset="-122"/>
                <a:cs typeface="Century Schoolbook" pitchFamily="34" charset="-120"/>
              </a:rPr>
              <a:t>272,1 triệu ₫</a:t>
            </a:r>
            <a:endParaRPr lang="en-US" sz="1150" dirty="0"/>
          </a:p>
        </p:txBody>
      </p:sp>
      <p:sp>
        <p:nvSpPr>
          <p:cNvPr id="21" name="Shape 18"/>
          <p:cNvSpPr/>
          <p:nvPr/>
        </p:nvSpPr>
        <p:spPr>
          <a:xfrm>
            <a:off x="7635240" y="3749040"/>
            <a:ext cx="4007815" cy="932688"/>
          </a:xfrm>
          <a:prstGeom prst="rect">
            <a:avLst/>
          </a:prstGeom>
          <a:solidFill>
            <a:srgbClr val="F7F8FA"/>
          </a:solidFill>
          <a:ln w="9525">
            <a:solidFill>
              <a:srgbClr val="E4E8EC"/>
            </a:solidFill>
            <a:prstDash val="solid"/>
          </a:ln>
        </p:spPr>
      </p:sp>
      <p:sp>
        <p:nvSpPr>
          <p:cNvPr id="22" name="Text 19"/>
          <p:cNvSpPr/>
          <p:nvPr/>
        </p:nvSpPr>
        <p:spPr>
          <a:xfrm>
            <a:off x="7744968" y="3840480"/>
            <a:ext cx="365760" cy="365760"/>
          </a:xfrm>
          <a:prstGeom prst="rect">
            <a:avLst/>
          </a:prstGeom>
          <a:noFill/>
          <a:ln/>
        </p:spPr>
        <p:txBody>
          <a:bodyPr wrap="square" rtlCol="0" anchor="ctr"/>
          <a:lstStyle/>
          <a:p>
            <a:pPr indent="0" marL="0">
              <a:buNone/>
            </a:pPr>
            <a:r>
              <a:rPr lang="en-US" sz="1600" b="1" dirty="0">
                <a:solidFill>
                  <a:srgbClr val="8A97A0"/>
                </a:solidFill>
                <a:latin typeface="Century Schoolbook" pitchFamily="34" charset="0"/>
                <a:ea typeface="Century Schoolbook" pitchFamily="34" charset="-122"/>
                <a:cs typeface="Century Schoolbook" pitchFamily="34" charset="-120"/>
              </a:rPr>
              <a:t>2</a:t>
            </a:r>
            <a:endParaRPr lang="en-US" sz="1600" dirty="0"/>
          </a:p>
        </p:txBody>
      </p:sp>
      <p:sp>
        <p:nvSpPr>
          <p:cNvPr id="23" name="Text 20"/>
          <p:cNvSpPr/>
          <p:nvPr/>
        </p:nvSpPr>
        <p:spPr>
          <a:xfrm>
            <a:off x="8092440" y="3822192"/>
            <a:ext cx="3413455" cy="292608"/>
          </a:xfrm>
          <a:prstGeom prst="rect">
            <a:avLst/>
          </a:prstGeom>
          <a:noFill/>
          <a:ln/>
        </p:spPr>
        <p:txBody>
          <a:bodyPr wrap="square" rtlCol="0" anchor="ctr"/>
          <a:lstStyle/>
          <a:p>
            <a:pPr indent="0" marL="0">
              <a:buNone/>
            </a:pPr>
            <a:r>
              <a:rPr lang="en-US" sz="1050" b="1" dirty="0">
                <a:solidFill>
                  <a:srgbClr val="16222B"/>
                </a:solidFill>
                <a:latin typeface="Arial" pitchFamily="34" charset="0"/>
                <a:ea typeface="Arial" pitchFamily="34" charset="-122"/>
                <a:cs typeface="Arial" pitchFamily="34" charset="-120"/>
              </a:rPr>
              <a:t>Chào mừng bạn đến với phiê…</a:t>
            </a:r>
            <a:endParaRPr lang="en-US" sz="1050" dirty="0"/>
          </a:p>
        </p:txBody>
      </p:sp>
      <p:sp>
        <p:nvSpPr>
          <p:cNvPr id="24" name="Text 21"/>
          <p:cNvSpPr/>
          <p:nvPr/>
        </p:nvSpPr>
        <p:spPr>
          <a:xfrm>
            <a:off x="8092440" y="4096512"/>
            <a:ext cx="3413455" cy="274320"/>
          </a:xfrm>
          <a:prstGeom prst="rect">
            <a:avLst/>
          </a:prstGeom>
          <a:noFill/>
          <a:ln/>
        </p:spPr>
        <p:txBody>
          <a:bodyPr wrap="square" rtlCol="0" anchor="ctr"/>
          <a:lstStyle/>
          <a:p>
            <a:pPr indent="0" marL="0">
              <a:buNone/>
            </a:pPr>
            <a:r>
              <a:rPr lang="en-US" sz="850" dirty="0">
                <a:solidFill>
                  <a:srgbClr val="5B6B76"/>
                </a:solidFill>
                <a:latin typeface="Arial" pitchFamily="34" charset="0"/>
                <a:ea typeface="Arial" pitchFamily="34" charset="-122"/>
                <a:cs typeface="Arial" pitchFamily="34" charset="-120"/>
              </a:rPr>
              <a:t>05/06/2026  ·  18.3h  ·  32.166 người xem</a:t>
            </a:r>
            <a:endParaRPr lang="en-US" sz="850" dirty="0"/>
          </a:p>
        </p:txBody>
      </p:sp>
      <p:sp>
        <p:nvSpPr>
          <p:cNvPr id="25" name="Text 22"/>
          <p:cNvSpPr/>
          <p:nvPr/>
        </p:nvSpPr>
        <p:spPr>
          <a:xfrm>
            <a:off x="8092440" y="4370832"/>
            <a:ext cx="3413455" cy="274320"/>
          </a:xfrm>
          <a:prstGeom prst="rect">
            <a:avLst/>
          </a:prstGeom>
          <a:noFill/>
          <a:ln/>
        </p:spPr>
        <p:txBody>
          <a:bodyPr wrap="square" rtlCol="0" anchor="ctr"/>
          <a:lstStyle/>
          <a:p>
            <a:pPr indent="0" marL="0">
              <a:buNone/>
            </a:pPr>
            <a:r>
              <a:rPr lang="en-US" sz="1150" b="1" dirty="0">
                <a:solidFill>
                  <a:srgbClr val="E14F30"/>
                </a:solidFill>
                <a:latin typeface="Century Schoolbook" pitchFamily="34" charset="0"/>
                <a:ea typeface="Century Schoolbook" pitchFamily="34" charset="-122"/>
                <a:cs typeface="Century Schoolbook" pitchFamily="34" charset="-120"/>
              </a:rPr>
              <a:t>245,3 triệu ₫</a:t>
            </a:r>
            <a:endParaRPr lang="en-US" sz="1150" dirty="0"/>
          </a:p>
        </p:txBody>
      </p:sp>
      <p:sp>
        <p:nvSpPr>
          <p:cNvPr id="26" name="Shape 23"/>
          <p:cNvSpPr/>
          <p:nvPr/>
        </p:nvSpPr>
        <p:spPr>
          <a:xfrm>
            <a:off x="7635240" y="4846320"/>
            <a:ext cx="4007815" cy="932688"/>
          </a:xfrm>
          <a:prstGeom prst="rect">
            <a:avLst/>
          </a:prstGeom>
          <a:solidFill>
            <a:srgbClr val="F7F8FA"/>
          </a:solidFill>
          <a:ln w="9525">
            <a:solidFill>
              <a:srgbClr val="E4E8EC"/>
            </a:solidFill>
            <a:prstDash val="solid"/>
          </a:ln>
        </p:spPr>
      </p:sp>
      <p:sp>
        <p:nvSpPr>
          <p:cNvPr id="27" name="Text 24"/>
          <p:cNvSpPr/>
          <p:nvPr/>
        </p:nvSpPr>
        <p:spPr>
          <a:xfrm>
            <a:off x="7744968" y="4937760"/>
            <a:ext cx="365760" cy="365760"/>
          </a:xfrm>
          <a:prstGeom prst="rect">
            <a:avLst/>
          </a:prstGeom>
          <a:noFill/>
          <a:ln/>
        </p:spPr>
        <p:txBody>
          <a:bodyPr wrap="square" rtlCol="0" anchor="ctr"/>
          <a:lstStyle/>
          <a:p>
            <a:pPr indent="0" marL="0">
              <a:buNone/>
            </a:pPr>
            <a:r>
              <a:rPr lang="en-US" sz="1600" b="1" dirty="0">
                <a:solidFill>
                  <a:srgbClr val="8A97A0"/>
                </a:solidFill>
                <a:latin typeface="Century Schoolbook" pitchFamily="34" charset="0"/>
                <a:ea typeface="Century Schoolbook" pitchFamily="34" charset="-122"/>
                <a:cs typeface="Century Schoolbook" pitchFamily="34" charset="-120"/>
              </a:rPr>
              <a:t>3</a:t>
            </a:r>
            <a:endParaRPr lang="en-US" sz="1600" dirty="0"/>
          </a:p>
        </p:txBody>
      </p:sp>
      <p:sp>
        <p:nvSpPr>
          <p:cNvPr id="28" name="Text 25"/>
          <p:cNvSpPr/>
          <p:nvPr/>
        </p:nvSpPr>
        <p:spPr>
          <a:xfrm>
            <a:off x="8092440" y="4919472"/>
            <a:ext cx="3413455" cy="292608"/>
          </a:xfrm>
          <a:prstGeom prst="rect">
            <a:avLst/>
          </a:prstGeom>
          <a:noFill/>
          <a:ln/>
        </p:spPr>
        <p:txBody>
          <a:bodyPr wrap="square" rtlCol="0" anchor="ctr"/>
          <a:lstStyle/>
          <a:p>
            <a:pPr indent="0" marL="0">
              <a:buNone/>
            </a:pPr>
            <a:r>
              <a:rPr lang="en-US" sz="1050" b="1" dirty="0">
                <a:solidFill>
                  <a:srgbClr val="16222B"/>
                </a:solidFill>
                <a:latin typeface="Arial" pitchFamily="34" charset="0"/>
                <a:ea typeface="Arial" pitchFamily="34" charset="-122"/>
                <a:cs typeface="Arial" pitchFamily="34" charset="-120"/>
              </a:rPr>
              <a:t>Sale KamiEly</a:t>
            </a:r>
            <a:endParaRPr lang="en-US" sz="1050" dirty="0"/>
          </a:p>
        </p:txBody>
      </p:sp>
      <p:sp>
        <p:nvSpPr>
          <p:cNvPr id="29" name="Text 26"/>
          <p:cNvSpPr/>
          <p:nvPr/>
        </p:nvSpPr>
        <p:spPr>
          <a:xfrm>
            <a:off x="8092440" y="5193792"/>
            <a:ext cx="3413455" cy="274320"/>
          </a:xfrm>
          <a:prstGeom prst="rect">
            <a:avLst/>
          </a:prstGeom>
          <a:noFill/>
          <a:ln/>
        </p:spPr>
        <p:txBody>
          <a:bodyPr wrap="square" rtlCol="0" anchor="ctr"/>
          <a:lstStyle/>
          <a:p>
            <a:pPr indent="0" marL="0">
              <a:buNone/>
            </a:pPr>
            <a:r>
              <a:rPr lang="en-US" sz="850" dirty="0">
                <a:solidFill>
                  <a:srgbClr val="5B6B76"/>
                </a:solidFill>
                <a:latin typeface="Arial" pitchFamily="34" charset="0"/>
                <a:ea typeface="Arial" pitchFamily="34" charset="-122"/>
                <a:cs typeface="Arial" pitchFamily="34" charset="-120"/>
              </a:rPr>
              <a:t>12/06/2026  ·  16.4h  ·  23.096 người xem</a:t>
            </a:r>
            <a:endParaRPr lang="en-US" sz="850" dirty="0"/>
          </a:p>
        </p:txBody>
      </p:sp>
      <p:sp>
        <p:nvSpPr>
          <p:cNvPr id="30" name="Text 27"/>
          <p:cNvSpPr/>
          <p:nvPr/>
        </p:nvSpPr>
        <p:spPr>
          <a:xfrm>
            <a:off x="8092440" y="5468112"/>
            <a:ext cx="3413455" cy="274320"/>
          </a:xfrm>
          <a:prstGeom prst="rect">
            <a:avLst/>
          </a:prstGeom>
          <a:noFill/>
          <a:ln/>
        </p:spPr>
        <p:txBody>
          <a:bodyPr wrap="square" rtlCol="0" anchor="ctr"/>
          <a:lstStyle/>
          <a:p>
            <a:pPr indent="0" marL="0">
              <a:buNone/>
            </a:pPr>
            <a:r>
              <a:rPr lang="en-US" sz="1150" b="1" dirty="0">
                <a:solidFill>
                  <a:srgbClr val="E14F30"/>
                </a:solidFill>
                <a:latin typeface="Century Schoolbook" pitchFamily="34" charset="0"/>
                <a:ea typeface="Century Schoolbook" pitchFamily="34" charset="-122"/>
                <a:cs typeface="Century Schoolbook" pitchFamily="34" charset="-120"/>
              </a:rPr>
              <a:t>216,8 triệu ₫</a:t>
            </a:r>
            <a:endParaRPr lang="en-US" sz="1150" dirty="0"/>
          </a:p>
        </p:txBody>
      </p:sp>
      <p:sp>
        <p:nvSpPr>
          <p:cNvPr id="31" name="Text 28"/>
          <p:cNvSpPr/>
          <p:nvPr/>
        </p:nvSpPr>
        <p:spPr>
          <a:xfrm>
            <a:off x="548640" y="6473952"/>
            <a:ext cx="6400800" cy="274320"/>
          </a:xfrm>
          <a:prstGeom prst="rect">
            <a:avLst/>
          </a:prstGeom>
          <a:noFill/>
          <a:ln/>
        </p:spPr>
        <p:txBody>
          <a:bodyPr wrap="square" rtlCol="0" anchor="ctr"/>
          <a:lstStyle/>
          <a:p>
            <a:pPr algn="l" indent="0" marL="0">
              <a:buNone/>
            </a:pPr>
            <a:r>
              <a:rPr lang="en-US" sz="850" spc="50" kern="0" dirty="0">
                <a:solidFill>
                  <a:srgbClr val="8A97A0"/>
                </a:solidFill>
                <a:latin typeface="Arial" pitchFamily="34" charset="0"/>
                <a:ea typeface="Arial" pitchFamily="34" charset="-122"/>
                <a:cs typeface="Arial" pitchFamily="34" charset="-120"/>
              </a:rPr>
              <a:t>KAMI ELY  ·  TIKTOK SHOP PERFORMANCE ANALYTICS</a:t>
            </a:r>
            <a:endParaRPr lang="en-US" sz="850" dirty="0"/>
          </a:p>
        </p:txBody>
      </p:sp>
      <p:sp>
        <p:nvSpPr>
          <p:cNvPr id="32" name="Text 29"/>
          <p:cNvSpPr/>
          <p:nvPr/>
        </p:nvSpPr>
        <p:spPr>
          <a:xfrm>
            <a:off x="10728655" y="6473952"/>
            <a:ext cx="914400" cy="274320"/>
          </a:xfrm>
          <a:prstGeom prst="rect">
            <a:avLst/>
          </a:prstGeom>
          <a:noFill/>
          <a:ln/>
        </p:spPr>
        <p:txBody>
          <a:bodyPr wrap="square" rtlCol="0" anchor="ctr"/>
          <a:lstStyle/>
          <a:p>
            <a:pPr algn="r" indent="0" marL="0">
              <a:buNone/>
            </a:pPr>
            <a:r>
              <a:rPr lang="en-US" sz="850" dirty="0">
                <a:solidFill>
                  <a:srgbClr val="8A97A0"/>
                </a:solidFill>
                <a:latin typeface="Arial" pitchFamily="34" charset="0"/>
                <a:ea typeface="Arial" pitchFamily="34" charset="-122"/>
                <a:cs typeface="Arial" pitchFamily="34" charset="-120"/>
              </a:rPr>
              <a:t>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4068"/>
            <a:ext cx="91440" cy="91440"/>
          </a:xfrm>
          <a:prstGeom prst="ellipse">
            <a:avLst/>
          </a:prstGeom>
          <a:solidFill>
            <a:srgbClr val="FF6B4A"/>
          </a:solidFill>
          <a:ln/>
        </p:spPr>
      </p:sp>
      <p:sp>
        <p:nvSpPr>
          <p:cNvPr id="3" name="Text 1"/>
          <p:cNvSpPr/>
          <p:nvPr/>
        </p:nvSpPr>
        <p:spPr>
          <a:xfrm>
            <a:off x="713232" y="457200"/>
            <a:ext cx="8229600" cy="228600"/>
          </a:xfrm>
          <a:prstGeom prst="rect">
            <a:avLst/>
          </a:prstGeom>
          <a:noFill/>
          <a:ln/>
        </p:spPr>
        <p:txBody>
          <a:bodyPr wrap="square" rtlCol="0" anchor="ctr"/>
          <a:lstStyle/>
          <a:p>
            <a:pPr algn="l" indent="0" marL="0">
              <a:buNone/>
            </a:pPr>
            <a:r>
              <a:rPr lang="en-US" sz="1100" b="1" spc="120" kern="0" dirty="0">
                <a:solidFill>
                  <a:srgbClr val="FF6B4A"/>
                </a:solidFill>
                <a:latin typeface="Arial" pitchFamily="34" charset="0"/>
                <a:ea typeface="Arial" pitchFamily="34" charset="-122"/>
                <a:cs typeface="Arial" pitchFamily="34" charset="-120"/>
              </a:rPr>
              <a:t>05 · VIDEO NGẮN</a:t>
            </a:r>
            <a:endParaRPr lang="en-US" sz="1100" dirty="0"/>
          </a:p>
        </p:txBody>
      </p:sp>
      <p:sp>
        <p:nvSpPr>
          <p:cNvPr id="4" name="Text 2"/>
          <p:cNvSpPr/>
          <p:nvPr/>
        </p:nvSpPr>
        <p:spPr>
          <a:xfrm>
            <a:off x="548640" y="758952"/>
            <a:ext cx="8229600" cy="548640"/>
          </a:xfrm>
          <a:prstGeom prst="rect">
            <a:avLst/>
          </a:prstGeom>
          <a:noFill/>
          <a:ln/>
        </p:spPr>
        <p:txBody>
          <a:bodyPr wrap="square" rtlCol="0" anchor="t"/>
          <a:lstStyle/>
          <a:p>
            <a:pPr algn="l" indent="0" marL="0">
              <a:buNone/>
            </a:pPr>
            <a:r>
              <a:rPr lang="en-US" sz="2800" b="1" dirty="0">
                <a:solidFill>
                  <a:srgbClr val="0D2B3E"/>
                </a:solidFill>
                <a:latin typeface="Century Schoolbook" pitchFamily="34" charset="0"/>
                <a:ea typeface="Century Schoolbook" pitchFamily="34" charset="-122"/>
                <a:cs typeface="Century Schoolbook" pitchFamily="34" charset="-120"/>
              </a:rPr>
              <a:t>Hiệu quả nội dung video</a:t>
            </a:r>
            <a:endParaRPr lang="en-US" sz="2800" dirty="0"/>
          </a:p>
        </p:txBody>
      </p:sp>
      <p:sp>
        <p:nvSpPr>
          <p:cNvPr id="5" name="Text 3"/>
          <p:cNvSpPr/>
          <p:nvPr/>
        </p:nvSpPr>
        <p:spPr>
          <a:xfrm>
            <a:off x="548640" y="1234440"/>
            <a:ext cx="2602154" cy="411480"/>
          </a:xfrm>
          <a:prstGeom prst="rect">
            <a:avLst/>
          </a:prstGeom>
          <a:noFill/>
          <a:ln/>
        </p:spPr>
        <p:txBody>
          <a:bodyPr wrap="square" rtlCol="0" anchor="ctr"/>
          <a:lstStyle/>
          <a:p>
            <a:pPr indent="0" marL="0">
              <a:buNone/>
            </a:pPr>
            <a:r>
              <a:rPr lang="en-US" sz="2100" b="1" dirty="0">
                <a:solidFill>
                  <a:srgbClr val="0D2B3E"/>
                </a:solidFill>
                <a:latin typeface="Century Schoolbook" pitchFamily="34" charset="0"/>
                <a:ea typeface="Century Schoolbook" pitchFamily="34" charset="-122"/>
                <a:cs typeface="Century Schoolbook" pitchFamily="34" charset="-120"/>
              </a:rPr>
              <a:t>140</a:t>
            </a:r>
            <a:endParaRPr lang="en-US" sz="2100" dirty="0"/>
          </a:p>
        </p:txBody>
      </p:sp>
      <p:sp>
        <p:nvSpPr>
          <p:cNvPr id="6" name="Text 4"/>
          <p:cNvSpPr/>
          <p:nvPr/>
        </p:nvSpPr>
        <p:spPr>
          <a:xfrm>
            <a:off x="548640" y="1636776"/>
            <a:ext cx="2602154" cy="320040"/>
          </a:xfrm>
          <a:prstGeom prst="rect">
            <a:avLst/>
          </a:prstGeom>
          <a:noFill/>
          <a:ln/>
        </p:spPr>
        <p:txBody>
          <a:bodyPr wrap="square" rtlCol="0" anchor="ctr"/>
          <a:lstStyle/>
          <a:p>
            <a:pPr indent="0" marL="0">
              <a:buNone/>
            </a:pPr>
            <a:r>
              <a:rPr lang="en-US" sz="950" dirty="0">
                <a:solidFill>
                  <a:srgbClr val="5B6B76"/>
                </a:solidFill>
                <a:latin typeface="Arial" pitchFamily="34" charset="0"/>
                <a:ea typeface="Arial" pitchFamily="34" charset="-122"/>
                <a:cs typeface="Arial" pitchFamily="34" charset="-120"/>
              </a:rPr>
              <a:t>Video đăng trong kỳ</a:t>
            </a:r>
            <a:endParaRPr lang="en-US" sz="950" dirty="0"/>
          </a:p>
        </p:txBody>
      </p:sp>
      <p:sp>
        <p:nvSpPr>
          <p:cNvPr id="7" name="Text 5"/>
          <p:cNvSpPr/>
          <p:nvPr/>
        </p:nvSpPr>
        <p:spPr>
          <a:xfrm>
            <a:off x="3379394" y="1234440"/>
            <a:ext cx="2602154" cy="411480"/>
          </a:xfrm>
          <a:prstGeom prst="rect">
            <a:avLst/>
          </a:prstGeom>
          <a:noFill/>
          <a:ln/>
        </p:spPr>
        <p:txBody>
          <a:bodyPr wrap="square" rtlCol="0" anchor="ctr"/>
          <a:lstStyle/>
          <a:p>
            <a:pPr indent="0" marL="0">
              <a:buNone/>
            </a:pPr>
            <a:r>
              <a:rPr lang="en-US" sz="2100" b="1" dirty="0">
                <a:solidFill>
                  <a:srgbClr val="0D2B3E"/>
                </a:solidFill>
                <a:latin typeface="Century Schoolbook" pitchFamily="34" charset="0"/>
                <a:ea typeface="Century Schoolbook" pitchFamily="34" charset="-122"/>
                <a:cs typeface="Century Schoolbook" pitchFamily="34" charset="-120"/>
              </a:rPr>
              <a:t>2.536.804</a:t>
            </a:r>
            <a:endParaRPr lang="en-US" sz="2100" dirty="0"/>
          </a:p>
        </p:txBody>
      </p:sp>
      <p:sp>
        <p:nvSpPr>
          <p:cNvPr id="8" name="Text 6"/>
          <p:cNvSpPr/>
          <p:nvPr/>
        </p:nvSpPr>
        <p:spPr>
          <a:xfrm>
            <a:off x="3379394" y="1636776"/>
            <a:ext cx="2602154" cy="320040"/>
          </a:xfrm>
          <a:prstGeom prst="rect">
            <a:avLst/>
          </a:prstGeom>
          <a:noFill/>
          <a:ln/>
        </p:spPr>
        <p:txBody>
          <a:bodyPr wrap="square" rtlCol="0" anchor="ctr"/>
          <a:lstStyle/>
          <a:p>
            <a:pPr indent="0" marL="0">
              <a:buNone/>
            </a:pPr>
            <a:r>
              <a:rPr lang="en-US" sz="950" dirty="0">
                <a:solidFill>
                  <a:srgbClr val="5B6B76"/>
                </a:solidFill>
                <a:latin typeface="Arial" pitchFamily="34" charset="0"/>
                <a:ea typeface="Arial" pitchFamily="34" charset="-122"/>
                <a:cs typeface="Arial" pitchFamily="34" charset="-120"/>
              </a:rPr>
              <a:t>Tổng lượt xem</a:t>
            </a:r>
            <a:endParaRPr lang="en-US" sz="950" dirty="0"/>
          </a:p>
        </p:txBody>
      </p:sp>
      <p:sp>
        <p:nvSpPr>
          <p:cNvPr id="9" name="Text 7"/>
          <p:cNvSpPr/>
          <p:nvPr/>
        </p:nvSpPr>
        <p:spPr>
          <a:xfrm>
            <a:off x="6210148" y="1234440"/>
            <a:ext cx="2602154" cy="411480"/>
          </a:xfrm>
          <a:prstGeom prst="rect">
            <a:avLst/>
          </a:prstGeom>
          <a:noFill/>
          <a:ln/>
        </p:spPr>
        <p:txBody>
          <a:bodyPr wrap="square" rtlCol="0" anchor="ctr"/>
          <a:lstStyle/>
          <a:p>
            <a:pPr indent="0" marL="0">
              <a:buNone/>
            </a:pPr>
            <a:r>
              <a:rPr lang="en-US" sz="2100" b="1" dirty="0">
                <a:solidFill>
                  <a:srgbClr val="0D2B3E"/>
                </a:solidFill>
                <a:latin typeface="Century Schoolbook" pitchFamily="34" charset="0"/>
                <a:ea typeface="Century Schoolbook" pitchFamily="34" charset="-122"/>
                <a:cs typeface="Century Schoolbook" pitchFamily="34" charset="-120"/>
              </a:rPr>
              <a:t>236,8 triệu ₫</a:t>
            </a:r>
            <a:endParaRPr lang="en-US" sz="2100" dirty="0"/>
          </a:p>
        </p:txBody>
      </p:sp>
      <p:sp>
        <p:nvSpPr>
          <p:cNvPr id="10" name="Text 8"/>
          <p:cNvSpPr/>
          <p:nvPr/>
        </p:nvSpPr>
        <p:spPr>
          <a:xfrm>
            <a:off x="6210148" y="1636776"/>
            <a:ext cx="2602154" cy="320040"/>
          </a:xfrm>
          <a:prstGeom prst="rect">
            <a:avLst/>
          </a:prstGeom>
          <a:noFill/>
          <a:ln/>
        </p:spPr>
        <p:txBody>
          <a:bodyPr wrap="square" rtlCol="0" anchor="ctr"/>
          <a:lstStyle/>
          <a:p>
            <a:pPr indent="0" marL="0">
              <a:buNone/>
            </a:pPr>
            <a:r>
              <a:rPr lang="en-US" sz="950" dirty="0">
                <a:solidFill>
                  <a:srgbClr val="5B6B76"/>
                </a:solidFill>
                <a:latin typeface="Arial" pitchFamily="34" charset="0"/>
                <a:ea typeface="Arial" pitchFamily="34" charset="-122"/>
                <a:cs typeface="Arial" pitchFamily="34" charset="-120"/>
              </a:rPr>
              <a:t>Tổng GMV từ video</a:t>
            </a:r>
            <a:endParaRPr lang="en-US" sz="950" dirty="0"/>
          </a:p>
        </p:txBody>
      </p:sp>
      <p:sp>
        <p:nvSpPr>
          <p:cNvPr id="11" name="Text 9"/>
          <p:cNvSpPr/>
          <p:nvPr/>
        </p:nvSpPr>
        <p:spPr>
          <a:xfrm>
            <a:off x="9040901" y="1234440"/>
            <a:ext cx="2602154" cy="411480"/>
          </a:xfrm>
          <a:prstGeom prst="rect">
            <a:avLst/>
          </a:prstGeom>
          <a:noFill/>
          <a:ln/>
        </p:spPr>
        <p:txBody>
          <a:bodyPr wrap="square" rtlCol="0" anchor="ctr"/>
          <a:lstStyle/>
          <a:p>
            <a:pPr indent="0" marL="0">
              <a:buNone/>
            </a:pPr>
            <a:r>
              <a:rPr lang="en-US" sz="2100" b="1" dirty="0">
                <a:solidFill>
                  <a:srgbClr val="0D2B3E"/>
                </a:solidFill>
                <a:latin typeface="Century Schoolbook" pitchFamily="34" charset="0"/>
                <a:ea typeface="Century Schoolbook" pitchFamily="34" charset="-122"/>
                <a:cs typeface="Century Schoolbook" pitchFamily="34" charset="-120"/>
              </a:rPr>
              <a:t>0,41%</a:t>
            </a:r>
            <a:endParaRPr lang="en-US" sz="2100" dirty="0"/>
          </a:p>
        </p:txBody>
      </p:sp>
      <p:sp>
        <p:nvSpPr>
          <p:cNvPr id="12" name="Text 10"/>
          <p:cNvSpPr/>
          <p:nvPr/>
        </p:nvSpPr>
        <p:spPr>
          <a:xfrm>
            <a:off x="9040901" y="1636776"/>
            <a:ext cx="2602154" cy="320040"/>
          </a:xfrm>
          <a:prstGeom prst="rect">
            <a:avLst/>
          </a:prstGeom>
          <a:noFill/>
          <a:ln/>
        </p:spPr>
        <p:txBody>
          <a:bodyPr wrap="square" rtlCol="0" anchor="ctr"/>
          <a:lstStyle/>
          <a:p>
            <a:pPr indent="0" marL="0">
              <a:buNone/>
            </a:pPr>
            <a:r>
              <a:rPr lang="en-US" sz="950" dirty="0">
                <a:solidFill>
                  <a:srgbClr val="5B6B76"/>
                </a:solidFill>
                <a:latin typeface="Arial" pitchFamily="34" charset="0"/>
                <a:ea typeface="Arial" pitchFamily="34" charset="-122"/>
                <a:cs typeface="Arial" pitchFamily="34" charset="-120"/>
              </a:rPr>
              <a:t>Tỷ lệ tương tác TB</a:t>
            </a:r>
            <a:endParaRPr lang="en-US" sz="950" dirty="0"/>
          </a:p>
        </p:txBody>
      </p:sp>
      <p:sp>
        <p:nvSpPr>
          <p:cNvPr id="13" name="Shape 11"/>
          <p:cNvSpPr/>
          <p:nvPr/>
        </p:nvSpPr>
        <p:spPr>
          <a:xfrm>
            <a:off x="548640" y="2057400"/>
            <a:ext cx="11094415" cy="0"/>
          </a:xfrm>
          <a:prstGeom prst="line">
            <a:avLst/>
          </a:prstGeom>
          <a:noFill/>
          <a:ln w="12700">
            <a:solidFill>
              <a:srgbClr val="E4E8EC"/>
            </a:solidFill>
            <a:prstDash val="solid"/>
          </a:ln>
        </p:spPr>
      </p:sp>
      <p:graphicFrame>
        <p:nvGraphicFramePr>
          <p:cNvPr id="14" name="Chart 0" descr=""/>
          <p:cNvGraphicFramePr/>
          <p:nvPr/>
        </p:nvGraphicFramePr>
        <p:xfrm>
          <a:off x="548640" y="2286000"/>
          <a:ext cx="7223760" cy="370332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p:nvPr/>
        </p:nvSpPr>
        <p:spPr>
          <a:xfrm>
            <a:off x="7635240" y="2286000"/>
            <a:ext cx="4007815" cy="274320"/>
          </a:xfrm>
          <a:prstGeom prst="rect">
            <a:avLst/>
          </a:prstGeom>
          <a:noFill/>
          <a:ln/>
        </p:spPr>
        <p:txBody>
          <a:bodyPr wrap="square" rtlCol="0" anchor="ctr"/>
          <a:lstStyle/>
          <a:p>
            <a:pPr indent="0" marL="0">
              <a:buNone/>
            </a:pPr>
            <a:r>
              <a:rPr lang="en-US" sz="1000" b="1" spc="60" kern="0" dirty="0">
                <a:solidFill>
                  <a:srgbClr val="E14F30"/>
                </a:solidFill>
                <a:latin typeface="Arial" pitchFamily="34" charset="0"/>
                <a:ea typeface="Arial" pitchFamily="34" charset="-122"/>
                <a:cs typeface="Arial" pitchFamily="34" charset="-120"/>
              </a:rPr>
              <a:t>TOP 3 VIDEO THEO GMV</a:t>
            </a:r>
            <a:endParaRPr lang="en-US" sz="1000" dirty="0"/>
          </a:p>
        </p:txBody>
      </p:sp>
      <p:sp>
        <p:nvSpPr>
          <p:cNvPr id="16" name="Shape 13"/>
          <p:cNvSpPr/>
          <p:nvPr/>
        </p:nvSpPr>
        <p:spPr>
          <a:xfrm>
            <a:off x="7635240" y="2651760"/>
            <a:ext cx="4007815" cy="932688"/>
          </a:xfrm>
          <a:prstGeom prst="rect">
            <a:avLst/>
          </a:prstGeom>
          <a:solidFill>
            <a:srgbClr val="F7F8FA"/>
          </a:solidFill>
          <a:ln w="9525">
            <a:solidFill>
              <a:srgbClr val="E4E8EC"/>
            </a:solidFill>
            <a:prstDash val="solid"/>
          </a:ln>
        </p:spPr>
      </p:sp>
      <p:sp>
        <p:nvSpPr>
          <p:cNvPr id="17" name="Text 14"/>
          <p:cNvSpPr/>
          <p:nvPr/>
        </p:nvSpPr>
        <p:spPr>
          <a:xfrm>
            <a:off x="7744968" y="2743200"/>
            <a:ext cx="365760" cy="365760"/>
          </a:xfrm>
          <a:prstGeom prst="rect">
            <a:avLst/>
          </a:prstGeom>
          <a:noFill/>
          <a:ln/>
        </p:spPr>
        <p:txBody>
          <a:bodyPr wrap="square" rtlCol="0" anchor="ctr"/>
          <a:lstStyle/>
          <a:p>
            <a:pPr indent="0" marL="0">
              <a:buNone/>
            </a:pPr>
            <a:r>
              <a:rPr lang="en-US" sz="1600" b="1" dirty="0">
                <a:solidFill>
                  <a:srgbClr val="8A97A0"/>
                </a:solidFill>
                <a:latin typeface="Century Schoolbook" pitchFamily="34" charset="0"/>
                <a:ea typeface="Century Schoolbook" pitchFamily="34" charset="-122"/>
                <a:cs typeface="Century Schoolbook" pitchFamily="34" charset="-120"/>
              </a:rPr>
              <a:t>1</a:t>
            </a:r>
            <a:endParaRPr lang="en-US" sz="1600" dirty="0"/>
          </a:p>
        </p:txBody>
      </p:sp>
      <p:sp>
        <p:nvSpPr>
          <p:cNvPr id="18" name="Text 15"/>
          <p:cNvSpPr/>
          <p:nvPr/>
        </p:nvSpPr>
        <p:spPr>
          <a:xfrm>
            <a:off x="8092440" y="2724912"/>
            <a:ext cx="3413455" cy="292608"/>
          </a:xfrm>
          <a:prstGeom prst="rect">
            <a:avLst/>
          </a:prstGeom>
          <a:noFill/>
          <a:ln/>
        </p:spPr>
        <p:txBody>
          <a:bodyPr wrap="square" rtlCol="0" anchor="ctr"/>
          <a:lstStyle/>
          <a:p>
            <a:pPr indent="0" marL="0">
              <a:buNone/>
            </a:pPr>
            <a:r>
              <a:rPr lang="en-US" sz="1050" b="1" dirty="0">
                <a:solidFill>
                  <a:srgbClr val="16222B"/>
                </a:solidFill>
                <a:latin typeface="Arial" pitchFamily="34" charset="0"/>
                <a:ea typeface="Arial" pitchFamily="34" charset="-122"/>
                <a:cs typeface="Arial" pitchFamily="34" charset="-120"/>
              </a:rPr>
              <a:t>KamiEly_Chiếc Suit Cân Mọi Loạ…</a:t>
            </a:r>
            <a:endParaRPr lang="en-US" sz="1050" dirty="0"/>
          </a:p>
        </p:txBody>
      </p:sp>
      <p:sp>
        <p:nvSpPr>
          <p:cNvPr id="19" name="Text 16"/>
          <p:cNvSpPr/>
          <p:nvPr/>
        </p:nvSpPr>
        <p:spPr>
          <a:xfrm>
            <a:off x="8092440" y="2999232"/>
            <a:ext cx="3413455" cy="274320"/>
          </a:xfrm>
          <a:prstGeom prst="rect">
            <a:avLst/>
          </a:prstGeom>
          <a:noFill/>
          <a:ln/>
        </p:spPr>
        <p:txBody>
          <a:bodyPr wrap="square" rtlCol="0" anchor="ctr"/>
          <a:lstStyle/>
          <a:p>
            <a:pPr indent="0" marL="0">
              <a:buNone/>
            </a:pPr>
            <a:r>
              <a:rPr lang="en-US" sz="850" dirty="0">
                <a:solidFill>
                  <a:srgbClr val="5B6B76"/>
                </a:solidFill>
                <a:latin typeface="Arial" pitchFamily="34" charset="0"/>
                <a:ea typeface="Arial" pitchFamily="34" charset="-122"/>
                <a:cs typeface="Arial" pitchFamily="34" charset="-120"/>
              </a:rPr>
              <a:t>26/05/2026  ·  52.600 views</a:t>
            </a:r>
            <a:endParaRPr lang="en-US" sz="850" dirty="0"/>
          </a:p>
        </p:txBody>
      </p:sp>
      <p:sp>
        <p:nvSpPr>
          <p:cNvPr id="20" name="Text 17"/>
          <p:cNvSpPr/>
          <p:nvPr/>
        </p:nvSpPr>
        <p:spPr>
          <a:xfrm>
            <a:off x="8092440" y="3273552"/>
            <a:ext cx="3413455" cy="274320"/>
          </a:xfrm>
          <a:prstGeom prst="rect">
            <a:avLst/>
          </a:prstGeom>
          <a:noFill/>
          <a:ln/>
        </p:spPr>
        <p:txBody>
          <a:bodyPr wrap="square" rtlCol="0" anchor="ctr"/>
          <a:lstStyle/>
          <a:p>
            <a:pPr indent="0" marL="0">
              <a:buNone/>
            </a:pPr>
            <a:r>
              <a:rPr lang="en-US" sz="1150" b="1" dirty="0">
                <a:solidFill>
                  <a:srgbClr val="E14F30"/>
                </a:solidFill>
                <a:latin typeface="Century Schoolbook" pitchFamily="34" charset="0"/>
                <a:ea typeface="Century Schoolbook" pitchFamily="34" charset="-122"/>
                <a:cs typeface="Century Schoolbook" pitchFamily="34" charset="-120"/>
              </a:rPr>
              <a:t>23,7 triệu ₫</a:t>
            </a:r>
            <a:endParaRPr lang="en-US" sz="1150" dirty="0"/>
          </a:p>
        </p:txBody>
      </p:sp>
      <p:sp>
        <p:nvSpPr>
          <p:cNvPr id="21" name="Shape 18"/>
          <p:cNvSpPr/>
          <p:nvPr/>
        </p:nvSpPr>
        <p:spPr>
          <a:xfrm>
            <a:off x="7635240" y="3749040"/>
            <a:ext cx="4007815" cy="932688"/>
          </a:xfrm>
          <a:prstGeom prst="rect">
            <a:avLst/>
          </a:prstGeom>
          <a:solidFill>
            <a:srgbClr val="F7F8FA"/>
          </a:solidFill>
          <a:ln w="9525">
            <a:solidFill>
              <a:srgbClr val="E4E8EC"/>
            </a:solidFill>
            <a:prstDash val="solid"/>
          </a:ln>
        </p:spPr>
      </p:sp>
      <p:sp>
        <p:nvSpPr>
          <p:cNvPr id="22" name="Text 19"/>
          <p:cNvSpPr/>
          <p:nvPr/>
        </p:nvSpPr>
        <p:spPr>
          <a:xfrm>
            <a:off x="7744968" y="3840480"/>
            <a:ext cx="365760" cy="365760"/>
          </a:xfrm>
          <a:prstGeom prst="rect">
            <a:avLst/>
          </a:prstGeom>
          <a:noFill/>
          <a:ln/>
        </p:spPr>
        <p:txBody>
          <a:bodyPr wrap="square" rtlCol="0" anchor="ctr"/>
          <a:lstStyle/>
          <a:p>
            <a:pPr indent="0" marL="0">
              <a:buNone/>
            </a:pPr>
            <a:r>
              <a:rPr lang="en-US" sz="1600" b="1" dirty="0">
                <a:solidFill>
                  <a:srgbClr val="8A97A0"/>
                </a:solidFill>
                <a:latin typeface="Century Schoolbook" pitchFamily="34" charset="0"/>
                <a:ea typeface="Century Schoolbook" pitchFamily="34" charset="-122"/>
                <a:cs typeface="Century Schoolbook" pitchFamily="34" charset="-120"/>
              </a:rPr>
              <a:t>2</a:t>
            </a:r>
            <a:endParaRPr lang="en-US" sz="1600" dirty="0"/>
          </a:p>
        </p:txBody>
      </p:sp>
      <p:sp>
        <p:nvSpPr>
          <p:cNvPr id="23" name="Text 20"/>
          <p:cNvSpPr/>
          <p:nvPr/>
        </p:nvSpPr>
        <p:spPr>
          <a:xfrm>
            <a:off x="8092440" y="3822192"/>
            <a:ext cx="3413455" cy="292608"/>
          </a:xfrm>
          <a:prstGeom prst="rect">
            <a:avLst/>
          </a:prstGeom>
          <a:noFill/>
          <a:ln/>
        </p:spPr>
        <p:txBody>
          <a:bodyPr wrap="square" rtlCol="0" anchor="ctr"/>
          <a:lstStyle/>
          <a:p>
            <a:pPr indent="0" marL="0">
              <a:buNone/>
            </a:pPr>
            <a:r>
              <a:rPr lang="en-US" sz="1050" b="1" dirty="0">
                <a:solidFill>
                  <a:srgbClr val="16222B"/>
                </a:solidFill>
                <a:latin typeface="Arial" pitchFamily="34" charset="0"/>
                <a:ea typeface="Arial" pitchFamily="34" charset="-122"/>
                <a:cs typeface="Arial" pitchFamily="34" charset="-120"/>
              </a:rPr>
              <a:t>KamiEly | Soft Summer_ Set bik…</a:t>
            </a:r>
            <a:endParaRPr lang="en-US" sz="1050" dirty="0"/>
          </a:p>
        </p:txBody>
      </p:sp>
      <p:sp>
        <p:nvSpPr>
          <p:cNvPr id="24" name="Text 21"/>
          <p:cNvSpPr/>
          <p:nvPr/>
        </p:nvSpPr>
        <p:spPr>
          <a:xfrm>
            <a:off x="8092440" y="4096512"/>
            <a:ext cx="3413455" cy="274320"/>
          </a:xfrm>
          <a:prstGeom prst="rect">
            <a:avLst/>
          </a:prstGeom>
          <a:noFill/>
          <a:ln/>
        </p:spPr>
        <p:txBody>
          <a:bodyPr wrap="square" rtlCol="0" anchor="ctr"/>
          <a:lstStyle/>
          <a:p>
            <a:pPr indent="0" marL="0">
              <a:buNone/>
            </a:pPr>
            <a:r>
              <a:rPr lang="en-US" sz="850" dirty="0">
                <a:solidFill>
                  <a:srgbClr val="5B6B76"/>
                </a:solidFill>
                <a:latin typeface="Arial" pitchFamily="34" charset="0"/>
                <a:ea typeface="Arial" pitchFamily="34" charset="-122"/>
                <a:cs typeface="Arial" pitchFamily="34" charset="-120"/>
              </a:rPr>
              <a:t>23/05/2026  ·  43.000 views</a:t>
            </a:r>
            <a:endParaRPr lang="en-US" sz="850" dirty="0"/>
          </a:p>
        </p:txBody>
      </p:sp>
      <p:sp>
        <p:nvSpPr>
          <p:cNvPr id="25" name="Text 22"/>
          <p:cNvSpPr/>
          <p:nvPr/>
        </p:nvSpPr>
        <p:spPr>
          <a:xfrm>
            <a:off x="8092440" y="4370832"/>
            <a:ext cx="3413455" cy="274320"/>
          </a:xfrm>
          <a:prstGeom prst="rect">
            <a:avLst/>
          </a:prstGeom>
          <a:noFill/>
          <a:ln/>
        </p:spPr>
        <p:txBody>
          <a:bodyPr wrap="square" rtlCol="0" anchor="ctr"/>
          <a:lstStyle/>
          <a:p>
            <a:pPr indent="0" marL="0">
              <a:buNone/>
            </a:pPr>
            <a:r>
              <a:rPr lang="en-US" sz="1150" b="1" dirty="0">
                <a:solidFill>
                  <a:srgbClr val="E14F30"/>
                </a:solidFill>
                <a:latin typeface="Century Schoolbook" pitchFamily="34" charset="0"/>
                <a:ea typeface="Century Schoolbook" pitchFamily="34" charset="-122"/>
                <a:cs typeface="Century Schoolbook" pitchFamily="34" charset="-120"/>
              </a:rPr>
              <a:t>23,6 triệu ₫</a:t>
            </a:r>
            <a:endParaRPr lang="en-US" sz="1150" dirty="0"/>
          </a:p>
        </p:txBody>
      </p:sp>
      <p:sp>
        <p:nvSpPr>
          <p:cNvPr id="26" name="Shape 23"/>
          <p:cNvSpPr/>
          <p:nvPr/>
        </p:nvSpPr>
        <p:spPr>
          <a:xfrm>
            <a:off x="7635240" y="4846320"/>
            <a:ext cx="4007815" cy="932688"/>
          </a:xfrm>
          <a:prstGeom prst="rect">
            <a:avLst/>
          </a:prstGeom>
          <a:solidFill>
            <a:srgbClr val="F7F8FA"/>
          </a:solidFill>
          <a:ln w="9525">
            <a:solidFill>
              <a:srgbClr val="E4E8EC"/>
            </a:solidFill>
            <a:prstDash val="solid"/>
          </a:ln>
        </p:spPr>
      </p:sp>
      <p:sp>
        <p:nvSpPr>
          <p:cNvPr id="27" name="Text 24"/>
          <p:cNvSpPr/>
          <p:nvPr/>
        </p:nvSpPr>
        <p:spPr>
          <a:xfrm>
            <a:off x="7744968" y="4937760"/>
            <a:ext cx="365760" cy="365760"/>
          </a:xfrm>
          <a:prstGeom prst="rect">
            <a:avLst/>
          </a:prstGeom>
          <a:noFill/>
          <a:ln/>
        </p:spPr>
        <p:txBody>
          <a:bodyPr wrap="square" rtlCol="0" anchor="ctr"/>
          <a:lstStyle/>
          <a:p>
            <a:pPr indent="0" marL="0">
              <a:buNone/>
            </a:pPr>
            <a:r>
              <a:rPr lang="en-US" sz="1600" b="1" dirty="0">
                <a:solidFill>
                  <a:srgbClr val="8A97A0"/>
                </a:solidFill>
                <a:latin typeface="Century Schoolbook" pitchFamily="34" charset="0"/>
                <a:ea typeface="Century Schoolbook" pitchFamily="34" charset="-122"/>
                <a:cs typeface="Century Schoolbook" pitchFamily="34" charset="-120"/>
              </a:rPr>
              <a:t>3</a:t>
            </a:r>
            <a:endParaRPr lang="en-US" sz="1600" dirty="0"/>
          </a:p>
        </p:txBody>
      </p:sp>
      <p:sp>
        <p:nvSpPr>
          <p:cNvPr id="28" name="Text 25"/>
          <p:cNvSpPr/>
          <p:nvPr/>
        </p:nvSpPr>
        <p:spPr>
          <a:xfrm>
            <a:off x="8092440" y="4919472"/>
            <a:ext cx="3413455" cy="292608"/>
          </a:xfrm>
          <a:prstGeom prst="rect">
            <a:avLst/>
          </a:prstGeom>
          <a:noFill/>
          <a:ln/>
        </p:spPr>
        <p:txBody>
          <a:bodyPr wrap="square" rtlCol="0" anchor="ctr"/>
          <a:lstStyle/>
          <a:p>
            <a:pPr indent="0" marL="0">
              <a:buNone/>
            </a:pPr>
            <a:r>
              <a:rPr lang="en-US" sz="1050" b="1" dirty="0">
                <a:solidFill>
                  <a:srgbClr val="16222B"/>
                </a:solidFill>
                <a:latin typeface="Arial" pitchFamily="34" charset="0"/>
                <a:ea typeface="Arial" pitchFamily="34" charset="-122"/>
                <a:cs typeface="Arial" pitchFamily="34" charset="-120"/>
              </a:rPr>
              <a:t>KamiEly | Beach Day Ready_ Sim…</a:t>
            </a:r>
            <a:endParaRPr lang="en-US" sz="1050" dirty="0"/>
          </a:p>
        </p:txBody>
      </p:sp>
      <p:sp>
        <p:nvSpPr>
          <p:cNvPr id="29" name="Text 26"/>
          <p:cNvSpPr/>
          <p:nvPr/>
        </p:nvSpPr>
        <p:spPr>
          <a:xfrm>
            <a:off x="8092440" y="5193792"/>
            <a:ext cx="3413455" cy="274320"/>
          </a:xfrm>
          <a:prstGeom prst="rect">
            <a:avLst/>
          </a:prstGeom>
          <a:noFill/>
          <a:ln/>
        </p:spPr>
        <p:txBody>
          <a:bodyPr wrap="square" rtlCol="0" anchor="ctr"/>
          <a:lstStyle/>
          <a:p>
            <a:pPr indent="0" marL="0">
              <a:buNone/>
            </a:pPr>
            <a:r>
              <a:rPr lang="en-US" sz="850" dirty="0">
                <a:solidFill>
                  <a:srgbClr val="5B6B76"/>
                </a:solidFill>
                <a:latin typeface="Arial" pitchFamily="34" charset="0"/>
                <a:ea typeface="Arial" pitchFamily="34" charset="-122"/>
                <a:cs typeface="Arial" pitchFamily="34" charset="-120"/>
              </a:rPr>
              <a:t>11/06/2026  ·  39.500 views</a:t>
            </a:r>
            <a:endParaRPr lang="en-US" sz="850" dirty="0"/>
          </a:p>
        </p:txBody>
      </p:sp>
      <p:sp>
        <p:nvSpPr>
          <p:cNvPr id="30" name="Text 27"/>
          <p:cNvSpPr/>
          <p:nvPr/>
        </p:nvSpPr>
        <p:spPr>
          <a:xfrm>
            <a:off x="8092440" y="5468112"/>
            <a:ext cx="3413455" cy="274320"/>
          </a:xfrm>
          <a:prstGeom prst="rect">
            <a:avLst/>
          </a:prstGeom>
          <a:noFill/>
          <a:ln/>
        </p:spPr>
        <p:txBody>
          <a:bodyPr wrap="square" rtlCol="0" anchor="ctr"/>
          <a:lstStyle/>
          <a:p>
            <a:pPr indent="0" marL="0">
              <a:buNone/>
            </a:pPr>
            <a:r>
              <a:rPr lang="en-US" sz="1150" b="1" dirty="0">
                <a:solidFill>
                  <a:srgbClr val="E14F30"/>
                </a:solidFill>
                <a:latin typeface="Century Schoolbook" pitchFamily="34" charset="0"/>
                <a:ea typeface="Century Schoolbook" pitchFamily="34" charset="-122"/>
                <a:cs typeface="Century Schoolbook" pitchFamily="34" charset="-120"/>
              </a:rPr>
              <a:t>20,7 triệu ₫</a:t>
            </a:r>
            <a:endParaRPr lang="en-US" sz="1150" dirty="0"/>
          </a:p>
        </p:txBody>
      </p:sp>
      <p:sp>
        <p:nvSpPr>
          <p:cNvPr id="31" name="Text 28"/>
          <p:cNvSpPr/>
          <p:nvPr/>
        </p:nvSpPr>
        <p:spPr>
          <a:xfrm>
            <a:off x="548640" y="6473952"/>
            <a:ext cx="6400800" cy="274320"/>
          </a:xfrm>
          <a:prstGeom prst="rect">
            <a:avLst/>
          </a:prstGeom>
          <a:noFill/>
          <a:ln/>
        </p:spPr>
        <p:txBody>
          <a:bodyPr wrap="square" rtlCol="0" anchor="ctr"/>
          <a:lstStyle/>
          <a:p>
            <a:pPr algn="l" indent="0" marL="0">
              <a:buNone/>
            </a:pPr>
            <a:r>
              <a:rPr lang="en-US" sz="850" spc="50" kern="0" dirty="0">
                <a:solidFill>
                  <a:srgbClr val="8A97A0"/>
                </a:solidFill>
                <a:latin typeface="Arial" pitchFamily="34" charset="0"/>
                <a:ea typeface="Arial" pitchFamily="34" charset="-122"/>
                <a:cs typeface="Arial" pitchFamily="34" charset="-120"/>
              </a:rPr>
              <a:t>KAMI ELY  ·  TIKTOK SHOP PERFORMANCE ANALYTICS</a:t>
            </a:r>
            <a:endParaRPr lang="en-US" sz="850" dirty="0"/>
          </a:p>
        </p:txBody>
      </p:sp>
      <p:sp>
        <p:nvSpPr>
          <p:cNvPr id="32" name="Text 29"/>
          <p:cNvSpPr/>
          <p:nvPr/>
        </p:nvSpPr>
        <p:spPr>
          <a:xfrm>
            <a:off x="10728655" y="6473952"/>
            <a:ext cx="914400" cy="274320"/>
          </a:xfrm>
          <a:prstGeom prst="rect">
            <a:avLst/>
          </a:prstGeom>
          <a:noFill/>
          <a:ln/>
        </p:spPr>
        <p:txBody>
          <a:bodyPr wrap="square" rtlCol="0" anchor="ctr"/>
          <a:lstStyle/>
          <a:p>
            <a:pPr algn="r" indent="0" marL="0">
              <a:buNone/>
            </a:pPr>
            <a:r>
              <a:rPr lang="en-US" sz="850" dirty="0">
                <a:solidFill>
                  <a:srgbClr val="8A97A0"/>
                </a:solidFill>
                <a:latin typeface="Arial" pitchFamily="34" charset="0"/>
                <a:ea typeface="Arial" pitchFamily="34" charset="-122"/>
                <a:cs typeface="Arial" pitchFamily="34" charset="-120"/>
              </a:rPr>
              <a:t>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4068"/>
            <a:ext cx="91440" cy="91440"/>
          </a:xfrm>
          <a:prstGeom prst="ellipse">
            <a:avLst/>
          </a:prstGeom>
          <a:solidFill>
            <a:srgbClr val="FF6B4A"/>
          </a:solidFill>
          <a:ln/>
        </p:spPr>
      </p:sp>
      <p:sp>
        <p:nvSpPr>
          <p:cNvPr id="3" name="Text 1"/>
          <p:cNvSpPr/>
          <p:nvPr/>
        </p:nvSpPr>
        <p:spPr>
          <a:xfrm>
            <a:off x="713232" y="457200"/>
            <a:ext cx="8229600" cy="228600"/>
          </a:xfrm>
          <a:prstGeom prst="rect">
            <a:avLst/>
          </a:prstGeom>
          <a:noFill/>
          <a:ln/>
        </p:spPr>
        <p:txBody>
          <a:bodyPr wrap="square" rtlCol="0" anchor="ctr"/>
          <a:lstStyle/>
          <a:p>
            <a:pPr algn="l" indent="0" marL="0">
              <a:buNone/>
            </a:pPr>
            <a:r>
              <a:rPr lang="en-US" sz="1100" b="1" spc="120" kern="0" dirty="0">
                <a:solidFill>
                  <a:srgbClr val="FF6B4A"/>
                </a:solidFill>
                <a:latin typeface="Arial" pitchFamily="34" charset="0"/>
                <a:ea typeface="Arial" pitchFamily="34" charset="-122"/>
                <a:cs typeface="Arial" pitchFamily="34" charset="-120"/>
              </a:rPr>
              <a:t>06 · TIẾP THỊ LIÊN KẾT</a:t>
            </a:r>
            <a:endParaRPr lang="en-US" sz="1100" dirty="0"/>
          </a:p>
        </p:txBody>
      </p:sp>
      <p:sp>
        <p:nvSpPr>
          <p:cNvPr id="4" name="Text 2"/>
          <p:cNvSpPr/>
          <p:nvPr/>
        </p:nvSpPr>
        <p:spPr>
          <a:xfrm>
            <a:off x="548640" y="758952"/>
            <a:ext cx="8229600" cy="548640"/>
          </a:xfrm>
          <a:prstGeom prst="rect">
            <a:avLst/>
          </a:prstGeom>
          <a:noFill/>
          <a:ln/>
        </p:spPr>
        <p:txBody>
          <a:bodyPr wrap="square" rtlCol="0" anchor="t"/>
          <a:lstStyle/>
          <a:p>
            <a:pPr algn="l" indent="0" marL="0">
              <a:buNone/>
            </a:pPr>
            <a:r>
              <a:rPr lang="en-US" sz="2800" b="1" dirty="0">
                <a:solidFill>
                  <a:srgbClr val="0D2B3E"/>
                </a:solidFill>
                <a:latin typeface="Century Schoolbook" pitchFamily="34" charset="0"/>
                <a:ea typeface="Century Schoolbook" pitchFamily="34" charset="-122"/>
                <a:cs typeface="Century Schoolbook" pitchFamily="34" charset="-120"/>
              </a:rPr>
              <a:t>Nhà sáng tạo &amp; video Affiliate</a:t>
            </a:r>
            <a:endParaRPr lang="en-US" sz="2800" dirty="0"/>
          </a:p>
        </p:txBody>
      </p:sp>
      <p:sp>
        <p:nvSpPr>
          <p:cNvPr id="5" name="Text 3"/>
          <p:cNvSpPr/>
          <p:nvPr/>
        </p:nvSpPr>
        <p:spPr>
          <a:xfrm>
            <a:off x="548640" y="1207008"/>
            <a:ext cx="11094415" cy="384048"/>
          </a:xfrm>
          <a:prstGeom prst="rect">
            <a:avLst/>
          </a:prstGeom>
          <a:noFill/>
          <a:ln/>
        </p:spPr>
        <p:txBody>
          <a:bodyPr wrap="square" rtlCol="0" anchor="ctr"/>
          <a:lstStyle/>
          <a:p>
            <a:pPr indent="0" marL="0">
              <a:buNone/>
            </a:pPr>
            <a:r>
              <a:rPr lang="en-US" sz="1200" dirty="0">
                <a:solidFill>
                  <a:srgbClr val="5B6B76"/>
                </a:solidFill>
                <a:latin typeface="Arial" pitchFamily="34" charset="0"/>
                <a:ea typeface="Arial" pitchFamily="34" charset="-122"/>
                <a:cs typeface="Arial" pitchFamily="34" charset="-120"/>
              </a:rPr>
              <a:t>Top 300 video mua sắm gắn sản phẩm Kami Ely trên toàn nền tảng, từ 127 nhà sáng tạo khác nhau — bao gồm cả kênh chính thức của thương hiệu.</a:t>
            </a:r>
            <a:endParaRPr lang="en-US" sz="1200" dirty="0"/>
          </a:p>
        </p:txBody>
      </p:sp>
      <p:sp>
        <p:nvSpPr>
          <p:cNvPr id="6" name="Text 4"/>
          <p:cNvSpPr/>
          <p:nvPr/>
        </p:nvSpPr>
        <p:spPr>
          <a:xfrm>
            <a:off x="548640" y="1737360"/>
            <a:ext cx="2602154" cy="384048"/>
          </a:xfrm>
          <a:prstGeom prst="rect">
            <a:avLst/>
          </a:prstGeom>
          <a:noFill/>
          <a:ln/>
        </p:spPr>
        <p:txBody>
          <a:bodyPr wrap="square" rtlCol="0" anchor="ctr"/>
          <a:lstStyle/>
          <a:p>
            <a:pPr indent="0" marL="0">
              <a:buNone/>
            </a:pPr>
            <a:r>
              <a:rPr lang="en-US" sz="1900" b="1" dirty="0">
                <a:solidFill>
                  <a:srgbClr val="0D2B3E"/>
                </a:solidFill>
                <a:latin typeface="Century Schoolbook" pitchFamily="34" charset="0"/>
                <a:ea typeface="Century Schoolbook" pitchFamily="34" charset="-122"/>
                <a:cs typeface="Century Schoolbook" pitchFamily="34" charset="-120"/>
              </a:rPr>
              <a:t>127</a:t>
            </a:r>
            <a:endParaRPr lang="en-US" sz="1900" dirty="0"/>
          </a:p>
        </p:txBody>
      </p:sp>
      <p:sp>
        <p:nvSpPr>
          <p:cNvPr id="7" name="Text 5"/>
          <p:cNvSpPr/>
          <p:nvPr/>
        </p:nvSpPr>
        <p:spPr>
          <a:xfrm>
            <a:off x="548640" y="2103120"/>
            <a:ext cx="2602154" cy="320040"/>
          </a:xfrm>
          <a:prstGeom prst="rect">
            <a:avLst/>
          </a:prstGeom>
          <a:noFill/>
          <a:ln/>
        </p:spPr>
        <p:txBody>
          <a:bodyPr wrap="square" rtlCol="0" anchor="ctr"/>
          <a:lstStyle/>
          <a:p>
            <a:pPr indent="0" marL="0">
              <a:buNone/>
            </a:pPr>
            <a:r>
              <a:rPr lang="en-US" sz="950" dirty="0">
                <a:solidFill>
                  <a:srgbClr val="5B6B76"/>
                </a:solidFill>
                <a:latin typeface="Arial" pitchFamily="34" charset="0"/>
                <a:ea typeface="Arial" pitchFamily="34" charset="-122"/>
                <a:cs typeface="Arial" pitchFamily="34" charset="-120"/>
              </a:rPr>
              <a:t>Nhà sáng tạo tham gia</a:t>
            </a:r>
            <a:endParaRPr lang="en-US" sz="950" dirty="0"/>
          </a:p>
        </p:txBody>
      </p:sp>
      <p:sp>
        <p:nvSpPr>
          <p:cNvPr id="8" name="Text 6"/>
          <p:cNvSpPr/>
          <p:nvPr/>
        </p:nvSpPr>
        <p:spPr>
          <a:xfrm>
            <a:off x="3379394" y="1737360"/>
            <a:ext cx="2602154" cy="384048"/>
          </a:xfrm>
          <a:prstGeom prst="rect">
            <a:avLst/>
          </a:prstGeom>
          <a:noFill/>
          <a:ln/>
        </p:spPr>
        <p:txBody>
          <a:bodyPr wrap="square" rtlCol="0" anchor="ctr"/>
          <a:lstStyle/>
          <a:p>
            <a:pPr indent="0" marL="0">
              <a:buNone/>
            </a:pPr>
            <a:r>
              <a:rPr lang="en-US" sz="1900" b="1" dirty="0">
                <a:solidFill>
                  <a:srgbClr val="0D2B3E"/>
                </a:solidFill>
                <a:latin typeface="Century Schoolbook" pitchFamily="34" charset="0"/>
                <a:ea typeface="Century Schoolbook" pitchFamily="34" charset="-122"/>
                <a:cs typeface="Century Schoolbook" pitchFamily="34" charset="-120"/>
              </a:rPr>
              <a:t>300</a:t>
            </a:r>
            <a:endParaRPr lang="en-US" sz="1900" dirty="0"/>
          </a:p>
        </p:txBody>
      </p:sp>
      <p:sp>
        <p:nvSpPr>
          <p:cNvPr id="9" name="Text 7"/>
          <p:cNvSpPr/>
          <p:nvPr/>
        </p:nvSpPr>
        <p:spPr>
          <a:xfrm>
            <a:off x="3379394" y="2103120"/>
            <a:ext cx="2602154" cy="320040"/>
          </a:xfrm>
          <a:prstGeom prst="rect">
            <a:avLst/>
          </a:prstGeom>
          <a:noFill/>
          <a:ln/>
        </p:spPr>
        <p:txBody>
          <a:bodyPr wrap="square" rtlCol="0" anchor="ctr"/>
          <a:lstStyle/>
          <a:p>
            <a:pPr indent="0" marL="0">
              <a:buNone/>
            </a:pPr>
            <a:r>
              <a:rPr lang="en-US" sz="950" dirty="0">
                <a:solidFill>
                  <a:srgbClr val="5B6B76"/>
                </a:solidFill>
                <a:latin typeface="Arial" pitchFamily="34" charset="0"/>
                <a:ea typeface="Arial" pitchFamily="34" charset="-122"/>
                <a:cs typeface="Arial" pitchFamily="34" charset="-120"/>
              </a:rPr>
              <a:t>Video mua sắm (top 300)</a:t>
            </a:r>
            <a:endParaRPr lang="en-US" sz="950" dirty="0"/>
          </a:p>
        </p:txBody>
      </p:sp>
      <p:sp>
        <p:nvSpPr>
          <p:cNvPr id="10" name="Text 8"/>
          <p:cNvSpPr/>
          <p:nvPr/>
        </p:nvSpPr>
        <p:spPr>
          <a:xfrm>
            <a:off x="6210148" y="1737360"/>
            <a:ext cx="2602154" cy="384048"/>
          </a:xfrm>
          <a:prstGeom prst="rect">
            <a:avLst/>
          </a:prstGeom>
          <a:noFill/>
          <a:ln/>
        </p:spPr>
        <p:txBody>
          <a:bodyPr wrap="square" rtlCol="0" anchor="ctr"/>
          <a:lstStyle/>
          <a:p>
            <a:pPr indent="0" marL="0">
              <a:buNone/>
            </a:pPr>
            <a:r>
              <a:rPr lang="en-US" sz="1900" b="1" dirty="0">
                <a:solidFill>
                  <a:srgbClr val="0D2B3E"/>
                </a:solidFill>
                <a:latin typeface="Century Schoolbook" pitchFamily="34" charset="0"/>
                <a:ea typeface="Century Schoolbook" pitchFamily="34" charset="-122"/>
                <a:cs typeface="Century Schoolbook" pitchFamily="34" charset="-120"/>
              </a:rPr>
              <a:t>2,08 tỷ ₫</a:t>
            </a:r>
            <a:endParaRPr lang="en-US" sz="1900" dirty="0"/>
          </a:p>
        </p:txBody>
      </p:sp>
      <p:sp>
        <p:nvSpPr>
          <p:cNvPr id="11" name="Text 9"/>
          <p:cNvSpPr/>
          <p:nvPr/>
        </p:nvSpPr>
        <p:spPr>
          <a:xfrm>
            <a:off x="6210148" y="2103120"/>
            <a:ext cx="2602154" cy="320040"/>
          </a:xfrm>
          <a:prstGeom prst="rect">
            <a:avLst/>
          </a:prstGeom>
          <a:noFill/>
          <a:ln/>
        </p:spPr>
        <p:txBody>
          <a:bodyPr wrap="square" rtlCol="0" anchor="ctr"/>
          <a:lstStyle/>
          <a:p>
            <a:pPr indent="0" marL="0">
              <a:buNone/>
            </a:pPr>
            <a:r>
              <a:rPr lang="en-US" sz="950" dirty="0">
                <a:solidFill>
                  <a:srgbClr val="5B6B76"/>
                </a:solidFill>
                <a:latin typeface="Arial" pitchFamily="34" charset="0"/>
                <a:ea typeface="Arial" pitchFamily="34" charset="-122"/>
                <a:cs typeface="Arial" pitchFamily="34" charset="-120"/>
              </a:rPr>
              <a:t>Tổng GMV nhóm video này</a:t>
            </a:r>
            <a:endParaRPr lang="en-US" sz="950" dirty="0"/>
          </a:p>
        </p:txBody>
      </p:sp>
      <p:sp>
        <p:nvSpPr>
          <p:cNvPr id="12" name="Text 10"/>
          <p:cNvSpPr/>
          <p:nvPr/>
        </p:nvSpPr>
        <p:spPr>
          <a:xfrm>
            <a:off x="9040901" y="1737360"/>
            <a:ext cx="2602154" cy="384048"/>
          </a:xfrm>
          <a:prstGeom prst="rect">
            <a:avLst/>
          </a:prstGeom>
          <a:noFill/>
          <a:ln/>
        </p:spPr>
        <p:txBody>
          <a:bodyPr wrap="square" rtlCol="0" anchor="ctr"/>
          <a:lstStyle/>
          <a:p>
            <a:pPr indent="0" marL="0">
              <a:buNone/>
            </a:pPr>
            <a:r>
              <a:rPr lang="en-US" sz="1900" b="1" dirty="0">
                <a:solidFill>
                  <a:srgbClr val="0D2B3E"/>
                </a:solidFill>
                <a:latin typeface="Century Schoolbook" pitchFamily="34" charset="0"/>
                <a:ea typeface="Century Schoolbook" pitchFamily="34" charset="-122"/>
                <a:cs typeface="Century Schoolbook" pitchFamily="34" charset="-120"/>
              </a:rPr>
              <a:t>60,4%</a:t>
            </a:r>
            <a:endParaRPr lang="en-US" sz="1900" dirty="0"/>
          </a:p>
        </p:txBody>
      </p:sp>
      <p:sp>
        <p:nvSpPr>
          <p:cNvPr id="13" name="Text 11"/>
          <p:cNvSpPr/>
          <p:nvPr/>
        </p:nvSpPr>
        <p:spPr>
          <a:xfrm>
            <a:off x="9040901" y="2103120"/>
            <a:ext cx="2602154" cy="320040"/>
          </a:xfrm>
          <a:prstGeom prst="rect">
            <a:avLst/>
          </a:prstGeom>
          <a:noFill/>
          <a:ln/>
        </p:spPr>
        <p:txBody>
          <a:bodyPr wrap="square" rtlCol="0" anchor="ctr"/>
          <a:lstStyle/>
          <a:p>
            <a:pPr indent="0" marL="0">
              <a:buNone/>
            </a:pPr>
            <a:r>
              <a:rPr lang="en-US" sz="950" dirty="0">
                <a:solidFill>
                  <a:srgbClr val="5B6B76"/>
                </a:solidFill>
                <a:latin typeface="Arial" pitchFamily="34" charset="0"/>
                <a:ea typeface="Arial" pitchFamily="34" charset="-122"/>
                <a:cs typeface="Arial" pitchFamily="34" charset="-120"/>
              </a:rPr>
              <a:t>GMV từ nhà sáng tạo bên ngoài</a:t>
            </a:r>
            <a:endParaRPr lang="en-US" sz="950" dirty="0"/>
          </a:p>
        </p:txBody>
      </p:sp>
      <p:sp>
        <p:nvSpPr>
          <p:cNvPr id="14" name="Shape 12"/>
          <p:cNvSpPr/>
          <p:nvPr/>
        </p:nvSpPr>
        <p:spPr>
          <a:xfrm>
            <a:off x="548640" y="2514600"/>
            <a:ext cx="11094415" cy="0"/>
          </a:xfrm>
          <a:prstGeom prst="line">
            <a:avLst/>
          </a:prstGeom>
          <a:noFill/>
          <a:ln w="12700">
            <a:solidFill>
              <a:srgbClr val="E4E8EC"/>
            </a:solidFill>
            <a:prstDash val="solid"/>
          </a:ln>
        </p:spPr>
      </p:sp>
      <p:graphicFrame>
        <p:nvGraphicFramePr>
          <p:cNvPr id="15" name="Chart 0" descr=""/>
          <p:cNvGraphicFramePr/>
          <p:nvPr/>
        </p:nvGraphicFramePr>
        <p:xfrm>
          <a:off x="548640" y="2697480"/>
          <a:ext cx="356616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16" name="Chart 1" descr=""/>
          <p:cNvGraphicFramePr/>
          <p:nvPr/>
        </p:nvGraphicFramePr>
        <p:xfrm>
          <a:off x="4160520" y="2697480"/>
          <a:ext cx="3566160" cy="3291840"/>
        </p:xfrm>
        <a:graphic xmlns:a="http://schemas.openxmlformats.org/drawingml/2006/main">
          <a:graphicData uri="http://schemas.openxmlformats.org/drawingml/2006/chart">
            <c:chart xmlns:c="http://schemas.openxmlformats.org/drawingml/2006/chart" r:id="rId2"/>
          </a:graphicData>
        </a:graphic>
      </p:graphicFrame>
      <p:sp>
        <p:nvSpPr>
          <p:cNvPr id="17" name="Text 13"/>
          <p:cNvSpPr/>
          <p:nvPr/>
        </p:nvSpPr>
        <p:spPr>
          <a:xfrm>
            <a:off x="7909560" y="2697480"/>
            <a:ext cx="3733495" cy="274320"/>
          </a:xfrm>
          <a:prstGeom prst="rect">
            <a:avLst/>
          </a:prstGeom>
          <a:noFill/>
          <a:ln/>
        </p:spPr>
        <p:txBody>
          <a:bodyPr wrap="square" rtlCol="0" anchor="ctr"/>
          <a:lstStyle/>
          <a:p>
            <a:pPr indent="0" marL="0">
              <a:buNone/>
            </a:pPr>
            <a:r>
              <a:rPr lang="en-US" sz="950" b="1" spc="50" kern="0" dirty="0">
                <a:solidFill>
                  <a:srgbClr val="E14F30"/>
                </a:solidFill>
                <a:latin typeface="Arial" pitchFamily="34" charset="0"/>
                <a:ea typeface="Arial" pitchFamily="34" charset="-122"/>
                <a:cs typeface="Arial" pitchFamily="34" charset="-120"/>
              </a:rPr>
              <a:t>TOP 5 NHÀ SÁNG TẠO BÊN NGOÀI</a:t>
            </a:r>
            <a:endParaRPr lang="en-US" sz="950" dirty="0"/>
          </a:p>
        </p:txBody>
      </p:sp>
      <p:sp>
        <p:nvSpPr>
          <p:cNvPr id="18" name="Text 14"/>
          <p:cNvSpPr/>
          <p:nvPr/>
        </p:nvSpPr>
        <p:spPr>
          <a:xfrm>
            <a:off x="7909560" y="3035808"/>
            <a:ext cx="3733495" cy="256032"/>
          </a:xfrm>
          <a:prstGeom prst="rect">
            <a:avLst/>
          </a:prstGeom>
          <a:noFill/>
          <a:ln/>
        </p:spPr>
        <p:txBody>
          <a:bodyPr wrap="square" rtlCol="0" anchor="ctr"/>
          <a:lstStyle/>
          <a:p>
            <a:pPr indent="0" marL="0">
              <a:buNone/>
            </a:pPr>
            <a:r>
              <a:rPr lang="en-US" sz="1050" b="1" dirty="0">
                <a:solidFill>
                  <a:srgbClr val="16222B"/>
                </a:solidFill>
                <a:latin typeface="Arial" pitchFamily="34" charset="0"/>
                <a:ea typeface="Arial" pitchFamily="34" charset="-122"/>
                <a:cs typeface="Arial" pitchFamily="34" charset="-120"/>
              </a:rPr>
              <a:t>Girl Style</a:t>
            </a:r>
            <a:endParaRPr lang="en-US" sz="1050" dirty="0"/>
          </a:p>
        </p:txBody>
      </p:sp>
      <p:sp>
        <p:nvSpPr>
          <p:cNvPr id="19" name="Text 15"/>
          <p:cNvSpPr/>
          <p:nvPr/>
        </p:nvSpPr>
        <p:spPr>
          <a:xfrm>
            <a:off x="7909560" y="3273552"/>
            <a:ext cx="3733495" cy="256032"/>
          </a:xfrm>
          <a:prstGeom prst="rect">
            <a:avLst/>
          </a:prstGeom>
          <a:noFill/>
          <a:ln/>
        </p:spPr>
        <p:txBody>
          <a:bodyPr wrap="square" rtlCol="0" anchor="ctr"/>
          <a:lstStyle/>
          <a:p>
            <a:pPr indent="0" marL="0">
              <a:buNone/>
            </a:pPr>
            <a:r>
              <a:rPr lang="en-US" sz="850" dirty="0">
                <a:solidFill>
                  <a:srgbClr val="5B6B76"/>
                </a:solidFill>
                <a:latin typeface="Arial" pitchFamily="34" charset="0"/>
                <a:ea typeface="Arial" pitchFamily="34" charset="-122"/>
                <a:cs typeface="Arial" pitchFamily="34" charset="-120"/>
              </a:rPr>
              <a:t>3.187 follower  ·  140 triệu ₫</a:t>
            </a:r>
            <a:endParaRPr lang="en-US" sz="850" dirty="0"/>
          </a:p>
        </p:txBody>
      </p:sp>
      <p:sp>
        <p:nvSpPr>
          <p:cNvPr id="20" name="Text 16"/>
          <p:cNvSpPr/>
          <p:nvPr/>
        </p:nvSpPr>
        <p:spPr>
          <a:xfrm>
            <a:off x="7909560" y="3630168"/>
            <a:ext cx="3733495" cy="256032"/>
          </a:xfrm>
          <a:prstGeom prst="rect">
            <a:avLst/>
          </a:prstGeom>
          <a:noFill/>
          <a:ln/>
        </p:spPr>
        <p:txBody>
          <a:bodyPr wrap="square" rtlCol="0" anchor="ctr"/>
          <a:lstStyle/>
          <a:p>
            <a:pPr indent="0" marL="0">
              <a:buNone/>
            </a:pPr>
            <a:r>
              <a:rPr lang="en-US" sz="1050" b="1" dirty="0">
                <a:solidFill>
                  <a:srgbClr val="16222B"/>
                </a:solidFill>
                <a:latin typeface="Arial" pitchFamily="34" charset="0"/>
                <a:ea typeface="Arial" pitchFamily="34" charset="-122"/>
                <a:cs typeface="Arial" pitchFamily="34" charset="-120"/>
              </a:rPr>
              <a:t>Nước lọc 7 mào</a:t>
            </a:r>
            <a:endParaRPr lang="en-US" sz="1050" dirty="0"/>
          </a:p>
        </p:txBody>
      </p:sp>
      <p:sp>
        <p:nvSpPr>
          <p:cNvPr id="21" name="Text 17"/>
          <p:cNvSpPr/>
          <p:nvPr/>
        </p:nvSpPr>
        <p:spPr>
          <a:xfrm>
            <a:off x="7909560" y="3867912"/>
            <a:ext cx="3733495" cy="256032"/>
          </a:xfrm>
          <a:prstGeom prst="rect">
            <a:avLst/>
          </a:prstGeom>
          <a:noFill/>
          <a:ln/>
        </p:spPr>
        <p:txBody>
          <a:bodyPr wrap="square" rtlCol="0" anchor="ctr"/>
          <a:lstStyle/>
          <a:p>
            <a:pPr indent="0" marL="0">
              <a:buNone/>
            </a:pPr>
            <a:r>
              <a:rPr lang="en-US" sz="850" dirty="0">
                <a:solidFill>
                  <a:srgbClr val="5B6B76"/>
                </a:solidFill>
                <a:latin typeface="Arial" pitchFamily="34" charset="0"/>
                <a:ea typeface="Arial" pitchFamily="34" charset="-122"/>
                <a:cs typeface="Arial" pitchFamily="34" charset="-120"/>
              </a:rPr>
              <a:t>188.105 follower  ·  91 triệu ₫</a:t>
            </a:r>
            <a:endParaRPr lang="en-US" sz="850" dirty="0"/>
          </a:p>
        </p:txBody>
      </p:sp>
      <p:sp>
        <p:nvSpPr>
          <p:cNvPr id="22" name="Text 18"/>
          <p:cNvSpPr/>
          <p:nvPr/>
        </p:nvSpPr>
        <p:spPr>
          <a:xfrm>
            <a:off x="7909560" y="4224528"/>
            <a:ext cx="3733495" cy="256032"/>
          </a:xfrm>
          <a:prstGeom prst="rect">
            <a:avLst/>
          </a:prstGeom>
          <a:noFill/>
          <a:ln/>
        </p:spPr>
        <p:txBody>
          <a:bodyPr wrap="square" rtlCol="0" anchor="ctr"/>
          <a:lstStyle/>
          <a:p>
            <a:pPr indent="0" marL="0">
              <a:buNone/>
            </a:pPr>
            <a:r>
              <a:rPr lang="en-US" sz="1050" b="1" dirty="0">
                <a:solidFill>
                  <a:srgbClr val="16222B"/>
                </a:solidFill>
                <a:latin typeface="Arial" pitchFamily="34" charset="0"/>
                <a:ea typeface="Arial" pitchFamily="34" charset="-122"/>
                <a:cs typeface="Arial" pitchFamily="34" charset="-120"/>
              </a:rPr>
              <a:t>Vẫn là Lê Na</a:t>
            </a:r>
            <a:endParaRPr lang="en-US" sz="1050" dirty="0"/>
          </a:p>
        </p:txBody>
      </p:sp>
      <p:sp>
        <p:nvSpPr>
          <p:cNvPr id="23" name="Text 19"/>
          <p:cNvSpPr/>
          <p:nvPr/>
        </p:nvSpPr>
        <p:spPr>
          <a:xfrm>
            <a:off x="7909560" y="4462272"/>
            <a:ext cx="3733495" cy="256032"/>
          </a:xfrm>
          <a:prstGeom prst="rect">
            <a:avLst/>
          </a:prstGeom>
          <a:noFill/>
          <a:ln/>
        </p:spPr>
        <p:txBody>
          <a:bodyPr wrap="square" rtlCol="0" anchor="ctr"/>
          <a:lstStyle/>
          <a:p>
            <a:pPr indent="0" marL="0">
              <a:buNone/>
            </a:pPr>
            <a:r>
              <a:rPr lang="en-US" sz="850" dirty="0">
                <a:solidFill>
                  <a:srgbClr val="5B6B76"/>
                </a:solidFill>
                <a:latin typeface="Arial" pitchFamily="34" charset="0"/>
                <a:ea typeface="Arial" pitchFamily="34" charset="-122"/>
                <a:cs typeface="Arial" pitchFamily="34" charset="-120"/>
              </a:rPr>
              <a:t>57.374 follower  ·  75,3 triệu ₫</a:t>
            </a:r>
            <a:endParaRPr lang="en-US" sz="850" dirty="0"/>
          </a:p>
        </p:txBody>
      </p:sp>
      <p:sp>
        <p:nvSpPr>
          <p:cNvPr id="24" name="Text 20"/>
          <p:cNvSpPr/>
          <p:nvPr/>
        </p:nvSpPr>
        <p:spPr>
          <a:xfrm>
            <a:off x="7909560" y="4818888"/>
            <a:ext cx="3733495" cy="256032"/>
          </a:xfrm>
          <a:prstGeom prst="rect">
            <a:avLst/>
          </a:prstGeom>
          <a:noFill/>
          <a:ln/>
        </p:spPr>
        <p:txBody>
          <a:bodyPr wrap="square" rtlCol="0" anchor="ctr"/>
          <a:lstStyle/>
          <a:p>
            <a:pPr indent="0" marL="0">
              <a:buNone/>
            </a:pPr>
            <a:r>
              <a:rPr lang="en-US" sz="1050" b="1" dirty="0">
                <a:solidFill>
                  <a:srgbClr val="16222B"/>
                </a:solidFill>
                <a:latin typeface="Arial" pitchFamily="34" charset="0"/>
                <a:ea typeface="Arial" pitchFamily="34" charset="-122"/>
                <a:cs typeface="Arial" pitchFamily="34" charset="-120"/>
              </a:rPr>
              <a:t>🏊sinh tồn 🏊thực…</a:t>
            </a:r>
            <a:endParaRPr lang="en-US" sz="1050" dirty="0"/>
          </a:p>
        </p:txBody>
      </p:sp>
      <p:sp>
        <p:nvSpPr>
          <p:cNvPr id="25" name="Text 21"/>
          <p:cNvSpPr/>
          <p:nvPr/>
        </p:nvSpPr>
        <p:spPr>
          <a:xfrm>
            <a:off x="7909560" y="5056632"/>
            <a:ext cx="3733495" cy="256032"/>
          </a:xfrm>
          <a:prstGeom prst="rect">
            <a:avLst/>
          </a:prstGeom>
          <a:noFill/>
          <a:ln/>
        </p:spPr>
        <p:txBody>
          <a:bodyPr wrap="square" rtlCol="0" anchor="ctr"/>
          <a:lstStyle/>
          <a:p>
            <a:pPr indent="0" marL="0">
              <a:buNone/>
            </a:pPr>
            <a:r>
              <a:rPr lang="en-US" sz="850" dirty="0">
                <a:solidFill>
                  <a:srgbClr val="5B6B76"/>
                </a:solidFill>
                <a:latin typeface="Arial" pitchFamily="34" charset="0"/>
                <a:ea typeface="Arial" pitchFamily="34" charset="-122"/>
                <a:cs typeface="Arial" pitchFamily="34" charset="-120"/>
              </a:rPr>
              <a:t>82.492 follower  ·  74,5 triệu ₫</a:t>
            </a:r>
            <a:endParaRPr lang="en-US" sz="850" dirty="0"/>
          </a:p>
        </p:txBody>
      </p:sp>
      <p:sp>
        <p:nvSpPr>
          <p:cNvPr id="26" name="Text 22"/>
          <p:cNvSpPr/>
          <p:nvPr/>
        </p:nvSpPr>
        <p:spPr>
          <a:xfrm>
            <a:off x="7909560" y="5413248"/>
            <a:ext cx="3733495" cy="256032"/>
          </a:xfrm>
          <a:prstGeom prst="rect">
            <a:avLst/>
          </a:prstGeom>
          <a:noFill/>
          <a:ln/>
        </p:spPr>
        <p:txBody>
          <a:bodyPr wrap="square" rtlCol="0" anchor="ctr"/>
          <a:lstStyle/>
          <a:p>
            <a:pPr indent="0" marL="0">
              <a:buNone/>
            </a:pPr>
            <a:r>
              <a:rPr lang="en-US" sz="1050" b="1" dirty="0">
                <a:solidFill>
                  <a:srgbClr val="16222B"/>
                </a:solidFill>
                <a:latin typeface="Arial" pitchFamily="34" charset="0"/>
                <a:ea typeface="Arial" pitchFamily="34" charset="-122"/>
                <a:cs typeface="Arial" pitchFamily="34" charset="-120"/>
              </a:rPr>
              <a:t>Thuỵ Du Closet</a:t>
            </a:r>
            <a:endParaRPr lang="en-US" sz="1050" dirty="0"/>
          </a:p>
        </p:txBody>
      </p:sp>
      <p:sp>
        <p:nvSpPr>
          <p:cNvPr id="27" name="Text 23"/>
          <p:cNvSpPr/>
          <p:nvPr/>
        </p:nvSpPr>
        <p:spPr>
          <a:xfrm>
            <a:off x="7909560" y="5650992"/>
            <a:ext cx="3733495" cy="256032"/>
          </a:xfrm>
          <a:prstGeom prst="rect">
            <a:avLst/>
          </a:prstGeom>
          <a:noFill/>
          <a:ln/>
        </p:spPr>
        <p:txBody>
          <a:bodyPr wrap="square" rtlCol="0" anchor="ctr"/>
          <a:lstStyle/>
          <a:p>
            <a:pPr indent="0" marL="0">
              <a:buNone/>
            </a:pPr>
            <a:r>
              <a:rPr lang="en-US" sz="850" dirty="0">
                <a:solidFill>
                  <a:srgbClr val="5B6B76"/>
                </a:solidFill>
                <a:latin typeface="Arial" pitchFamily="34" charset="0"/>
                <a:ea typeface="Arial" pitchFamily="34" charset="-122"/>
                <a:cs typeface="Arial" pitchFamily="34" charset="-120"/>
              </a:rPr>
              <a:t>1.680 follower  ·  45,7 triệu ₫</a:t>
            </a:r>
            <a:endParaRPr lang="en-US" sz="850" dirty="0"/>
          </a:p>
        </p:txBody>
      </p:sp>
      <p:sp>
        <p:nvSpPr>
          <p:cNvPr id="28" name="Text 24"/>
          <p:cNvSpPr/>
          <p:nvPr/>
        </p:nvSpPr>
        <p:spPr>
          <a:xfrm>
            <a:off x="548640" y="6473952"/>
            <a:ext cx="6400800" cy="274320"/>
          </a:xfrm>
          <a:prstGeom prst="rect">
            <a:avLst/>
          </a:prstGeom>
          <a:noFill/>
          <a:ln/>
        </p:spPr>
        <p:txBody>
          <a:bodyPr wrap="square" rtlCol="0" anchor="ctr"/>
          <a:lstStyle/>
          <a:p>
            <a:pPr algn="l" indent="0" marL="0">
              <a:buNone/>
            </a:pPr>
            <a:r>
              <a:rPr lang="en-US" sz="850" spc="50" kern="0" dirty="0">
                <a:solidFill>
                  <a:srgbClr val="8A97A0"/>
                </a:solidFill>
                <a:latin typeface="Arial" pitchFamily="34" charset="0"/>
                <a:ea typeface="Arial" pitchFamily="34" charset="-122"/>
                <a:cs typeface="Arial" pitchFamily="34" charset="-120"/>
              </a:rPr>
              <a:t>KAMI ELY  ·  TIKTOK SHOP PERFORMANCE ANALYTICS</a:t>
            </a:r>
            <a:endParaRPr lang="en-US" sz="850" dirty="0"/>
          </a:p>
        </p:txBody>
      </p:sp>
      <p:sp>
        <p:nvSpPr>
          <p:cNvPr id="29" name="Text 25"/>
          <p:cNvSpPr/>
          <p:nvPr/>
        </p:nvSpPr>
        <p:spPr>
          <a:xfrm>
            <a:off x="10728655" y="6473952"/>
            <a:ext cx="914400" cy="274320"/>
          </a:xfrm>
          <a:prstGeom prst="rect">
            <a:avLst/>
          </a:prstGeom>
          <a:noFill/>
          <a:ln/>
        </p:spPr>
        <p:txBody>
          <a:bodyPr wrap="square" rtlCol="0" anchor="ctr"/>
          <a:lstStyle/>
          <a:p>
            <a:pPr algn="r" indent="0" marL="0">
              <a:buNone/>
            </a:pPr>
            <a:r>
              <a:rPr lang="en-US" sz="850" dirty="0">
                <a:solidFill>
                  <a:srgbClr val="8A97A0"/>
                </a:solidFill>
                <a:latin typeface="Arial" pitchFamily="34" charset="0"/>
                <a:ea typeface="Arial" pitchFamily="34" charset="-122"/>
                <a:cs typeface="Arial" pitchFamily="34" charset="-120"/>
              </a:rPr>
              <a:t>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4068"/>
            <a:ext cx="91440" cy="91440"/>
          </a:xfrm>
          <a:prstGeom prst="ellipse">
            <a:avLst/>
          </a:prstGeom>
          <a:solidFill>
            <a:srgbClr val="FF6B4A"/>
          </a:solidFill>
          <a:ln/>
        </p:spPr>
      </p:sp>
      <p:sp>
        <p:nvSpPr>
          <p:cNvPr id="3" name="Text 1"/>
          <p:cNvSpPr/>
          <p:nvPr/>
        </p:nvSpPr>
        <p:spPr>
          <a:xfrm>
            <a:off x="713232" y="457200"/>
            <a:ext cx="8229600" cy="228600"/>
          </a:xfrm>
          <a:prstGeom prst="rect">
            <a:avLst/>
          </a:prstGeom>
          <a:noFill/>
          <a:ln/>
        </p:spPr>
        <p:txBody>
          <a:bodyPr wrap="square" rtlCol="0" anchor="ctr"/>
          <a:lstStyle/>
          <a:p>
            <a:pPr algn="l" indent="0" marL="0">
              <a:buNone/>
            </a:pPr>
            <a:r>
              <a:rPr lang="en-US" sz="1100" b="1" spc="120" kern="0" dirty="0">
                <a:solidFill>
                  <a:srgbClr val="FF6B4A"/>
                </a:solidFill>
                <a:latin typeface="Arial" pitchFamily="34" charset="0"/>
                <a:ea typeface="Arial" pitchFamily="34" charset="-122"/>
                <a:cs typeface="Arial" pitchFamily="34" charset="-120"/>
              </a:rPr>
              <a:t>07 · DANH MỤC SẢN PHẨM</a:t>
            </a:r>
            <a:endParaRPr lang="en-US" sz="1100" dirty="0"/>
          </a:p>
        </p:txBody>
      </p:sp>
      <p:sp>
        <p:nvSpPr>
          <p:cNvPr id="4" name="Text 2"/>
          <p:cNvSpPr/>
          <p:nvPr/>
        </p:nvSpPr>
        <p:spPr>
          <a:xfrm>
            <a:off x="548640" y="758952"/>
            <a:ext cx="8229600" cy="548640"/>
          </a:xfrm>
          <a:prstGeom prst="rect">
            <a:avLst/>
          </a:prstGeom>
          <a:noFill/>
          <a:ln/>
        </p:spPr>
        <p:txBody>
          <a:bodyPr wrap="square" rtlCol="0" anchor="t"/>
          <a:lstStyle/>
          <a:p>
            <a:pPr algn="l" indent="0" marL="0">
              <a:buNone/>
            </a:pPr>
            <a:r>
              <a:rPr lang="en-US" sz="2800" b="1" dirty="0">
                <a:solidFill>
                  <a:srgbClr val="0D2B3E"/>
                </a:solidFill>
                <a:latin typeface="Century Schoolbook" pitchFamily="34" charset="0"/>
                <a:ea typeface="Century Schoolbook" pitchFamily="34" charset="-122"/>
                <a:cs typeface="Century Schoolbook" pitchFamily="34" charset="-120"/>
              </a:rPr>
              <a:t>Sản phẩm bán chạy</a:t>
            </a:r>
            <a:endParaRPr lang="en-US" sz="2800" dirty="0"/>
          </a:p>
        </p:txBody>
      </p:sp>
      <p:sp>
        <p:nvSpPr>
          <p:cNvPr id="5" name="Text 3"/>
          <p:cNvSpPr/>
          <p:nvPr/>
        </p:nvSpPr>
        <p:spPr>
          <a:xfrm>
            <a:off x="548640" y="1234440"/>
            <a:ext cx="2602154" cy="384048"/>
          </a:xfrm>
          <a:prstGeom prst="rect">
            <a:avLst/>
          </a:prstGeom>
          <a:noFill/>
          <a:ln/>
        </p:spPr>
        <p:txBody>
          <a:bodyPr wrap="square" rtlCol="0" anchor="ctr"/>
          <a:lstStyle/>
          <a:p>
            <a:pPr indent="0" marL="0">
              <a:buNone/>
            </a:pPr>
            <a:r>
              <a:rPr lang="en-US" sz="1900" b="1" dirty="0">
                <a:solidFill>
                  <a:srgbClr val="0D2B3E"/>
                </a:solidFill>
                <a:latin typeface="Century Schoolbook" pitchFamily="34" charset="0"/>
                <a:ea typeface="Century Schoolbook" pitchFamily="34" charset="-122"/>
                <a:cs typeface="Century Schoolbook" pitchFamily="34" charset="-120"/>
              </a:rPr>
              <a:t>184</a:t>
            </a:r>
            <a:endParaRPr lang="en-US" sz="1900" dirty="0"/>
          </a:p>
        </p:txBody>
      </p:sp>
      <p:sp>
        <p:nvSpPr>
          <p:cNvPr id="6" name="Text 4"/>
          <p:cNvSpPr/>
          <p:nvPr/>
        </p:nvSpPr>
        <p:spPr>
          <a:xfrm>
            <a:off x="548640" y="1600200"/>
            <a:ext cx="2602154" cy="320040"/>
          </a:xfrm>
          <a:prstGeom prst="rect">
            <a:avLst/>
          </a:prstGeom>
          <a:noFill/>
          <a:ln/>
        </p:spPr>
        <p:txBody>
          <a:bodyPr wrap="square" rtlCol="0" anchor="ctr"/>
          <a:lstStyle/>
          <a:p>
            <a:pPr indent="0" marL="0">
              <a:buNone/>
            </a:pPr>
            <a:r>
              <a:rPr lang="en-US" sz="950" dirty="0">
                <a:solidFill>
                  <a:srgbClr val="5B6B76"/>
                </a:solidFill>
                <a:latin typeface="Arial" pitchFamily="34" charset="0"/>
                <a:ea typeface="Arial" pitchFamily="34" charset="-122"/>
                <a:cs typeface="Arial" pitchFamily="34" charset="-120"/>
              </a:rPr>
              <a:t>Sản phẩm trong danh sách bán chạy</a:t>
            </a:r>
            <a:endParaRPr lang="en-US" sz="950" dirty="0"/>
          </a:p>
        </p:txBody>
      </p:sp>
      <p:sp>
        <p:nvSpPr>
          <p:cNvPr id="7" name="Text 5"/>
          <p:cNvSpPr/>
          <p:nvPr/>
        </p:nvSpPr>
        <p:spPr>
          <a:xfrm>
            <a:off x="3379394" y="1234440"/>
            <a:ext cx="2602154" cy="384048"/>
          </a:xfrm>
          <a:prstGeom prst="rect">
            <a:avLst/>
          </a:prstGeom>
          <a:noFill/>
          <a:ln/>
        </p:spPr>
        <p:txBody>
          <a:bodyPr wrap="square" rtlCol="0" anchor="ctr"/>
          <a:lstStyle/>
          <a:p>
            <a:pPr indent="0" marL="0">
              <a:buNone/>
            </a:pPr>
            <a:r>
              <a:rPr lang="en-US" sz="1900" b="1" dirty="0">
                <a:solidFill>
                  <a:srgbClr val="0D2B3E"/>
                </a:solidFill>
                <a:latin typeface="Century Schoolbook" pitchFamily="34" charset="0"/>
                <a:ea typeface="Century Schoolbook" pitchFamily="34" charset="-122"/>
                <a:cs typeface="Century Schoolbook" pitchFamily="34" charset="-120"/>
              </a:rPr>
              <a:t>179 nghìn ₫</a:t>
            </a:r>
            <a:endParaRPr lang="en-US" sz="1900" dirty="0"/>
          </a:p>
        </p:txBody>
      </p:sp>
      <p:sp>
        <p:nvSpPr>
          <p:cNvPr id="8" name="Text 6"/>
          <p:cNvSpPr/>
          <p:nvPr/>
        </p:nvSpPr>
        <p:spPr>
          <a:xfrm>
            <a:off x="3379394" y="1600200"/>
            <a:ext cx="2602154" cy="320040"/>
          </a:xfrm>
          <a:prstGeom prst="rect">
            <a:avLst/>
          </a:prstGeom>
          <a:noFill/>
          <a:ln/>
        </p:spPr>
        <p:txBody>
          <a:bodyPr wrap="square" rtlCol="0" anchor="ctr"/>
          <a:lstStyle/>
          <a:p>
            <a:pPr indent="0" marL="0">
              <a:buNone/>
            </a:pPr>
            <a:r>
              <a:rPr lang="en-US" sz="950" dirty="0">
                <a:solidFill>
                  <a:srgbClr val="5B6B76"/>
                </a:solidFill>
                <a:latin typeface="Arial" pitchFamily="34" charset="0"/>
                <a:ea typeface="Arial" pitchFamily="34" charset="-122"/>
                <a:cs typeface="Arial" pitchFamily="34" charset="-120"/>
              </a:rPr>
              <a:t>Giá bán trung bình</a:t>
            </a:r>
            <a:endParaRPr lang="en-US" sz="950" dirty="0"/>
          </a:p>
        </p:txBody>
      </p:sp>
      <p:sp>
        <p:nvSpPr>
          <p:cNvPr id="9" name="Text 7"/>
          <p:cNvSpPr/>
          <p:nvPr/>
        </p:nvSpPr>
        <p:spPr>
          <a:xfrm>
            <a:off x="6210148" y="1234440"/>
            <a:ext cx="2602154" cy="384048"/>
          </a:xfrm>
          <a:prstGeom prst="rect">
            <a:avLst/>
          </a:prstGeom>
          <a:noFill/>
          <a:ln/>
        </p:spPr>
        <p:txBody>
          <a:bodyPr wrap="square" rtlCol="0" anchor="ctr"/>
          <a:lstStyle/>
          <a:p>
            <a:pPr indent="0" marL="0">
              <a:buNone/>
            </a:pPr>
            <a:r>
              <a:rPr lang="en-US" sz="1900" b="1" dirty="0">
                <a:solidFill>
                  <a:srgbClr val="0D2B3E"/>
                </a:solidFill>
                <a:latin typeface="Century Schoolbook" pitchFamily="34" charset="0"/>
                <a:ea typeface="Century Schoolbook" pitchFamily="34" charset="-122"/>
                <a:cs typeface="Century Schoolbook" pitchFamily="34" charset="-120"/>
              </a:rPr>
              <a:t>85%</a:t>
            </a:r>
            <a:endParaRPr lang="en-US" sz="1900" dirty="0"/>
          </a:p>
        </p:txBody>
      </p:sp>
      <p:sp>
        <p:nvSpPr>
          <p:cNvPr id="10" name="Text 8"/>
          <p:cNvSpPr/>
          <p:nvPr/>
        </p:nvSpPr>
        <p:spPr>
          <a:xfrm>
            <a:off x="6210148" y="1600200"/>
            <a:ext cx="2602154" cy="320040"/>
          </a:xfrm>
          <a:prstGeom prst="rect">
            <a:avLst/>
          </a:prstGeom>
          <a:noFill/>
          <a:ln/>
        </p:spPr>
        <p:txBody>
          <a:bodyPr wrap="square" rtlCol="0" anchor="ctr"/>
          <a:lstStyle/>
          <a:p>
            <a:pPr indent="0" marL="0">
              <a:buNone/>
            </a:pPr>
            <a:r>
              <a:rPr lang="en-US" sz="950" dirty="0">
                <a:solidFill>
                  <a:srgbClr val="5B6B76"/>
                </a:solidFill>
                <a:latin typeface="Arial" pitchFamily="34" charset="0"/>
                <a:ea typeface="Arial" pitchFamily="34" charset="-122"/>
                <a:cs typeface="Arial" pitchFamily="34" charset="-120"/>
              </a:rPr>
              <a:t>Sản phẩm có hoa hồng affiliate</a:t>
            </a:r>
            <a:endParaRPr lang="en-US" sz="950" dirty="0"/>
          </a:p>
        </p:txBody>
      </p:sp>
      <p:sp>
        <p:nvSpPr>
          <p:cNvPr id="11" name="Text 9"/>
          <p:cNvSpPr/>
          <p:nvPr/>
        </p:nvSpPr>
        <p:spPr>
          <a:xfrm>
            <a:off x="9040901" y="1234440"/>
            <a:ext cx="2602154" cy="384048"/>
          </a:xfrm>
          <a:prstGeom prst="rect">
            <a:avLst/>
          </a:prstGeom>
          <a:noFill/>
          <a:ln/>
        </p:spPr>
        <p:txBody>
          <a:bodyPr wrap="square" rtlCol="0" anchor="ctr"/>
          <a:lstStyle/>
          <a:p>
            <a:pPr indent="0" marL="0">
              <a:buNone/>
            </a:pPr>
            <a:r>
              <a:rPr lang="en-US" sz="1900" b="1" dirty="0">
                <a:solidFill>
                  <a:srgbClr val="0D2B3E"/>
                </a:solidFill>
                <a:latin typeface="Century Schoolbook" pitchFamily="34" charset="0"/>
                <a:ea typeface="Century Schoolbook" pitchFamily="34" charset="-122"/>
                <a:cs typeface="Century Schoolbook" pitchFamily="34" charset="-120"/>
              </a:rPr>
              <a:t>8,6%</a:t>
            </a:r>
            <a:endParaRPr lang="en-US" sz="1900" dirty="0"/>
          </a:p>
        </p:txBody>
      </p:sp>
      <p:sp>
        <p:nvSpPr>
          <p:cNvPr id="12" name="Text 10"/>
          <p:cNvSpPr/>
          <p:nvPr/>
        </p:nvSpPr>
        <p:spPr>
          <a:xfrm>
            <a:off x="9040901" y="1600200"/>
            <a:ext cx="2602154" cy="320040"/>
          </a:xfrm>
          <a:prstGeom prst="rect">
            <a:avLst/>
          </a:prstGeom>
          <a:noFill/>
          <a:ln/>
        </p:spPr>
        <p:txBody>
          <a:bodyPr wrap="square" rtlCol="0" anchor="ctr"/>
          <a:lstStyle/>
          <a:p>
            <a:pPr indent="0" marL="0">
              <a:buNone/>
            </a:pPr>
            <a:r>
              <a:rPr lang="en-US" sz="950" dirty="0">
                <a:solidFill>
                  <a:srgbClr val="5B6B76"/>
                </a:solidFill>
                <a:latin typeface="Arial" pitchFamily="34" charset="0"/>
                <a:ea typeface="Arial" pitchFamily="34" charset="-122"/>
                <a:cs typeface="Arial" pitchFamily="34" charset="-120"/>
              </a:rPr>
              <a:t>Tỷ lệ hoa hồng trung bình</a:t>
            </a:r>
            <a:endParaRPr lang="en-US" sz="950" dirty="0"/>
          </a:p>
        </p:txBody>
      </p:sp>
      <p:sp>
        <p:nvSpPr>
          <p:cNvPr id="13" name="Shape 11"/>
          <p:cNvSpPr/>
          <p:nvPr/>
        </p:nvSpPr>
        <p:spPr>
          <a:xfrm>
            <a:off x="548640" y="2011680"/>
            <a:ext cx="11094415" cy="0"/>
          </a:xfrm>
          <a:prstGeom prst="line">
            <a:avLst/>
          </a:prstGeom>
          <a:noFill/>
          <a:ln w="12700">
            <a:solidFill>
              <a:srgbClr val="E4E8EC"/>
            </a:solidFill>
            <a:prstDash val="solid"/>
          </a:ln>
        </p:spPr>
      </p:sp>
      <p:graphicFrame>
        <p:nvGraphicFramePr>
          <p:cNvPr id="14" name="Chart 0" descr=""/>
          <p:cNvGraphicFramePr/>
          <p:nvPr/>
        </p:nvGraphicFramePr>
        <p:xfrm>
          <a:off x="548640" y="2194560"/>
          <a:ext cx="3840480" cy="3794760"/>
        </p:xfrm>
        <a:graphic xmlns:a="http://schemas.openxmlformats.org/drawingml/2006/main">
          <a:graphicData uri="http://schemas.openxmlformats.org/drawingml/2006/chart">
            <c:chart xmlns:c="http://schemas.openxmlformats.org/drawingml/2006/chart" r:id="rId1"/>
          </a:graphicData>
        </a:graphic>
      </p:graphicFrame>
      <p:graphicFrame>
        <p:nvGraphicFramePr>
          <p:cNvPr id="15" name="Chart 1" descr=""/>
          <p:cNvGraphicFramePr/>
          <p:nvPr/>
        </p:nvGraphicFramePr>
        <p:xfrm>
          <a:off x="4572000" y="2194560"/>
          <a:ext cx="6309360" cy="3794760"/>
        </p:xfrm>
        <a:graphic xmlns:a="http://schemas.openxmlformats.org/drawingml/2006/main">
          <a:graphicData uri="http://schemas.openxmlformats.org/drawingml/2006/chart">
            <c:chart xmlns:c="http://schemas.openxmlformats.org/drawingml/2006/chart" r:id="rId2"/>
          </a:graphicData>
        </a:graphic>
      </p:graphicFrame>
      <p:sp>
        <p:nvSpPr>
          <p:cNvPr id="16" name="Shape 12"/>
          <p:cNvSpPr/>
          <p:nvPr/>
        </p:nvSpPr>
        <p:spPr>
          <a:xfrm>
            <a:off x="548640" y="5989320"/>
            <a:ext cx="11094415" cy="365760"/>
          </a:xfrm>
          <a:prstGeom prst="rect">
            <a:avLst/>
          </a:prstGeom>
          <a:solidFill>
            <a:srgbClr val="FFF7F3"/>
          </a:solidFill>
          <a:ln w="9525">
            <a:solidFill>
              <a:srgbClr val="FFE1D4"/>
            </a:solidFill>
            <a:prstDash val="solid"/>
          </a:ln>
        </p:spPr>
      </p:sp>
      <p:sp>
        <p:nvSpPr>
          <p:cNvPr id="17" name="Text 13"/>
          <p:cNvSpPr/>
          <p:nvPr/>
        </p:nvSpPr>
        <p:spPr>
          <a:xfrm>
            <a:off x="731520" y="5989320"/>
            <a:ext cx="10728655" cy="365760"/>
          </a:xfrm>
          <a:prstGeom prst="rect">
            <a:avLst/>
          </a:prstGeom>
          <a:noFill/>
          <a:ln/>
        </p:spPr>
        <p:txBody>
          <a:bodyPr wrap="square" rtlCol="0" anchor="ctr"/>
          <a:lstStyle/>
          <a:p>
            <a:pPr indent="0" marL="0">
              <a:buNone/>
            </a:pPr>
            <a:r>
              <a:rPr lang="en-US" sz="950" dirty="0">
                <a:solidFill>
                  <a:srgbClr val="8A4B34"/>
                </a:solidFill>
                <a:latin typeface="Arial" pitchFamily="34" charset="0"/>
                <a:ea typeface="Arial" pitchFamily="34" charset="-122"/>
                <a:cs typeface="Arial" pitchFamily="34" charset="-120"/>
              </a:rPr>
              <a:t>Lưu ý dữ liệu: chỉ 184/300 sản phẩm trong danh sách gốc (4 gian hàng liên kết) thuộc chính Kami Ely và có phát sinh doanh số — phân tích trên chỉ tính riêng 184 sản phẩm đó.</a:t>
            </a:r>
            <a:endParaRPr lang="en-US" sz="950" dirty="0"/>
          </a:p>
        </p:txBody>
      </p:sp>
      <p:sp>
        <p:nvSpPr>
          <p:cNvPr id="18" name="Text 14"/>
          <p:cNvSpPr/>
          <p:nvPr/>
        </p:nvSpPr>
        <p:spPr>
          <a:xfrm>
            <a:off x="548640" y="6473952"/>
            <a:ext cx="6400800" cy="274320"/>
          </a:xfrm>
          <a:prstGeom prst="rect">
            <a:avLst/>
          </a:prstGeom>
          <a:noFill/>
          <a:ln/>
        </p:spPr>
        <p:txBody>
          <a:bodyPr wrap="square" rtlCol="0" anchor="ctr"/>
          <a:lstStyle/>
          <a:p>
            <a:pPr algn="l" indent="0" marL="0">
              <a:buNone/>
            </a:pPr>
            <a:r>
              <a:rPr lang="en-US" sz="850" spc="50" kern="0" dirty="0">
                <a:solidFill>
                  <a:srgbClr val="8A97A0"/>
                </a:solidFill>
                <a:latin typeface="Arial" pitchFamily="34" charset="0"/>
                <a:ea typeface="Arial" pitchFamily="34" charset="-122"/>
                <a:cs typeface="Arial" pitchFamily="34" charset="-120"/>
              </a:rPr>
              <a:t>KAMI ELY  ·  TIKTOK SHOP PERFORMANCE ANALYTICS</a:t>
            </a:r>
            <a:endParaRPr lang="en-US" sz="850" dirty="0"/>
          </a:p>
        </p:txBody>
      </p:sp>
      <p:sp>
        <p:nvSpPr>
          <p:cNvPr id="19" name="Text 15"/>
          <p:cNvSpPr/>
          <p:nvPr/>
        </p:nvSpPr>
        <p:spPr>
          <a:xfrm>
            <a:off x="10728655" y="6473952"/>
            <a:ext cx="914400" cy="274320"/>
          </a:xfrm>
          <a:prstGeom prst="rect">
            <a:avLst/>
          </a:prstGeom>
          <a:noFill/>
          <a:ln/>
        </p:spPr>
        <p:txBody>
          <a:bodyPr wrap="square" rtlCol="0" anchor="ctr"/>
          <a:lstStyle/>
          <a:p>
            <a:pPr algn="r" indent="0" marL="0">
              <a:buNone/>
            </a:pPr>
            <a:r>
              <a:rPr lang="en-US" sz="850" dirty="0">
                <a:solidFill>
                  <a:srgbClr val="8A97A0"/>
                </a:solidFill>
                <a:latin typeface="Arial" pitchFamily="34" charset="0"/>
                <a:ea typeface="Arial" pitchFamily="34" charset="-122"/>
                <a:cs typeface="Arial"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4068"/>
            <a:ext cx="91440" cy="91440"/>
          </a:xfrm>
          <a:prstGeom prst="ellipse">
            <a:avLst/>
          </a:prstGeom>
          <a:solidFill>
            <a:srgbClr val="FF6B4A"/>
          </a:solidFill>
          <a:ln/>
        </p:spPr>
      </p:sp>
      <p:sp>
        <p:nvSpPr>
          <p:cNvPr id="3" name="Text 1"/>
          <p:cNvSpPr/>
          <p:nvPr/>
        </p:nvSpPr>
        <p:spPr>
          <a:xfrm>
            <a:off x="713232" y="457200"/>
            <a:ext cx="9144000" cy="228600"/>
          </a:xfrm>
          <a:prstGeom prst="rect">
            <a:avLst/>
          </a:prstGeom>
          <a:noFill/>
          <a:ln/>
        </p:spPr>
        <p:txBody>
          <a:bodyPr wrap="square" rtlCol="0" anchor="ctr"/>
          <a:lstStyle/>
          <a:p>
            <a:pPr algn="l" indent="0" marL="0">
              <a:buNone/>
            </a:pPr>
            <a:r>
              <a:rPr lang="en-US" sz="1100" b="1" spc="120" kern="0" dirty="0">
                <a:solidFill>
                  <a:srgbClr val="FF6B4A"/>
                </a:solidFill>
                <a:latin typeface="Arial" pitchFamily="34" charset="0"/>
                <a:ea typeface="Arial" pitchFamily="34" charset="-122"/>
                <a:cs typeface="Arial" pitchFamily="34" charset="-120"/>
              </a:rPr>
              <a:t>08 · VỊ THẾ CẠNH TRANH</a:t>
            </a:r>
            <a:endParaRPr lang="en-US" sz="1100" dirty="0"/>
          </a:p>
        </p:txBody>
      </p:sp>
      <p:sp>
        <p:nvSpPr>
          <p:cNvPr id="4" name="Text 2"/>
          <p:cNvSpPr/>
          <p:nvPr/>
        </p:nvSpPr>
        <p:spPr>
          <a:xfrm>
            <a:off x="548640" y="758952"/>
            <a:ext cx="9144000" cy="548640"/>
          </a:xfrm>
          <a:prstGeom prst="rect">
            <a:avLst/>
          </a:prstGeom>
          <a:noFill/>
          <a:ln/>
        </p:spPr>
        <p:txBody>
          <a:bodyPr wrap="square" rtlCol="0" anchor="t"/>
          <a:lstStyle/>
          <a:p>
            <a:pPr algn="l" indent="0" marL="0">
              <a:buNone/>
            </a:pPr>
            <a:r>
              <a:rPr lang="en-US" sz="2800" b="1" dirty="0">
                <a:solidFill>
                  <a:srgbClr val="0D2B3E"/>
                </a:solidFill>
                <a:latin typeface="Century Schoolbook" pitchFamily="34" charset="0"/>
                <a:ea typeface="Century Schoolbook" pitchFamily="34" charset="-122"/>
                <a:cs typeface="Century Schoolbook" pitchFamily="34" charset="-120"/>
              </a:rPr>
              <a:t>Kami Ely trong bức tranh toàn ngành hàng</a:t>
            </a:r>
            <a:endParaRPr lang="en-US" sz="2800" dirty="0"/>
          </a:p>
        </p:txBody>
      </p:sp>
      <p:sp>
        <p:nvSpPr>
          <p:cNvPr id="5" name="Text 3"/>
          <p:cNvSpPr/>
          <p:nvPr/>
        </p:nvSpPr>
        <p:spPr>
          <a:xfrm>
            <a:off x="548640" y="1207008"/>
            <a:ext cx="11094415" cy="384048"/>
          </a:xfrm>
          <a:prstGeom prst="rect">
            <a:avLst/>
          </a:prstGeom>
          <a:noFill/>
          <a:ln/>
        </p:spPr>
        <p:txBody>
          <a:bodyPr wrap="square" rtlCol="0" anchor="ctr"/>
          <a:lstStyle/>
          <a:p>
            <a:pPr indent="0" marL="0">
              <a:buNone/>
            </a:pPr>
            <a:r>
              <a:rPr lang="en-US" sz="1200" dirty="0">
                <a:solidFill>
                  <a:srgbClr val="5B6B76"/>
                </a:solidFill>
                <a:latin typeface="Arial" pitchFamily="34" charset="0"/>
                <a:ea typeface="Arial" pitchFamily="34" charset="-122"/>
                <a:cs typeface="Arial" pitchFamily="34" charset="-120"/>
              </a:rPr>
              <a:t>Đối chiếu với bảng xếp hạng Top 300 nhà sáng tạo / phiên LIVE / sản phẩm bán chạy nhất cùng ngành hàng đồ bơi &amp; thời trang nữ trên FastMoss.</a:t>
            </a:r>
            <a:endParaRPr lang="en-US" sz="1200" dirty="0"/>
          </a:p>
        </p:txBody>
      </p:sp>
      <p:sp>
        <p:nvSpPr>
          <p:cNvPr id="6" name="Shape 4"/>
          <p:cNvSpPr/>
          <p:nvPr/>
        </p:nvSpPr>
        <p:spPr>
          <a:xfrm>
            <a:off x="548640" y="1828800"/>
            <a:ext cx="3484778" cy="3246120"/>
          </a:xfrm>
          <a:prstGeom prst="rect">
            <a:avLst/>
          </a:prstGeom>
          <a:solidFill>
            <a:srgbClr val="F7F8FA"/>
          </a:solidFill>
          <a:ln w="9525">
            <a:solidFill>
              <a:srgbClr val="E4E8EC"/>
            </a:solidFill>
            <a:prstDash val="solid"/>
          </a:ln>
        </p:spPr>
      </p:sp>
      <p:sp>
        <p:nvSpPr>
          <p:cNvPr id="7" name="Text 5"/>
          <p:cNvSpPr/>
          <p:nvPr/>
        </p:nvSpPr>
        <p:spPr>
          <a:xfrm>
            <a:off x="731520" y="2029968"/>
            <a:ext cx="3119018" cy="502920"/>
          </a:xfrm>
          <a:prstGeom prst="rect">
            <a:avLst/>
          </a:prstGeom>
          <a:noFill/>
          <a:ln/>
        </p:spPr>
        <p:txBody>
          <a:bodyPr wrap="square" rtlCol="0" anchor="ctr"/>
          <a:lstStyle/>
          <a:p>
            <a:pPr algn="ctr" indent="0" marL="0">
              <a:lnSpc>
                <a:spcPct val="115000"/>
              </a:lnSpc>
              <a:buNone/>
            </a:pPr>
            <a:r>
              <a:rPr lang="en-US" sz="1350" b="1" dirty="0">
                <a:solidFill>
                  <a:srgbClr val="0D2B3E"/>
                </a:solidFill>
                <a:latin typeface="Century Schoolbook" pitchFamily="34" charset="0"/>
                <a:ea typeface="Century Schoolbook" pitchFamily="34" charset="-122"/>
                <a:cs typeface="Century Schoolbook" pitchFamily="34" charset="-120"/>
              </a:rPr>
              <a:t>Top nhà sáng tạo ngành hàng</a:t>
            </a:r>
            <a:endParaRPr lang="en-US" sz="1350" dirty="0"/>
          </a:p>
        </p:txBody>
      </p:sp>
      <p:graphicFrame>
        <p:nvGraphicFramePr>
          <p:cNvPr id="8" name="Chart 0" descr=""/>
          <p:cNvGraphicFramePr/>
          <p:nvPr/>
        </p:nvGraphicFramePr>
        <p:xfrm>
          <a:off x="1330909" y="2606040"/>
          <a:ext cx="1920240" cy="1920240"/>
        </p:xfrm>
        <a:graphic xmlns:a="http://schemas.openxmlformats.org/drawingml/2006/main">
          <a:graphicData uri="http://schemas.openxmlformats.org/drawingml/2006/chart">
            <c:chart xmlns:c="http://schemas.openxmlformats.org/drawingml/2006/chart" r:id="rId1"/>
          </a:graphicData>
        </a:graphic>
      </p:graphicFrame>
      <p:sp>
        <p:nvSpPr>
          <p:cNvPr id="9" name="Text 6"/>
          <p:cNvSpPr/>
          <p:nvPr/>
        </p:nvSpPr>
        <p:spPr>
          <a:xfrm>
            <a:off x="548640" y="3246120"/>
            <a:ext cx="3484778" cy="457200"/>
          </a:xfrm>
          <a:prstGeom prst="rect">
            <a:avLst/>
          </a:prstGeom>
          <a:noFill/>
          <a:ln/>
        </p:spPr>
        <p:txBody>
          <a:bodyPr wrap="square" rtlCol="0" anchor="ctr"/>
          <a:lstStyle/>
          <a:p>
            <a:pPr algn="ctr" indent="0" marL="0">
              <a:buNone/>
            </a:pPr>
            <a:r>
              <a:rPr lang="en-US" sz="2400" b="1" dirty="0">
                <a:solidFill>
                  <a:srgbClr val="FF6B4A"/>
                </a:solidFill>
                <a:latin typeface="Century Schoolbook" pitchFamily="34" charset="0"/>
                <a:ea typeface="Century Schoolbook" pitchFamily="34" charset="-122"/>
                <a:cs typeface="Century Schoolbook" pitchFamily="34" charset="-120"/>
              </a:rPr>
              <a:t>63,6%</a:t>
            </a:r>
            <a:endParaRPr lang="en-US" sz="2400" dirty="0"/>
          </a:p>
        </p:txBody>
      </p:sp>
      <p:sp>
        <p:nvSpPr>
          <p:cNvPr id="10" name="Text 7"/>
          <p:cNvSpPr/>
          <p:nvPr/>
        </p:nvSpPr>
        <p:spPr>
          <a:xfrm>
            <a:off x="548640" y="3657600"/>
            <a:ext cx="3484778" cy="274320"/>
          </a:xfrm>
          <a:prstGeom prst="rect">
            <a:avLst/>
          </a:prstGeom>
          <a:noFill/>
          <a:ln/>
        </p:spPr>
        <p:txBody>
          <a:bodyPr wrap="square" rtlCol="0" anchor="ctr"/>
          <a:lstStyle/>
          <a:p>
            <a:pPr algn="ctr" indent="0" marL="0">
              <a:buNone/>
            </a:pPr>
            <a:r>
              <a:rPr lang="en-US" sz="850" dirty="0">
                <a:solidFill>
                  <a:srgbClr val="8A97A0"/>
                </a:solidFill>
                <a:latin typeface="Arial" pitchFamily="34" charset="0"/>
                <a:ea typeface="Arial" pitchFamily="34" charset="-122"/>
                <a:cs typeface="Arial" pitchFamily="34" charset="-120"/>
              </a:rPr>
              <a:t>thị phần GMV</a:t>
            </a:r>
            <a:endParaRPr lang="en-US" sz="850" dirty="0"/>
          </a:p>
        </p:txBody>
      </p:sp>
      <p:sp>
        <p:nvSpPr>
          <p:cNvPr id="11" name="Text 8"/>
          <p:cNvSpPr/>
          <p:nvPr/>
        </p:nvSpPr>
        <p:spPr>
          <a:xfrm>
            <a:off x="777240" y="4590288"/>
            <a:ext cx="3027578" cy="438912"/>
          </a:xfrm>
          <a:prstGeom prst="rect">
            <a:avLst/>
          </a:prstGeom>
          <a:noFill/>
          <a:ln/>
        </p:spPr>
        <p:txBody>
          <a:bodyPr wrap="square" rtlCol="0" anchor="ctr"/>
          <a:lstStyle/>
          <a:p>
            <a:pPr algn="ctr" indent="0" marL="0">
              <a:lnSpc>
                <a:spcPct val="115000"/>
              </a:lnSpc>
              <a:buNone/>
            </a:pPr>
            <a:r>
              <a:rPr lang="en-US" sz="900" dirty="0">
                <a:solidFill>
                  <a:srgbClr val="5B6B76"/>
                </a:solidFill>
                <a:latin typeface="Arial" pitchFamily="34" charset="0"/>
                <a:ea typeface="Arial" pitchFamily="34" charset="-122"/>
                <a:cs typeface="Arial" pitchFamily="34" charset="-120"/>
              </a:rPr>
              <a:t>Hạng #1/300 · gấp 4.3× GMV người xếp thứ 2</a:t>
            </a:r>
            <a:endParaRPr lang="en-US" sz="900" dirty="0"/>
          </a:p>
        </p:txBody>
      </p:sp>
      <p:sp>
        <p:nvSpPr>
          <p:cNvPr id="12" name="Shape 9"/>
          <p:cNvSpPr/>
          <p:nvPr/>
        </p:nvSpPr>
        <p:spPr>
          <a:xfrm>
            <a:off x="4353458" y="1828800"/>
            <a:ext cx="3484778" cy="3246120"/>
          </a:xfrm>
          <a:prstGeom prst="rect">
            <a:avLst/>
          </a:prstGeom>
          <a:solidFill>
            <a:srgbClr val="F7F8FA"/>
          </a:solidFill>
          <a:ln w="9525">
            <a:solidFill>
              <a:srgbClr val="E4E8EC"/>
            </a:solidFill>
            <a:prstDash val="solid"/>
          </a:ln>
        </p:spPr>
      </p:sp>
      <p:sp>
        <p:nvSpPr>
          <p:cNvPr id="13" name="Text 10"/>
          <p:cNvSpPr/>
          <p:nvPr/>
        </p:nvSpPr>
        <p:spPr>
          <a:xfrm>
            <a:off x="4536338" y="2029968"/>
            <a:ext cx="3119018" cy="502920"/>
          </a:xfrm>
          <a:prstGeom prst="rect">
            <a:avLst/>
          </a:prstGeom>
          <a:noFill/>
          <a:ln/>
        </p:spPr>
        <p:txBody>
          <a:bodyPr wrap="square" rtlCol="0" anchor="ctr"/>
          <a:lstStyle/>
          <a:p>
            <a:pPr algn="ctr" indent="0" marL="0">
              <a:lnSpc>
                <a:spcPct val="115000"/>
              </a:lnSpc>
              <a:buNone/>
            </a:pPr>
            <a:r>
              <a:rPr lang="en-US" sz="1350" b="1" dirty="0">
                <a:solidFill>
                  <a:srgbClr val="0D2B3E"/>
                </a:solidFill>
                <a:latin typeface="Century Schoolbook" pitchFamily="34" charset="0"/>
                <a:ea typeface="Century Schoolbook" pitchFamily="34" charset="-122"/>
                <a:cs typeface="Century Schoolbook" pitchFamily="34" charset="-120"/>
              </a:rPr>
              <a:t>Top phiên LIVE ngành hàng</a:t>
            </a:r>
            <a:endParaRPr lang="en-US" sz="1350" dirty="0"/>
          </a:p>
        </p:txBody>
      </p:sp>
      <p:graphicFrame>
        <p:nvGraphicFramePr>
          <p:cNvPr id="14" name="Chart 1" descr=""/>
          <p:cNvGraphicFramePr/>
          <p:nvPr/>
        </p:nvGraphicFramePr>
        <p:xfrm>
          <a:off x="5135728" y="2606040"/>
          <a:ext cx="1920240" cy="1920240"/>
        </p:xfrm>
        <a:graphic xmlns:a="http://schemas.openxmlformats.org/drawingml/2006/main">
          <a:graphicData uri="http://schemas.openxmlformats.org/drawingml/2006/chart">
            <c:chart xmlns:c="http://schemas.openxmlformats.org/drawingml/2006/chart" r:id="rId2"/>
          </a:graphicData>
        </a:graphic>
      </p:graphicFrame>
      <p:sp>
        <p:nvSpPr>
          <p:cNvPr id="15" name="Text 11"/>
          <p:cNvSpPr/>
          <p:nvPr/>
        </p:nvSpPr>
        <p:spPr>
          <a:xfrm>
            <a:off x="4353458" y="3246120"/>
            <a:ext cx="3484778" cy="457200"/>
          </a:xfrm>
          <a:prstGeom prst="rect">
            <a:avLst/>
          </a:prstGeom>
          <a:noFill/>
          <a:ln/>
        </p:spPr>
        <p:txBody>
          <a:bodyPr wrap="square" rtlCol="0" anchor="ctr"/>
          <a:lstStyle/>
          <a:p>
            <a:pPr algn="ctr" indent="0" marL="0">
              <a:buNone/>
            </a:pPr>
            <a:r>
              <a:rPr lang="en-US" sz="2400" b="1" dirty="0">
                <a:solidFill>
                  <a:srgbClr val="1FA9A0"/>
                </a:solidFill>
                <a:latin typeface="Century Schoolbook" pitchFamily="34" charset="0"/>
                <a:ea typeface="Century Schoolbook" pitchFamily="34" charset="-122"/>
                <a:cs typeface="Century Schoolbook" pitchFamily="34" charset="-120"/>
              </a:rPr>
              <a:t>78,5%</a:t>
            </a:r>
            <a:endParaRPr lang="en-US" sz="2400" dirty="0"/>
          </a:p>
        </p:txBody>
      </p:sp>
      <p:sp>
        <p:nvSpPr>
          <p:cNvPr id="16" name="Text 12"/>
          <p:cNvSpPr/>
          <p:nvPr/>
        </p:nvSpPr>
        <p:spPr>
          <a:xfrm>
            <a:off x="4353458" y="3657600"/>
            <a:ext cx="3484778" cy="274320"/>
          </a:xfrm>
          <a:prstGeom prst="rect">
            <a:avLst/>
          </a:prstGeom>
          <a:noFill/>
          <a:ln/>
        </p:spPr>
        <p:txBody>
          <a:bodyPr wrap="square" rtlCol="0" anchor="ctr"/>
          <a:lstStyle/>
          <a:p>
            <a:pPr algn="ctr" indent="0" marL="0">
              <a:buNone/>
            </a:pPr>
            <a:r>
              <a:rPr lang="en-US" sz="850" dirty="0">
                <a:solidFill>
                  <a:srgbClr val="8A97A0"/>
                </a:solidFill>
                <a:latin typeface="Arial" pitchFamily="34" charset="0"/>
                <a:ea typeface="Arial" pitchFamily="34" charset="-122"/>
                <a:cs typeface="Arial" pitchFamily="34" charset="-120"/>
              </a:rPr>
              <a:t>thị phần GMV</a:t>
            </a:r>
            <a:endParaRPr lang="en-US" sz="850" dirty="0"/>
          </a:p>
        </p:txBody>
      </p:sp>
      <p:sp>
        <p:nvSpPr>
          <p:cNvPr id="17" name="Text 13"/>
          <p:cNvSpPr/>
          <p:nvPr/>
        </p:nvSpPr>
        <p:spPr>
          <a:xfrm>
            <a:off x="4582058" y="4590288"/>
            <a:ext cx="3027578" cy="438912"/>
          </a:xfrm>
          <a:prstGeom prst="rect">
            <a:avLst/>
          </a:prstGeom>
          <a:noFill/>
          <a:ln/>
        </p:spPr>
        <p:txBody>
          <a:bodyPr wrap="square" rtlCol="0" anchor="ctr"/>
          <a:lstStyle/>
          <a:p>
            <a:pPr algn="ctr" indent="0" marL="0">
              <a:lnSpc>
                <a:spcPct val="115000"/>
              </a:lnSpc>
              <a:buNone/>
            </a:pPr>
            <a:r>
              <a:rPr lang="en-US" sz="900" dirty="0">
                <a:solidFill>
                  <a:srgbClr val="5B6B76"/>
                </a:solidFill>
                <a:latin typeface="Arial" pitchFamily="34" charset="0"/>
                <a:ea typeface="Arial" pitchFamily="34" charset="-122"/>
                <a:cs typeface="Arial" pitchFamily="34" charset="-120"/>
              </a:rPr>
              <a:t>Chiếm 145/300 phiên trong top 300 (48%)</a:t>
            </a:r>
            <a:endParaRPr lang="en-US" sz="900" dirty="0"/>
          </a:p>
        </p:txBody>
      </p:sp>
      <p:sp>
        <p:nvSpPr>
          <p:cNvPr id="18" name="Shape 14"/>
          <p:cNvSpPr/>
          <p:nvPr/>
        </p:nvSpPr>
        <p:spPr>
          <a:xfrm>
            <a:off x="8158277" y="1828800"/>
            <a:ext cx="3484778" cy="3246120"/>
          </a:xfrm>
          <a:prstGeom prst="rect">
            <a:avLst/>
          </a:prstGeom>
          <a:solidFill>
            <a:srgbClr val="F7F8FA"/>
          </a:solidFill>
          <a:ln w="9525">
            <a:solidFill>
              <a:srgbClr val="E4E8EC"/>
            </a:solidFill>
            <a:prstDash val="solid"/>
          </a:ln>
        </p:spPr>
      </p:sp>
      <p:sp>
        <p:nvSpPr>
          <p:cNvPr id="19" name="Text 15"/>
          <p:cNvSpPr/>
          <p:nvPr/>
        </p:nvSpPr>
        <p:spPr>
          <a:xfrm>
            <a:off x="8341157" y="2029968"/>
            <a:ext cx="3119018" cy="502920"/>
          </a:xfrm>
          <a:prstGeom prst="rect">
            <a:avLst/>
          </a:prstGeom>
          <a:noFill/>
          <a:ln/>
        </p:spPr>
        <p:txBody>
          <a:bodyPr wrap="square" rtlCol="0" anchor="ctr"/>
          <a:lstStyle/>
          <a:p>
            <a:pPr algn="ctr" indent="0" marL="0">
              <a:lnSpc>
                <a:spcPct val="115000"/>
              </a:lnSpc>
              <a:buNone/>
            </a:pPr>
            <a:r>
              <a:rPr lang="en-US" sz="1350" b="1" dirty="0">
                <a:solidFill>
                  <a:srgbClr val="0D2B3E"/>
                </a:solidFill>
                <a:latin typeface="Century Schoolbook" pitchFamily="34" charset="0"/>
                <a:ea typeface="Century Schoolbook" pitchFamily="34" charset="-122"/>
                <a:cs typeface="Century Schoolbook" pitchFamily="34" charset="-120"/>
              </a:rPr>
              <a:t>Top sản phẩm bán chạy</a:t>
            </a:r>
            <a:endParaRPr lang="en-US" sz="1350" dirty="0"/>
          </a:p>
        </p:txBody>
      </p:sp>
      <p:graphicFrame>
        <p:nvGraphicFramePr>
          <p:cNvPr id="20" name="Chart 2" descr=""/>
          <p:cNvGraphicFramePr/>
          <p:nvPr/>
        </p:nvGraphicFramePr>
        <p:xfrm>
          <a:off x="8940546" y="2606040"/>
          <a:ext cx="1920240" cy="1920240"/>
        </p:xfrm>
        <a:graphic xmlns:a="http://schemas.openxmlformats.org/drawingml/2006/main">
          <a:graphicData uri="http://schemas.openxmlformats.org/drawingml/2006/chart">
            <c:chart xmlns:c="http://schemas.openxmlformats.org/drawingml/2006/chart" r:id="rId3"/>
          </a:graphicData>
        </a:graphic>
      </p:graphicFrame>
      <p:sp>
        <p:nvSpPr>
          <p:cNvPr id="21" name="Text 16"/>
          <p:cNvSpPr/>
          <p:nvPr/>
        </p:nvSpPr>
        <p:spPr>
          <a:xfrm>
            <a:off x="8158277" y="3246120"/>
            <a:ext cx="3484778" cy="457200"/>
          </a:xfrm>
          <a:prstGeom prst="rect">
            <a:avLst/>
          </a:prstGeom>
          <a:noFill/>
          <a:ln/>
        </p:spPr>
        <p:txBody>
          <a:bodyPr wrap="square" rtlCol="0" anchor="ctr"/>
          <a:lstStyle/>
          <a:p>
            <a:pPr algn="ctr" indent="0" marL="0">
              <a:buNone/>
            </a:pPr>
            <a:r>
              <a:rPr lang="en-US" sz="2400" b="1" dirty="0">
                <a:solidFill>
                  <a:srgbClr val="E14F30"/>
                </a:solidFill>
                <a:latin typeface="Century Schoolbook" pitchFamily="34" charset="0"/>
                <a:ea typeface="Century Schoolbook" pitchFamily="34" charset="-122"/>
                <a:cs typeface="Century Schoolbook" pitchFamily="34" charset="-120"/>
              </a:rPr>
              <a:t>85,9%</a:t>
            </a:r>
            <a:endParaRPr lang="en-US" sz="2400" dirty="0"/>
          </a:p>
        </p:txBody>
      </p:sp>
      <p:sp>
        <p:nvSpPr>
          <p:cNvPr id="22" name="Text 17"/>
          <p:cNvSpPr/>
          <p:nvPr/>
        </p:nvSpPr>
        <p:spPr>
          <a:xfrm>
            <a:off x="8158277" y="3657600"/>
            <a:ext cx="3484778" cy="274320"/>
          </a:xfrm>
          <a:prstGeom prst="rect">
            <a:avLst/>
          </a:prstGeom>
          <a:noFill/>
          <a:ln/>
        </p:spPr>
        <p:txBody>
          <a:bodyPr wrap="square" rtlCol="0" anchor="ctr"/>
          <a:lstStyle/>
          <a:p>
            <a:pPr algn="ctr" indent="0" marL="0">
              <a:buNone/>
            </a:pPr>
            <a:r>
              <a:rPr lang="en-US" sz="850" dirty="0">
                <a:solidFill>
                  <a:srgbClr val="8A97A0"/>
                </a:solidFill>
                <a:latin typeface="Arial" pitchFamily="34" charset="0"/>
                <a:ea typeface="Arial" pitchFamily="34" charset="-122"/>
                <a:cs typeface="Arial" pitchFamily="34" charset="-120"/>
              </a:rPr>
              <a:t>thị phần GMV</a:t>
            </a:r>
            <a:endParaRPr lang="en-US" sz="850" dirty="0"/>
          </a:p>
        </p:txBody>
      </p:sp>
      <p:sp>
        <p:nvSpPr>
          <p:cNvPr id="23" name="Text 18"/>
          <p:cNvSpPr/>
          <p:nvPr/>
        </p:nvSpPr>
        <p:spPr>
          <a:xfrm>
            <a:off x="8386877" y="4590288"/>
            <a:ext cx="3027578" cy="438912"/>
          </a:xfrm>
          <a:prstGeom prst="rect">
            <a:avLst/>
          </a:prstGeom>
          <a:noFill/>
          <a:ln/>
        </p:spPr>
        <p:txBody>
          <a:bodyPr wrap="square" rtlCol="0" anchor="ctr"/>
          <a:lstStyle/>
          <a:p>
            <a:pPr algn="ctr" indent="0" marL="0">
              <a:lnSpc>
                <a:spcPct val="115000"/>
              </a:lnSpc>
              <a:buNone/>
            </a:pPr>
            <a:r>
              <a:rPr lang="en-US" sz="900" dirty="0">
                <a:solidFill>
                  <a:srgbClr val="5B6B76"/>
                </a:solidFill>
                <a:latin typeface="Arial" pitchFamily="34" charset="0"/>
                <a:ea typeface="Arial" pitchFamily="34" charset="-122"/>
                <a:cs typeface="Arial" pitchFamily="34" charset="-120"/>
              </a:rPr>
              <a:t>Chiếm 167/300 vị trí · 87% sản lượng</a:t>
            </a:r>
            <a:endParaRPr lang="en-US" sz="900" dirty="0"/>
          </a:p>
        </p:txBody>
      </p:sp>
      <p:sp>
        <p:nvSpPr>
          <p:cNvPr id="24" name="Shape 19"/>
          <p:cNvSpPr/>
          <p:nvPr/>
        </p:nvSpPr>
        <p:spPr>
          <a:xfrm>
            <a:off x="548640" y="5349240"/>
            <a:ext cx="11094415" cy="777240"/>
          </a:xfrm>
          <a:prstGeom prst="rect">
            <a:avLst/>
          </a:prstGeom>
          <a:solidFill>
            <a:srgbClr val="FFF7F3"/>
          </a:solidFill>
          <a:ln w="9525">
            <a:solidFill>
              <a:srgbClr val="FFE1D4"/>
            </a:solidFill>
            <a:prstDash val="solid"/>
          </a:ln>
        </p:spPr>
      </p:sp>
      <p:sp>
        <p:nvSpPr>
          <p:cNvPr id="25" name="Text 20"/>
          <p:cNvSpPr/>
          <p:nvPr/>
        </p:nvSpPr>
        <p:spPr>
          <a:xfrm>
            <a:off x="731520" y="5349240"/>
            <a:ext cx="10728655" cy="777240"/>
          </a:xfrm>
          <a:prstGeom prst="rect">
            <a:avLst/>
          </a:prstGeom>
          <a:noFill/>
          <a:ln/>
        </p:spPr>
        <p:txBody>
          <a:bodyPr wrap="square" rtlCol="0" anchor="ctr"/>
          <a:lstStyle/>
          <a:p>
            <a:pPr indent="0" marL="0">
              <a:lnSpc>
                <a:spcPct val="125000"/>
              </a:lnSpc>
              <a:buNone/>
            </a:pPr>
            <a:r>
              <a:rPr lang="en-US" sz="1050" b="1" dirty="0">
                <a:solidFill>
                  <a:srgbClr val="C4472C"/>
                </a:solidFill>
                <a:latin typeface="Arial" pitchFamily="34" charset="0"/>
                <a:ea typeface="Arial" pitchFamily="34" charset="-122"/>
                <a:cs typeface="Arial" pitchFamily="34" charset="-120"/>
              </a:rPr>
              <a:t>Lưu ý cạnh tranh: </a:t>
            </a:r>
            <a:pPr indent="0" marL="0">
              <a:lnSpc>
                <a:spcPct val="125000"/>
              </a:lnSpc>
              <a:buNone/>
            </a:pPr>
            <a:r>
              <a:rPr lang="en-US" sz="1050" dirty="0">
                <a:solidFill>
                  <a:srgbClr val="8A4B34"/>
                </a:solidFill>
                <a:latin typeface="Arial" pitchFamily="34" charset="0"/>
                <a:ea typeface="Arial" pitchFamily="34" charset="-122"/>
                <a:cs typeface="Arial" pitchFamily="34" charset="-120"/>
              </a:rPr>
              <a:t>Trong top 10 sản phẩm bán chạy toàn ngành hàng, có sản phẩm gắn thương hiệu "KAMI ELY" trong tên nhưng được đăng bán bởi một gian hàng khác — dấu hiệu bị sao chép hình ảnh/tên sản phẩm. Đây là rủi ro cạnh tranh cần theo dõi và bảo vệ thương hiệu.</a:t>
            </a:r>
            <a:endParaRPr lang="en-US" sz="1050" dirty="0"/>
          </a:p>
        </p:txBody>
      </p:sp>
      <p:sp>
        <p:nvSpPr>
          <p:cNvPr id="26" name="Text 21"/>
          <p:cNvSpPr/>
          <p:nvPr/>
        </p:nvSpPr>
        <p:spPr>
          <a:xfrm>
            <a:off x="548640" y="6473952"/>
            <a:ext cx="6400800" cy="274320"/>
          </a:xfrm>
          <a:prstGeom prst="rect">
            <a:avLst/>
          </a:prstGeom>
          <a:noFill/>
          <a:ln/>
        </p:spPr>
        <p:txBody>
          <a:bodyPr wrap="square" rtlCol="0" anchor="ctr"/>
          <a:lstStyle/>
          <a:p>
            <a:pPr algn="l" indent="0" marL="0">
              <a:buNone/>
            </a:pPr>
            <a:r>
              <a:rPr lang="en-US" sz="850" spc="50" kern="0" dirty="0">
                <a:solidFill>
                  <a:srgbClr val="8A97A0"/>
                </a:solidFill>
                <a:latin typeface="Arial" pitchFamily="34" charset="0"/>
                <a:ea typeface="Arial" pitchFamily="34" charset="-122"/>
                <a:cs typeface="Arial" pitchFamily="34" charset="-120"/>
              </a:rPr>
              <a:t>KAMI ELY  ·  TIKTOK SHOP PERFORMANCE ANALYTICS</a:t>
            </a:r>
            <a:endParaRPr lang="en-US" sz="850" dirty="0"/>
          </a:p>
        </p:txBody>
      </p:sp>
      <p:sp>
        <p:nvSpPr>
          <p:cNvPr id="27" name="Text 22"/>
          <p:cNvSpPr/>
          <p:nvPr/>
        </p:nvSpPr>
        <p:spPr>
          <a:xfrm>
            <a:off x="10728655" y="6473952"/>
            <a:ext cx="914400" cy="274320"/>
          </a:xfrm>
          <a:prstGeom prst="rect">
            <a:avLst/>
          </a:prstGeom>
          <a:noFill/>
          <a:ln/>
        </p:spPr>
        <p:txBody>
          <a:bodyPr wrap="square" rtlCol="0" anchor="ctr"/>
          <a:lstStyle/>
          <a:p>
            <a:pPr algn="r" indent="0" marL="0">
              <a:buNone/>
            </a:pPr>
            <a:r>
              <a:rPr lang="en-US" sz="850" dirty="0">
                <a:solidFill>
                  <a:srgbClr val="8A97A0"/>
                </a:solidFill>
                <a:latin typeface="Arial" pitchFamily="34" charset="0"/>
                <a:ea typeface="Arial" pitchFamily="34" charset="-122"/>
                <a:cs typeface="Arial"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44068"/>
            <a:ext cx="91440" cy="91440"/>
          </a:xfrm>
          <a:prstGeom prst="ellipse">
            <a:avLst/>
          </a:prstGeom>
          <a:solidFill>
            <a:srgbClr val="FF6B4A"/>
          </a:solidFill>
          <a:ln/>
        </p:spPr>
      </p:sp>
      <p:sp>
        <p:nvSpPr>
          <p:cNvPr id="3" name="Text 1"/>
          <p:cNvSpPr/>
          <p:nvPr/>
        </p:nvSpPr>
        <p:spPr>
          <a:xfrm>
            <a:off x="713232" y="457200"/>
            <a:ext cx="8229600" cy="228600"/>
          </a:xfrm>
          <a:prstGeom prst="rect">
            <a:avLst/>
          </a:prstGeom>
          <a:noFill/>
          <a:ln/>
        </p:spPr>
        <p:txBody>
          <a:bodyPr wrap="square" rtlCol="0" anchor="ctr"/>
          <a:lstStyle/>
          <a:p>
            <a:pPr algn="l" indent="0" marL="0">
              <a:buNone/>
            </a:pPr>
            <a:r>
              <a:rPr lang="en-US" sz="1100" b="1" spc="120" kern="0" dirty="0">
                <a:solidFill>
                  <a:srgbClr val="FF6B4A"/>
                </a:solidFill>
                <a:latin typeface="Arial" pitchFamily="34" charset="0"/>
                <a:ea typeface="Arial" pitchFamily="34" charset="-122"/>
                <a:cs typeface="Arial" pitchFamily="34" charset="-120"/>
              </a:rPr>
              <a:t>09 · KẾT LUẬN</a:t>
            </a:r>
            <a:endParaRPr lang="en-US" sz="1100" dirty="0"/>
          </a:p>
        </p:txBody>
      </p:sp>
      <p:sp>
        <p:nvSpPr>
          <p:cNvPr id="4" name="Text 2"/>
          <p:cNvSpPr/>
          <p:nvPr/>
        </p:nvSpPr>
        <p:spPr>
          <a:xfrm>
            <a:off x="548640" y="758952"/>
            <a:ext cx="8229600" cy="548640"/>
          </a:xfrm>
          <a:prstGeom prst="rect">
            <a:avLst/>
          </a:prstGeom>
          <a:noFill/>
          <a:ln/>
        </p:spPr>
        <p:txBody>
          <a:bodyPr wrap="square" rtlCol="0" anchor="t"/>
          <a:lstStyle/>
          <a:p>
            <a:pPr algn="l" indent="0" marL="0">
              <a:buNone/>
            </a:pPr>
            <a:r>
              <a:rPr lang="en-US" sz="2800" b="1" dirty="0">
                <a:solidFill>
                  <a:srgbClr val="0D2B3E"/>
                </a:solidFill>
                <a:latin typeface="Century Schoolbook" pitchFamily="34" charset="0"/>
                <a:ea typeface="Century Schoolbook" pitchFamily="34" charset="-122"/>
                <a:cs typeface="Century Schoolbook" pitchFamily="34" charset="-120"/>
              </a:rPr>
              <a:t>Phát hiện chính &amp; đề xuất hành động</a:t>
            </a:r>
            <a:endParaRPr lang="en-US" sz="2800" dirty="0"/>
          </a:p>
        </p:txBody>
      </p:sp>
      <p:sp>
        <p:nvSpPr>
          <p:cNvPr id="5" name="Shape 3"/>
          <p:cNvSpPr/>
          <p:nvPr/>
        </p:nvSpPr>
        <p:spPr>
          <a:xfrm>
            <a:off x="548640" y="1508760"/>
            <a:ext cx="3515258" cy="2148840"/>
          </a:xfrm>
          <a:prstGeom prst="rect">
            <a:avLst/>
          </a:prstGeom>
          <a:solidFill>
            <a:srgbClr val="F7F8FA"/>
          </a:solidFill>
          <a:ln w="9525">
            <a:solidFill>
              <a:srgbClr val="E4E8EC"/>
            </a:solidFill>
            <a:prstDash val="solid"/>
          </a:ln>
        </p:spPr>
      </p:sp>
      <p:sp>
        <p:nvSpPr>
          <p:cNvPr id="6" name="Shape 4"/>
          <p:cNvSpPr/>
          <p:nvPr/>
        </p:nvSpPr>
        <p:spPr>
          <a:xfrm>
            <a:off x="768096" y="1728216"/>
            <a:ext cx="457200" cy="457200"/>
          </a:xfrm>
          <a:prstGeom prst="ellipse">
            <a:avLst/>
          </a:prstGeom>
          <a:solidFill>
            <a:srgbClr val="FF6B4A"/>
          </a:solidFill>
          <a:ln/>
        </p:spPr>
      </p:sp>
      <p:pic>
        <p:nvPicPr>
          <p:cNvPr id="7" name="Image 0" descr="icons/award.png">    </p:cNvPr>
          <p:cNvPicPr>
            <a:picLocks noChangeAspect="1"/>
          </p:cNvPicPr>
          <p:nvPr/>
        </p:nvPicPr>
        <p:blipFill>
          <a:blip r:embed="rId1"/>
          <a:stretch>
            <a:fillRect/>
          </a:stretch>
        </p:blipFill>
        <p:spPr>
          <a:xfrm>
            <a:off x="886968" y="1847088"/>
            <a:ext cx="219456" cy="219456"/>
          </a:xfrm>
          <a:prstGeom prst="rect">
            <a:avLst/>
          </a:prstGeom>
        </p:spPr>
      </p:pic>
      <p:sp>
        <p:nvSpPr>
          <p:cNvPr id="8" name="Text 5"/>
          <p:cNvSpPr/>
          <p:nvPr/>
        </p:nvSpPr>
        <p:spPr>
          <a:xfrm>
            <a:off x="768096" y="2331720"/>
            <a:ext cx="3076346" cy="457200"/>
          </a:xfrm>
          <a:prstGeom prst="rect">
            <a:avLst/>
          </a:prstGeom>
          <a:noFill/>
          <a:ln/>
        </p:spPr>
        <p:txBody>
          <a:bodyPr wrap="square" rtlCol="0" anchor="ctr"/>
          <a:lstStyle/>
          <a:p>
            <a:pPr indent="0" marL="0">
              <a:lnSpc>
                <a:spcPct val="110000"/>
              </a:lnSpc>
              <a:buNone/>
            </a:pPr>
            <a:r>
              <a:rPr lang="en-US" sz="1350" b="1" dirty="0">
                <a:solidFill>
                  <a:srgbClr val="0D2B3E"/>
                </a:solidFill>
                <a:latin typeface="Century Schoolbook" pitchFamily="34" charset="0"/>
                <a:ea typeface="Century Schoolbook" pitchFamily="34" charset="-122"/>
                <a:cs typeface="Century Schoolbook" pitchFamily="34" charset="-120"/>
              </a:rPr>
              <a:t>Thống lĩnh ngành hàng</a:t>
            </a:r>
            <a:endParaRPr lang="en-US" sz="1350" dirty="0"/>
          </a:p>
        </p:txBody>
      </p:sp>
      <p:sp>
        <p:nvSpPr>
          <p:cNvPr id="9" name="Text 6"/>
          <p:cNvSpPr/>
          <p:nvPr/>
        </p:nvSpPr>
        <p:spPr>
          <a:xfrm>
            <a:off x="768096" y="2770632"/>
            <a:ext cx="3076346" cy="822960"/>
          </a:xfrm>
          <a:prstGeom prst="rect">
            <a:avLst/>
          </a:prstGeom>
          <a:noFill/>
          <a:ln/>
        </p:spPr>
        <p:txBody>
          <a:bodyPr wrap="square" rtlCol="0" anchor="ctr"/>
          <a:lstStyle/>
          <a:p>
            <a:pPr indent="0" marL="0">
              <a:lnSpc>
                <a:spcPct val="125000"/>
              </a:lnSpc>
              <a:buNone/>
            </a:pPr>
            <a:r>
              <a:rPr lang="en-US" sz="950" dirty="0">
                <a:solidFill>
                  <a:srgbClr val="5B6B76"/>
                </a:solidFill>
                <a:latin typeface="Arial" pitchFamily="34" charset="0"/>
                <a:ea typeface="Arial" pitchFamily="34" charset="-122"/>
                <a:cs typeface="Arial" pitchFamily="34" charset="-120"/>
              </a:rPr>
              <a:t>Kami Ely xếp #1/300 nhà bán theo GMV, chiếm 64%–86% thị phần trong các bảng xếp hạng ngành hàng.</a:t>
            </a:r>
            <a:endParaRPr lang="en-US" sz="950" dirty="0"/>
          </a:p>
        </p:txBody>
      </p:sp>
      <p:sp>
        <p:nvSpPr>
          <p:cNvPr id="10" name="Shape 7"/>
          <p:cNvSpPr/>
          <p:nvPr/>
        </p:nvSpPr>
        <p:spPr>
          <a:xfrm>
            <a:off x="4338218" y="1508760"/>
            <a:ext cx="3515258" cy="2148840"/>
          </a:xfrm>
          <a:prstGeom prst="rect">
            <a:avLst/>
          </a:prstGeom>
          <a:solidFill>
            <a:srgbClr val="F7F8FA"/>
          </a:solidFill>
          <a:ln w="9525">
            <a:solidFill>
              <a:srgbClr val="E4E8EC"/>
            </a:solidFill>
            <a:prstDash val="solid"/>
          </a:ln>
        </p:spPr>
      </p:sp>
      <p:sp>
        <p:nvSpPr>
          <p:cNvPr id="11" name="Shape 8"/>
          <p:cNvSpPr/>
          <p:nvPr/>
        </p:nvSpPr>
        <p:spPr>
          <a:xfrm>
            <a:off x="4557674" y="1728216"/>
            <a:ext cx="457200" cy="457200"/>
          </a:xfrm>
          <a:prstGeom prst="ellipse">
            <a:avLst/>
          </a:prstGeom>
          <a:solidFill>
            <a:srgbClr val="0D2B3E"/>
          </a:solidFill>
          <a:ln/>
        </p:spPr>
      </p:sp>
      <p:pic>
        <p:nvPicPr>
          <p:cNvPr id="12" name="Image 1" descr="icons/radio.png">    </p:cNvPr>
          <p:cNvPicPr>
            <a:picLocks noChangeAspect="1"/>
          </p:cNvPicPr>
          <p:nvPr/>
        </p:nvPicPr>
        <p:blipFill>
          <a:blip r:embed="rId2"/>
          <a:stretch>
            <a:fillRect/>
          </a:stretch>
        </p:blipFill>
        <p:spPr>
          <a:xfrm>
            <a:off x="4676546" y="1847088"/>
            <a:ext cx="219456" cy="219456"/>
          </a:xfrm>
          <a:prstGeom prst="rect">
            <a:avLst/>
          </a:prstGeom>
        </p:spPr>
      </p:pic>
      <p:sp>
        <p:nvSpPr>
          <p:cNvPr id="13" name="Text 9"/>
          <p:cNvSpPr/>
          <p:nvPr/>
        </p:nvSpPr>
        <p:spPr>
          <a:xfrm>
            <a:off x="4557674" y="2331720"/>
            <a:ext cx="3076346" cy="457200"/>
          </a:xfrm>
          <a:prstGeom prst="rect">
            <a:avLst/>
          </a:prstGeom>
          <a:noFill/>
          <a:ln/>
        </p:spPr>
        <p:txBody>
          <a:bodyPr wrap="square" rtlCol="0" anchor="ctr"/>
          <a:lstStyle/>
          <a:p>
            <a:pPr indent="0" marL="0">
              <a:lnSpc>
                <a:spcPct val="110000"/>
              </a:lnSpc>
              <a:buNone/>
            </a:pPr>
            <a:r>
              <a:rPr lang="en-US" sz="1350" b="1" dirty="0">
                <a:solidFill>
                  <a:srgbClr val="0D2B3E"/>
                </a:solidFill>
                <a:latin typeface="Century Schoolbook" pitchFamily="34" charset="0"/>
                <a:ea typeface="Century Schoolbook" pitchFamily="34" charset="-122"/>
                <a:cs typeface="Century Schoolbook" pitchFamily="34" charset="-120"/>
              </a:rPr>
              <a:t>LIVE là động cơ tăng trưởng chính</a:t>
            </a:r>
            <a:endParaRPr lang="en-US" sz="1350" dirty="0"/>
          </a:p>
        </p:txBody>
      </p:sp>
      <p:sp>
        <p:nvSpPr>
          <p:cNvPr id="14" name="Text 10"/>
          <p:cNvSpPr/>
          <p:nvPr/>
        </p:nvSpPr>
        <p:spPr>
          <a:xfrm>
            <a:off x="4557674" y="2770632"/>
            <a:ext cx="3076346" cy="822960"/>
          </a:xfrm>
          <a:prstGeom prst="rect">
            <a:avLst/>
          </a:prstGeom>
          <a:noFill/>
          <a:ln/>
        </p:spPr>
        <p:txBody>
          <a:bodyPr wrap="square" rtlCol="0" anchor="ctr"/>
          <a:lstStyle/>
          <a:p>
            <a:pPr indent="0" marL="0">
              <a:lnSpc>
                <a:spcPct val="125000"/>
              </a:lnSpc>
              <a:buNone/>
            </a:pPr>
            <a:r>
              <a:rPr lang="en-US" sz="950" dirty="0">
                <a:solidFill>
                  <a:srgbClr val="5B6B76"/>
                </a:solidFill>
                <a:latin typeface="Arial" pitchFamily="34" charset="0"/>
                <a:ea typeface="Arial" pitchFamily="34" charset="-122"/>
                <a:cs typeface="Arial" pitchFamily="34" charset="-120"/>
              </a:rPr>
              <a:t>74% GMV &amp; 82% sản lượng đến từ Shop LIVE tự vận hành — không dùng Affiliate LIVE.</a:t>
            </a:r>
            <a:endParaRPr lang="en-US" sz="950" dirty="0"/>
          </a:p>
        </p:txBody>
      </p:sp>
      <p:sp>
        <p:nvSpPr>
          <p:cNvPr id="15" name="Shape 11"/>
          <p:cNvSpPr/>
          <p:nvPr/>
        </p:nvSpPr>
        <p:spPr>
          <a:xfrm>
            <a:off x="8127797" y="1508760"/>
            <a:ext cx="3515258" cy="2148840"/>
          </a:xfrm>
          <a:prstGeom prst="rect">
            <a:avLst/>
          </a:prstGeom>
          <a:solidFill>
            <a:srgbClr val="F7F8FA"/>
          </a:solidFill>
          <a:ln w="9525">
            <a:solidFill>
              <a:srgbClr val="E4E8EC"/>
            </a:solidFill>
            <a:prstDash val="solid"/>
          </a:ln>
        </p:spPr>
      </p:sp>
      <p:sp>
        <p:nvSpPr>
          <p:cNvPr id="16" name="Shape 12"/>
          <p:cNvSpPr/>
          <p:nvPr/>
        </p:nvSpPr>
        <p:spPr>
          <a:xfrm>
            <a:off x="8347253" y="1728216"/>
            <a:ext cx="457200" cy="457200"/>
          </a:xfrm>
          <a:prstGeom prst="ellipse">
            <a:avLst/>
          </a:prstGeom>
          <a:solidFill>
            <a:srgbClr val="E14F30"/>
          </a:solidFill>
          <a:ln/>
        </p:spPr>
      </p:sp>
      <p:pic>
        <p:nvPicPr>
          <p:cNvPr id="17" name="Image 2" descr="icons/alert.png">    </p:cNvPr>
          <p:cNvPicPr>
            <a:picLocks noChangeAspect="1"/>
          </p:cNvPicPr>
          <p:nvPr/>
        </p:nvPicPr>
        <p:blipFill>
          <a:blip r:embed="rId3"/>
          <a:stretch>
            <a:fillRect/>
          </a:stretch>
        </p:blipFill>
        <p:spPr>
          <a:xfrm>
            <a:off x="8466125" y="1847088"/>
            <a:ext cx="219456" cy="219456"/>
          </a:xfrm>
          <a:prstGeom prst="rect">
            <a:avLst/>
          </a:prstGeom>
        </p:spPr>
      </p:pic>
      <p:sp>
        <p:nvSpPr>
          <p:cNvPr id="18" name="Text 13"/>
          <p:cNvSpPr/>
          <p:nvPr/>
        </p:nvSpPr>
        <p:spPr>
          <a:xfrm>
            <a:off x="8347253" y="2331720"/>
            <a:ext cx="3076346" cy="457200"/>
          </a:xfrm>
          <a:prstGeom prst="rect">
            <a:avLst/>
          </a:prstGeom>
          <a:noFill/>
          <a:ln/>
        </p:spPr>
        <p:txBody>
          <a:bodyPr wrap="square" rtlCol="0" anchor="ctr"/>
          <a:lstStyle/>
          <a:p>
            <a:pPr indent="0" marL="0">
              <a:lnSpc>
                <a:spcPct val="110000"/>
              </a:lnSpc>
              <a:buNone/>
            </a:pPr>
            <a:r>
              <a:rPr lang="en-US" sz="1350" b="1" dirty="0">
                <a:solidFill>
                  <a:srgbClr val="0D2B3E"/>
                </a:solidFill>
                <a:latin typeface="Century Schoolbook" pitchFamily="34" charset="0"/>
                <a:ea typeface="Century Schoolbook" pitchFamily="34" charset="-122"/>
                <a:cs typeface="Century Schoolbook" pitchFamily="34" charset="-120"/>
              </a:rPr>
              <a:t>Rủi ro suy giảm khả năng tiếp cận</a:t>
            </a:r>
            <a:endParaRPr lang="en-US" sz="1350" dirty="0"/>
          </a:p>
        </p:txBody>
      </p:sp>
      <p:sp>
        <p:nvSpPr>
          <p:cNvPr id="19" name="Text 14"/>
          <p:cNvSpPr/>
          <p:nvPr/>
        </p:nvSpPr>
        <p:spPr>
          <a:xfrm>
            <a:off x="8347253" y="2770632"/>
            <a:ext cx="3076346" cy="822960"/>
          </a:xfrm>
          <a:prstGeom prst="rect">
            <a:avLst/>
          </a:prstGeom>
          <a:noFill/>
          <a:ln/>
        </p:spPr>
        <p:txBody>
          <a:bodyPr wrap="square" rtlCol="0" anchor="ctr"/>
          <a:lstStyle/>
          <a:p>
            <a:pPr indent="0" marL="0">
              <a:lnSpc>
                <a:spcPct val="125000"/>
              </a:lnSpc>
              <a:buNone/>
            </a:pPr>
            <a:r>
              <a:rPr lang="en-US" sz="950" dirty="0">
                <a:solidFill>
                  <a:srgbClr val="5B6B76"/>
                </a:solidFill>
                <a:latin typeface="Arial" pitchFamily="34" charset="0"/>
                <a:ea typeface="Arial" pitchFamily="34" charset="-122"/>
                <a:cs typeface="Arial" pitchFamily="34" charset="-120"/>
              </a:rPr>
              <a:t>GMV TB/phiên LIVE giảm 97% từ đỉnh đến cuối kỳ dù tần suất phát không giảm — cần điều tra nguyên nhân reach.</a:t>
            </a:r>
            <a:endParaRPr lang="en-US" sz="950" dirty="0"/>
          </a:p>
        </p:txBody>
      </p:sp>
      <p:sp>
        <p:nvSpPr>
          <p:cNvPr id="20" name="Shape 15"/>
          <p:cNvSpPr/>
          <p:nvPr/>
        </p:nvSpPr>
        <p:spPr>
          <a:xfrm>
            <a:off x="548640" y="3931920"/>
            <a:ext cx="3515258" cy="2148840"/>
          </a:xfrm>
          <a:prstGeom prst="rect">
            <a:avLst/>
          </a:prstGeom>
          <a:solidFill>
            <a:srgbClr val="F7F8FA"/>
          </a:solidFill>
          <a:ln w="9525">
            <a:solidFill>
              <a:srgbClr val="E4E8EC"/>
            </a:solidFill>
            <a:prstDash val="solid"/>
          </a:ln>
        </p:spPr>
      </p:sp>
      <p:sp>
        <p:nvSpPr>
          <p:cNvPr id="21" name="Shape 16"/>
          <p:cNvSpPr/>
          <p:nvPr/>
        </p:nvSpPr>
        <p:spPr>
          <a:xfrm>
            <a:off x="768096" y="4151376"/>
            <a:ext cx="457200" cy="457200"/>
          </a:xfrm>
          <a:prstGeom prst="ellipse">
            <a:avLst/>
          </a:prstGeom>
          <a:solidFill>
            <a:srgbClr val="1FA9A0"/>
          </a:solidFill>
          <a:ln/>
        </p:spPr>
      </p:sp>
      <p:pic>
        <p:nvPicPr>
          <p:cNvPr id="22" name="Image 3" descr="icons/users.png">    </p:cNvPr>
          <p:cNvPicPr>
            <a:picLocks noChangeAspect="1"/>
          </p:cNvPicPr>
          <p:nvPr/>
        </p:nvPicPr>
        <p:blipFill>
          <a:blip r:embed="rId4"/>
          <a:stretch>
            <a:fillRect/>
          </a:stretch>
        </p:blipFill>
        <p:spPr>
          <a:xfrm>
            <a:off x="886968" y="4270248"/>
            <a:ext cx="219456" cy="219456"/>
          </a:xfrm>
          <a:prstGeom prst="rect">
            <a:avLst/>
          </a:prstGeom>
        </p:spPr>
      </p:pic>
      <p:sp>
        <p:nvSpPr>
          <p:cNvPr id="23" name="Text 17"/>
          <p:cNvSpPr/>
          <p:nvPr/>
        </p:nvSpPr>
        <p:spPr>
          <a:xfrm>
            <a:off x="768096" y="4754880"/>
            <a:ext cx="3076346" cy="457200"/>
          </a:xfrm>
          <a:prstGeom prst="rect">
            <a:avLst/>
          </a:prstGeom>
          <a:noFill/>
          <a:ln/>
        </p:spPr>
        <p:txBody>
          <a:bodyPr wrap="square" rtlCol="0" anchor="ctr"/>
          <a:lstStyle/>
          <a:p>
            <a:pPr indent="0" marL="0">
              <a:lnSpc>
                <a:spcPct val="110000"/>
              </a:lnSpc>
              <a:buNone/>
            </a:pPr>
            <a:r>
              <a:rPr lang="en-US" sz="1350" b="1" dirty="0">
                <a:solidFill>
                  <a:srgbClr val="0D2B3E"/>
                </a:solidFill>
                <a:latin typeface="Century Schoolbook" pitchFamily="34" charset="0"/>
                <a:ea typeface="Century Schoolbook" pitchFamily="34" charset="-122"/>
                <a:cs typeface="Century Schoolbook" pitchFamily="34" charset="-120"/>
              </a:rPr>
              <a:t>Đòn bẩy từ nhà sáng tạo bên ngoài</a:t>
            </a:r>
            <a:endParaRPr lang="en-US" sz="1350" dirty="0"/>
          </a:p>
        </p:txBody>
      </p:sp>
      <p:sp>
        <p:nvSpPr>
          <p:cNvPr id="24" name="Text 18"/>
          <p:cNvSpPr/>
          <p:nvPr/>
        </p:nvSpPr>
        <p:spPr>
          <a:xfrm>
            <a:off x="768096" y="5193792"/>
            <a:ext cx="3076346" cy="822960"/>
          </a:xfrm>
          <a:prstGeom prst="rect">
            <a:avLst/>
          </a:prstGeom>
          <a:noFill/>
          <a:ln/>
        </p:spPr>
        <p:txBody>
          <a:bodyPr wrap="square" rtlCol="0" anchor="ctr"/>
          <a:lstStyle/>
          <a:p>
            <a:pPr indent="0" marL="0">
              <a:lnSpc>
                <a:spcPct val="125000"/>
              </a:lnSpc>
              <a:buNone/>
            </a:pPr>
            <a:r>
              <a:rPr lang="en-US" sz="950" dirty="0">
                <a:solidFill>
                  <a:srgbClr val="5B6B76"/>
                </a:solidFill>
                <a:latin typeface="Arial" pitchFamily="34" charset="0"/>
                <a:ea typeface="Arial" pitchFamily="34" charset="-122"/>
                <a:cs typeface="Arial" pitchFamily="34" charset="-120"/>
              </a:rPr>
              <a:t>60% GMV trong nhóm video mua sắm hàng đầu đến từ 126 nhà sáng tạo bên ngoài — dư địa mở rộng affiliate.</a:t>
            </a:r>
            <a:endParaRPr lang="en-US" sz="950" dirty="0"/>
          </a:p>
        </p:txBody>
      </p:sp>
      <p:sp>
        <p:nvSpPr>
          <p:cNvPr id="25" name="Shape 19"/>
          <p:cNvSpPr/>
          <p:nvPr/>
        </p:nvSpPr>
        <p:spPr>
          <a:xfrm>
            <a:off x="4338218" y="3931920"/>
            <a:ext cx="3515258" cy="2148840"/>
          </a:xfrm>
          <a:prstGeom prst="rect">
            <a:avLst/>
          </a:prstGeom>
          <a:solidFill>
            <a:srgbClr val="F7F8FA"/>
          </a:solidFill>
          <a:ln w="9525">
            <a:solidFill>
              <a:srgbClr val="E4E8EC"/>
            </a:solidFill>
            <a:prstDash val="solid"/>
          </a:ln>
        </p:spPr>
      </p:sp>
      <p:sp>
        <p:nvSpPr>
          <p:cNvPr id="26" name="Shape 20"/>
          <p:cNvSpPr/>
          <p:nvPr/>
        </p:nvSpPr>
        <p:spPr>
          <a:xfrm>
            <a:off x="4557674" y="4151376"/>
            <a:ext cx="457200" cy="457200"/>
          </a:xfrm>
          <a:prstGeom prst="ellipse">
            <a:avLst/>
          </a:prstGeom>
          <a:solidFill>
            <a:srgbClr val="F2B84B"/>
          </a:solidFill>
          <a:ln/>
        </p:spPr>
      </p:sp>
      <p:pic>
        <p:nvPicPr>
          <p:cNvPr id="27" name="Image 4" descr="icons/trending.png">    </p:cNvPr>
          <p:cNvPicPr>
            <a:picLocks noChangeAspect="1"/>
          </p:cNvPicPr>
          <p:nvPr/>
        </p:nvPicPr>
        <p:blipFill>
          <a:blip r:embed="rId5"/>
          <a:stretch>
            <a:fillRect/>
          </a:stretch>
        </p:blipFill>
        <p:spPr>
          <a:xfrm>
            <a:off x="4676546" y="4270248"/>
            <a:ext cx="219456" cy="219456"/>
          </a:xfrm>
          <a:prstGeom prst="rect">
            <a:avLst/>
          </a:prstGeom>
        </p:spPr>
      </p:pic>
      <p:sp>
        <p:nvSpPr>
          <p:cNvPr id="28" name="Text 21"/>
          <p:cNvSpPr/>
          <p:nvPr/>
        </p:nvSpPr>
        <p:spPr>
          <a:xfrm>
            <a:off x="4557674" y="4754880"/>
            <a:ext cx="3076346" cy="457200"/>
          </a:xfrm>
          <a:prstGeom prst="rect">
            <a:avLst/>
          </a:prstGeom>
          <a:noFill/>
          <a:ln/>
        </p:spPr>
        <p:txBody>
          <a:bodyPr wrap="square" rtlCol="0" anchor="ctr"/>
          <a:lstStyle/>
          <a:p>
            <a:pPr indent="0" marL="0">
              <a:lnSpc>
                <a:spcPct val="110000"/>
              </a:lnSpc>
              <a:buNone/>
            </a:pPr>
            <a:r>
              <a:rPr lang="en-US" sz="1350" b="1" dirty="0">
                <a:solidFill>
                  <a:srgbClr val="0D2B3E"/>
                </a:solidFill>
                <a:latin typeface="Century Schoolbook" pitchFamily="34" charset="0"/>
                <a:ea typeface="Century Schoolbook" pitchFamily="34" charset="-122"/>
                <a:cs typeface="Century Schoolbook" pitchFamily="34" charset="-120"/>
              </a:rPr>
              <a:t>Ads khuếch đại hiệu quả nội dung</a:t>
            </a:r>
            <a:endParaRPr lang="en-US" sz="1350" dirty="0"/>
          </a:p>
        </p:txBody>
      </p:sp>
      <p:sp>
        <p:nvSpPr>
          <p:cNvPr id="29" name="Text 22"/>
          <p:cNvSpPr/>
          <p:nvPr/>
        </p:nvSpPr>
        <p:spPr>
          <a:xfrm>
            <a:off x="4557674" y="5193792"/>
            <a:ext cx="3076346" cy="822960"/>
          </a:xfrm>
          <a:prstGeom prst="rect">
            <a:avLst/>
          </a:prstGeom>
          <a:noFill/>
          <a:ln/>
        </p:spPr>
        <p:txBody>
          <a:bodyPr wrap="square" rtlCol="0" anchor="ctr"/>
          <a:lstStyle/>
          <a:p>
            <a:pPr indent="0" marL="0">
              <a:lnSpc>
                <a:spcPct val="125000"/>
              </a:lnSpc>
              <a:buNone/>
            </a:pPr>
            <a:r>
              <a:rPr lang="en-US" sz="950" dirty="0">
                <a:solidFill>
                  <a:srgbClr val="5B6B76"/>
                </a:solidFill>
                <a:latin typeface="Arial" pitchFamily="34" charset="0"/>
                <a:ea typeface="Arial" pitchFamily="34" charset="-122"/>
                <a:cs typeface="Arial" pitchFamily="34" charset="-120"/>
              </a:rPr>
              <a:t>Video có chạy Ads đạt lượt xem TB cao hơn đáng kể và chiếm phần lớn tổng GMV nhóm — ngân sách quảng cáo đang hiệu quả.</a:t>
            </a:r>
            <a:endParaRPr lang="en-US" sz="950" dirty="0"/>
          </a:p>
        </p:txBody>
      </p:sp>
      <p:sp>
        <p:nvSpPr>
          <p:cNvPr id="30" name="Shape 23"/>
          <p:cNvSpPr/>
          <p:nvPr/>
        </p:nvSpPr>
        <p:spPr>
          <a:xfrm>
            <a:off x="8127797" y="3931920"/>
            <a:ext cx="3515258" cy="2148840"/>
          </a:xfrm>
          <a:prstGeom prst="rect">
            <a:avLst/>
          </a:prstGeom>
          <a:solidFill>
            <a:srgbClr val="F7F8FA"/>
          </a:solidFill>
          <a:ln w="9525">
            <a:solidFill>
              <a:srgbClr val="E4E8EC"/>
            </a:solidFill>
            <a:prstDash val="solid"/>
          </a:ln>
        </p:spPr>
      </p:sp>
      <p:sp>
        <p:nvSpPr>
          <p:cNvPr id="31" name="Shape 24"/>
          <p:cNvSpPr/>
          <p:nvPr/>
        </p:nvSpPr>
        <p:spPr>
          <a:xfrm>
            <a:off x="8347253" y="4151376"/>
            <a:ext cx="457200" cy="457200"/>
          </a:xfrm>
          <a:prstGeom prst="ellipse">
            <a:avLst/>
          </a:prstGeom>
          <a:solidFill>
            <a:srgbClr val="8B6FC9"/>
          </a:solidFill>
          <a:ln/>
        </p:spPr>
      </p:sp>
      <p:pic>
        <p:nvPicPr>
          <p:cNvPr id="32" name="Image 5" descr="icons/eye.png">    </p:cNvPr>
          <p:cNvPicPr>
            <a:picLocks noChangeAspect="1"/>
          </p:cNvPicPr>
          <p:nvPr/>
        </p:nvPicPr>
        <p:blipFill>
          <a:blip r:embed="rId6"/>
          <a:stretch>
            <a:fillRect/>
          </a:stretch>
        </p:blipFill>
        <p:spPr>
          <a:xfrm>
            <a:off x="8466125" y="4270248"/>
            <a:ext cx="219456" cy="219456"/>
          </a:xfrm>
          <a:prstGeom prst="rect">
            <a:avLst/>
          </a:prstGeom>
        </p:spPr>
      </p:pic>
      <p:sp>
        <p:nvSpPr>
          <p:cNvPr id="33" name="Text 25"/>
          <p:cNvSpPr/>
          <p:nvPr/>
        </p:nvSpPr>
        <p:spPr>
          <a:xfrm>
            <a:off x="8347253" y="4754880"/>
            <a:ext cx="3076346" cy="457200"/>
          </a:xfrm>
          <a:prstGeom prst="rect">
            <a:avLst/>
          </a:prstGeom>
          <a:noFill/>
          <a:ln/>
        </p:spPr>
        <p:txBody>
          <a:bodyPr wrap="square" rtlCol="0" anchor="ctr"/>
          <a:lstStyle/>
          <a:p>
            <a:pPr indent="0" marL="0">
              <a:lnSpc>
                <a:spcPct val="110000"/>
              </a:lnSpc>
              <a:buNone/>
            </a:pPr>
            <a:r>
              <a:rPr lang="en-US" sz="1350" b="1" dirty="0">
                <a:solidFill>
                  <a:srgbClr val="0D2B3E"/>
                </a:solidFill>
                <a:latin typeface="Century Schoolbook" pitchFamily="34" charset="0"/>
                <a:ea typeface="Century Schoolbook" pitchFamily="34" charset="-122"/>
                <a:cs typeface="Century Schoolbook" pitchFamily="34" charset="-120"/>
              </a:rPr>
              <a:t>Cảnh giác hàng nhái, mượn thương hiệu</a:t>
            </a:r>
            <a:endParaRPr lang="en-US" sz="1350" dirty="0"/>
          </a:p>
        </p:txBody>
      </p:sp>
      <p:sp>
        <p:nvSpPr>
          <p:cNvPr id="34" name="Text 26"/>
          <p:cNvSpPr/>
          <p:nvPr/>
        </p:nvSpPr>
        <p:spPr>
          <a:xfrm>
            <a:off x="8347253" y="5193792"/>
            <a:ext cx="3076346" cy="822960"/>
          </a:xfrm>
          <a:prstGeom prst="rect">
            <a:avLst/>
          </a:prstGeom>
          <a:noFill/>
          <a:ln/>
        </p:spPr>
        <p:txBody>
          <a:bodyPr wrap="square" rtlCol="0" anchor="ctr"/>
          <a:lstStyle/>
          <a:p>
            <a:pPr indent="0" marL="0">
              <a:lnSpc>
                <a:spcPct val="125000"/>
              </a:lnSpc>
              <a:buNone/>
            </a:pPr>
            <a:r>
              <a:rPr lang="en-US" sz="950" dirty="0">
                <a:solidFill>
                  <a:srgbClr val="5B6B76"/>
                </a:solidFill>
                <a:latin typeface="Arial" pitchFamily="34" charset="0"/>
                <a:ea typeface="Arial" pitchFamily="34" charset="-122"/>
                <a:cs typeface="Arial" pitchFamily="34" charset="-120"/>
              </a:rPr>
              <a:t>Sản phẩm gắn tên "KAMI ELY" xuất hiện trong top ngành hàng nhưng thuộc gian hàng khác — cần giám sát &amp; bảo hộ thương hiệu.</a:t>
            </a:r>
            <a:endParaRPr lang="en-US" sz="950" dirty="0"/>
          </a:p>
        </p:txBody>
      </p:sp>
      <p:sp>
        <p:nvSpPr>
          <p:cNvPr id="35" name="Text 27"/>
          <p:cNvSpPr/>
          <p:nvPr/>
        </p:nvSpPr>
        <p:spPr>
          <a:xfrm>
            <a:off x="548640" y="6473952"/>
            <a:ext cx="6400800" cy="274320"/>
          </a:xfrm>
          <a:prstGeom prst="rect">
            <a:avLst/>
          </a:prstGeom>
          <a:noFill/>
          <a:ln/>
        </p:spPr>
        <p:txBody>
          <a:bodyPr wrap="square" rtlCol="0" anchor="ctr"/>
          <a:lstStyle/>
          <a:p>
            <a:pPr algn="l" indent="0" marL="0">
              <a:buNone/>
            </a:pPr>
            <a:r>
              <a:rPr lang="en-US" sz="850" spc="50" kern="0" dirty="0">
                <a:solidFill>
                  <a:srgbClr val="8A97A0"/>
                </a:solidFill>
                <a:latin typeface="Arial" pitchFamily="34" charset="0"/>
                <a:ea typeface="Arial" pitchFamily="34" charset="-122"/>
                <a:cs typeface="Arial" pitchFamily="34" charset="-120"/>
              </a:rPr>
              <a:t>KAMI ELY  ·  TIKTOK SHOP PERFORMANCE ANALYTICS</a:t>
            </a:r>
            <a:endParaRPr lang="en-US" sz="850" dirty="0"/>
          </a:p>
        </p:txBody>
      </p:sp>
      <p:sp>
        <p:nvSpPr>
          <p:cNvPr id="36" name="Text 28"/>
          <p:cNvSpPr/>
          <p:nvPr/>
        </p:nvSpPr>
        <p:spPr>
          <a:xfrm>
            <a:off x="10728655" y="6473952"/>
            <a:ext cx="914400" cy="274320"/>
          </a:xfrm>
          <a:prstGeom prst="rect">
            <a:avLst/>
          </a:prstGeom>
          <a:noFill/>
          <a:ln/>
        </p:spPr>
        <p:txBody>
          <a:bodyPr wrap="square" rtlCol="0" anchor="ctr"/>
          <a:lstStyle/>
          <a:p>
            <a:pPr algn="r" indent="0" marL="0">
              <a:buNone/>
            </a:pPr>
            <a:r>
              <a:rPr lang="en-US" sz="850" dirty="0">
                <a:solidFill>
                  <a:srgbClr val="8A97A0"/>
                </a:solidFill>
                <a:latin typeface="Arial" pitchFamily="34" charset="0"/>
                <a:ea typeface="Arial" pitchFamily="34" charset="-122"/>
                <a:cs typeface="Arial"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1C29"/>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D2B3E">
              <a:alpha val="70000"/>
            </a:srgbClr>
          </a:solidFill>
          <a:ln/>
        </p:spPr>
      </p:sp>
      <p:sp>
        <p:nvSpPr>
          <p:cNvPr id="3" name="Shape 1"/>
          <p:cNvSpPr/>
          <p:nvPr/>
        </p:nvSpPr>
        <p:spPr>
          <a:xfrm>
            <a:off x="-2286000" y="3200400"/>
            <a:ext cx="5943600" cy="5943600"/>
          </a:xfrm>
          <a:prstGeom prst="ellipse">
            <a:avLst/>
          </a:prstGeom>
          <a:solidFill>
            <a:srgbClr val="FF6B4A">
              <a:alpha val="11000"/>
            </a:srgbClr>
          </a:solidFill>
          <a:ln/>
        </p:spPr>
      </p:sp>
      <p:sp>
        <p:nvSpPr>
          <p:cNvPr id="4" name="Shape 2"/>
          <p:cNvSpPr/>
          <p:nvPr/>
        </p:nvSpPr>
        <p:spPr>
          <a:xfrm>
            <a:off x="548640" y="2372868"/>
            <a:ext cx="91440" cy="91440"/>
          </a:xfrm>
          <a:prstGeom prst="ellipse">
            <a:avLst/>
          </a:prstGeom>
          <a:solidFill>
            <a:srgbClr val="FF6B4A"/>
          </a:solidFill>
          <a:ln/>
        </p:spPr>
      </p:sp>
      <p:sp>
        <p:nvSpPr>
          <p:cNvPr id="5" name="Text 3"/>
          <p:cNvSpPr/>
          <p:nvPr/>
        </p:nvSpPr>
        <p:spPr>
          <a:xfrm>
            <a:off x="713232" y="2286000"/>
            <a:ext cx="7315200" cy="228600"/>
          </a:xfrm>
          <a:prstGeom prst="rect">
            <a:avLst/>
          </a:prstGeom>
          <a:noFill/>
          <a:ln/>
        </p:spPr>
        <p:txBody>
          <a:bodyPr wrap="square" rtlCol="0" anchor="ctr"/>
          <a:lstStyle/>
          <a:p>
            <a:pPr algn="l" indent="0" marL="0">
              <a:buNone/>
            </a:pPr>
            <a:r>
              <a:rPr lang="en-US" sz="1100" b="1" spc="120" kern="0" dirty="0">
                <a:solidFill>
                  <a:srgbClr val="FF6B4A"/>
                </a:solidFill>
                <a:latin typeface="Arial" pitchFamily="34" charset="0"/>
                <a:ea typeface="Arial" pitchFamily="34" charset="-122"/>
                <a:cs typeface="Arial" pitchFamily="34" charset="-120"/>
              </a:rPr>
              <a:t>CẢM ƠN ĐÃ THEO DÕI</a:t>
            </a:r>
            <a:endParaRPr lang="en-US" sz="1100" dirty="0"/>
          </a:p>
        </p:txBody>
      </p:sp>
      <p:sp>
        <p:nvSpPr>
          <p:cNvPr id="6" name="Text 4"/>
          <p:cNvSpPr/>
          <p:nvPr/>
        </p:nvSpPr>
        <p:spPr>
          <a:xfrm>
            <a:off x="548640" y="2743200"/>
            <a:ext cx="9601200" cy="1463040"/>
          </a:xfrm>
          <a:prstGeom prst="rect">
            <a:avLst/>
          </a:prstGeom>
          <a:noFill/>
          <a:ln/>
        </p:spPr>
        <p:txBody>
          <a:bodyPr wrap="square" rtlCol="0" anchor="ctr"/>
          <a:lstStyle/>
          <a:p>
            <a:pPr indent="0" marL="0">
              <a:lnSpc>
                <a:spcPct val="112000"/>
              </a:lnSpc>
              <a:buNone/>
            </a:pPr>
            <a:r>
              <a:rPr lang="en-US" sz="3400" b="1" dirty="0">
                <a:solidFill>
                  <a:srgbClr val="FFFFFF"/>
                </a:solidFill>
                <a:latin typeface="Century Schoolbook" pitchFamily="34" charset="0"/>
                <a:ea typeface="Century Schoolbook" pitchFamily="34" charset="-122"/>
                <a:cs typeface="Century Schoolbook" pitchFamily="34" charset="-120"/>
              </a:rPr>
              <a:t>Dữ liệu kể một câu chuyện —</a:t>
            </a:r>
            <a:endParaRPr lang="en-US" sz="3400" dirty="0"/>
          </a:p>
          <a:p>
            <a:pPr indent="0" marL="0">
              <a:lnSpc>
                <a:spcPct val="112000"/>
              </a:lnSpc>
              <a:buNone/>
            </a:pPr>
            <a:r>
              <a:rPr lang="en-US" sz="3400" b="1" dirty="0">
                <a:solidFill>
                  <a:srgbClr val="FFFFFF"/>
                </a:solidFill>
                <a:latin typeface="Century Schoolbook" pitchFamily="34" charset="0"/>
                <a:ea typeface="Century Schoolbook" pitchFamily="34" charset="-122"/>
                <a:cs typeface="Century Schoolbook" pitchFamily="34" charset="-120"/>
              </a:rPr>
              <a:t>nhiệm vụ là lắng nghe đúng.</a:t>
            </a:r>
            <a:endParaRPr lang="en-US" sz="3400" dirty="0"/>
          </a:p>
        </p:txBody>
      </p:sp>
      <p:sp>
        <p:nvSpPr>
          <p:cNvPr id="7" name="Text 5"/>
          <p:cNvSpPr/>
          <p:nvPr/>
        </p:nvSpPr>
        <p:spPr>
          <a:xfrm>
            <a:off x="548640" y="4343400"/>
            <a:ext cx="8229600" cy="457200"/>
          </a:xfrm>
          <a:prstGeom prst="rect">
            <a:avLst/>
          </a:prstGeom>
          <a:noFill/>
          <a:ln/>
        </p:spPr>
        <p:txBody>
          <a:bodyPr wrap="square" rtlCol="0" anchor="ctr"/>
          <a:lstStyle/>
          <a:p>
            <a:pPr indent="0" marL="0">
              <a:buNone/>
            </a:pPr>
            <a:r>
              <a:rPr lang="en-US" sz="1250" dirty="0">
                <a:solidFill>
                  <a:srgbClr val="B8C6CE"/>
                </a:solidFill>
                <a:latin typeface="Arial" pitchFamily="34" charset="0"/>
                <a:ea typeface="Arial" pitchFamily="34" charset="-122"/>
                <a:cs typeface="Arial" pitchFamily="34" charset="-120"/>
              </a:rPr>
              <a:t>Dự án phân tích dữ liệu cá nhân, thực hiện trên dữ liệu hiệu suất TikTok Shop của gian hàng Kami Ely (nguồn: FastMoss, 20/08/2026).</a:t>
            </a:r>
            <a:endParaRPr lang="en-US" sz="1250" dirty="0"/>
          </a:p>
        </p:txBody>
      </p:sp>
      <p:sp>
        <p:nvSpPr>
          <p:cNvPr id="8" name="Text 6"/>
          <p:cNvSpPr/>
          <p:nvPr/>
        </p:nvSpPr>
        <p:spPr>
          <a:xfrm>
            <a:off x="548640" y="6473952"/>
            <a:ext cx="6400800" cy="274320"/>
          </a:xfrm>
          <a:prstGeom prst="rect">
            <a:avLst/>
          </a:prstGeom>
          <a:noFill/>
          <a:ln/>
        </p:spPr>
        <p:txBody>
          <a:bodyPr wrap="square" rtlCol="0" anchor="ctr"/>
          <a:lstStyle/>
          <a:p>
            <a:pPr algn="l" indent="0" marL="0">
              <a:buNone/>
            </a:pPr>
            <a:r>
              <a:rPr lang="en-US" sz="850" spc="50" kern="0" dirty="0">
                <a:solidFill>
                  <a:srgbClr val="5C7686"/>
                </a:solidFill>
                <a:latin typeface="Arial" pitchFamily="34" charset="0"/>
                <a:ea typeface="Arial" pitchFamily="34" charset="-122"/>
                <a:cs typeface="Arial" pitchFamily="34" charset="-120"/>
              </a:rPr>
              <a:t>KAMI ELY  ·  TIKTOK SHOP PERFORMANCE ANALYTICS</a:t>
            </a:r>
            <a:endParaRPr lang="en-US" sz="850" dirty="0"/>
          </a:p>
        </p:txBody>
      </p:sp>
      <p:sp>
        <p:nvSpPr>
          <p:cNvPr id="9" name="Text 7"/>
          <p:cNvSpPr/>
          <p:nvPr/>
        </p:nvSpPr>
        <p:spPr>
          <a:xfrm>
            <a:off x="10728655" y="6473952"/>
            <a:ext cx="914400" cy="274320"/>
          </a:xfrm>
          <a:prstGeom prst="rect">
            <a:avLst/>
          </a:prstGeom>
          <a:noFill/>
          <a:ln/>
        </p:spPr>
        <p:txBody>
          <a:bodyPr wrap="square" rtlCol="0" anchor="ctr"/>
          <a:lstStyle/>
          <a:p>
            <a:pPr algn="r" indent="0" marL="0">
              <a:buNone/>
            </a:pPr>
            <a:r>
              <a:rPr lang="en-US" sz="850" dirty="0">
                <a:solidFill>
                  <a:srgbClr val="5C7686"/>
                </a:solidFill>
                <a:latin typeface="Arial" pitchFamily="34" charset="0"/>
                <a:ea typeface="Arial" pitchFamily="34" charset="-122"/>
                <a:cs typeface="Arial" pitchFamily="34" charset="-120"/>
              </a:rPr>
              <a:t>13</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2026-08-29T02:18:29Z</dcterms:created>
  <dcterms:modified xsi:type="dcterms:W3CDTF">2026-08-29T02:18:29Z</dcterms:modified>
</cp:coreProperties>
</file>