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01014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40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74"/>
                </a:solidFill>
              </a:defRPr>
            </a:pPr>
            <a:r>
              <a:t>BÁO CÁO KIẾN TRÚC HỆ THỐNG</a:t>
            </a:r>
          </a:p>
          <a:p>
            <a:pPr algn="ctr">
              <a:spcBef>
                <a:spcPts val="1200"/>
              </a:spcBef>
              <a:defRPr sz="3800" b="1">
                <a:solidFill>
                  <a:srgbClr val="F8FAFC"/>
                </a:solidFill>
              </a:defRPr>
            </a:pPr>
            <a:r>
              <a:t>Data Analyst Portfolio</a:t>
            </a:r>
          </a:p>
          <a:p>
            <a:pPr algn="ctr">
              <a:spcBef>
                <a:spcPts val="1000"/>
              </a:spcBef>
              <a:defRPr sz="1600">
                <a:solidFill>
                  <a:srgbClr val="9CA3AF"/>
                </a:solidFill>
              </a:defRPr>
            </a:pPr>
            <a:r>
              <a:t>Nền tảng Phân tích Dữ liệu Toàn diện: Next.js 15 • React 19 • In-browser SQL Engine</a:t>
            </a:r>
          </a:p>
          <a:p>
            <a:pPr algn="ctr">
              <a:spcBef>
                <a:spcPts val="2800"/>
              </a:spcBef>
              <a:defRPr sz="1300" b="1">
                <a:solidFill>
                  <a:srgbClr val="60A5FA"/>
                </a:solidFill>
              </a:defRPr>
            </a:pPr>
            <a:r>
              <a:t>78 Nodes  •  171 Relationships  •  7 Tầng Kiến Trúc Module Chuẩn Hóa</a:t>
            </a:r>
          </a:p>
          <a:p>
            <a:pPr algn="ctr">
              <a:spcBef>
                <a:spcPts val="2000"/>
              </a:spcBef>
              <a:defRPr sz="1200">
                <a:solidFill>
                  <a:srgbClr val="9CA3AF"/>
                </a:solidFill>
              </a:defRPr>
            </a:pPr>
            <a:r>
              <a:t>Người thực hiện: Data Analyst &amp; Software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4A574"/>
                </a:solidFill>
              </a:defRPr>
            </a:pPr>
            <a:r>
              <a:t>DATA ANALYST PORTFOLIO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1. Tổng quan &amp; Tầm nhìn Dự án (Executive Summary)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4A574"/>
                </a:solidFill>
              </a:defRPr>
            </a:pPr>
            <a:r>
              <a:t>BÀI TOÁN &amp; ĐỊNH VỊ SẢN PHẨM</a:t>
            </a:r>
          </a:p>
          <a:p>
            <a:pPr>
              <a:spcBef>
                <a:spcPts val="1400"/>
              </a:spcBef>
              <a:defRPr sz="1300" b="1">
                <a:solidFill>
                  <a:srgbClr val="60A5FA"/>
                </a:solidFill>
              </a:defRPr>
            </a:pPr>
            <a:r>
              <a:t>• Vượt qua giới hạn của CV tĩnh</a:t>
            </a:r>
          </a:p>
          <a:p>
            <a:pPr>
              <a:spcBef>
                <a:spcPts val="200"/>
              </a:spcBef>
              <a:defRPr sz="1150">
                <a:solidFill>
                  <a:srgbClr val="9CA3AF"/>
                </a:solidFill>
              </a:defRPr>
            </a:pPr>
            <a:r>
              <a:t>Thay vì chỉ liệt kê gạch đầu dòng, hệ thống cho phép nhà tuyển dụng tương tác trực tiếp với số liệu và code.</a:t>
            </a:r>
          </a:p>
          <a:p>
            <a:pPr>
              <a:spcBef>
                <a:spcPts val="1400"/>
              </a:spcBef>
              <a:defRPr sz="1300" b="1">
                <a:solidFill>
                  <a:srgbClr val="60A5FA"/>
                </a:solidFill>
              </a:defRPr>
            </a:pPr>
            <a:r>
              <a:t>• Tích hợp công cụ thực nghiệm</a:t>
            </a:r>
          </a:p>
          <a:p>
            <a:pPr>
              <a:spcBef>
                <a:spcPts val="200"/>
              </a:spcBef>
              <a:defRPr sz="1150">
                <a:solidFill>
                  <a:srgbClr val="9CA3AF"/>
                </a:solidFill>
              </a:defRPr>
            </a:pPr>
            <a:r>
              <a:t>Người xem có thể tự tay chạy truy vấn SQL, thay đổi bộ lọc biểu đồ và xuất báo cáo PDF/PNG thời gian thực.</a:t>
            </a:r>
          </a:p>
          <a:p>
            <a:pPr>
              <a:spcBef>
                <a:spcPts val="1400"/>
              </a:spcBef>
              <a:defRPr sz="1300" b="1">
                <a:solidFill>
                  <a:srgbClr val="60A5FA"/>
                </a:solidFill>
              </a:defRPr>
            </a:pPr>
            <a:r>
              <a:t>• Chứng minh năng lực kép</a:t>
            </a:r>
          </a:p>
          <a:p>
            <a:pPr>
              <a:spcBef>
                <a:spcPts val="200"/>
              </a:spcBef>
              <a:defRPr sz="1150">
                <a:solidFill>
                  <a:srgbClr val="9CA3AF"/>
                </a:solidFill>
              </a:defRPr>
            </a:pPr>
            <a:r>
              <a:t>Kết hợp nhuần nhuyễn giữa kỹ năng Khoa học Dữ liệu (Analytics) và tư duy Kỹ thuật Phần mềm (Software Architecture).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3 TRỤ CỘT NĂNG LỰC CỐT LÕI</a:t>
            </a:r>
          </a:p>
          <a:p>
            <a:pPr>
              <a:spcBef>
                <a:spcPts val="1400"/>
              </a:spcBef>
              <a:defRPr sz="1300" b="1">
                <a:solidFill>
                  <a:srgbClr val="FACC15"/>
                </a:solidFill>
              </a:defRPr>
            </a:pPr>
            <a:r>
              <a:t>1. Trực quan hóa tương tác (Data Viz)</a:t>
            </a:r>
          </a:p>
          <a:p>
            <a:pPr>
              <a:spcBef>
                <a:spcPts val="200"/>
              </a:spcBef>
              <a:defRPr sz="1150">
                <a:solidFill>
                  <a:srgbClr val="9CA3AF"/>
                </a:solidFill>
              </a:defRPr>
            </a:pPr>
            <a:r>
              <a:t>Recharts 3.x kết hợp GSAP đem lại trải nghiệm mượt mà trên cả desktop và mobile.</a:t>
            </a:r>
          </a:p>
          <a:p>
            <a:pPr>
              <a:spcBef>
                <a:spcPts val="1400"/>
              </a:spcBef>
              <a:defRPr sz="1300" b="1">
                <a:solidFill>
                  <a:srgbClr val="FACC15"/>
                </a:solidFill>
              </a:defRPr>
            </a:pPr>
            <a:r>
              <a:t>2. Bộ xử lý SQL In-Memory (SQL Engine)</a:t>
            </a:r>
          </a:p>
          <a:p>
            <a:pPr>
              <a:spcBef>
                <a:spcPts val="200"/>
              </a:spcBef>
              <a:defRPr sz="1150">
                <a:solidFill>
                  <a:srgbClr val="9CA3AF"/>
                </a:solidFill>
              </a:defRPr>
            </a:pPr>
            <a:r>
              <a:t>Bộ parser và filter viết bằng TypeScript thuần chạy ngay trên trình duyệt, không độ trễ mạng.</a:t>
            </a:r>
          </a:p>
          <a:p>
            <a:pPr>
              <a:spcBef>
                <a:spcPts val="1400"/>
              </a:spcBef>
              <a:defRPr sz="1300" b="1">
                <a:solidFill>
                  <a:srgbClr val="FACC15"/>
                </a:solidFill>
              </a:defRPr>
            </a:pPr>
            <a:r>
              <a:t>3. Quản trị nội dung &amp; Vận hành (Production CMS)</a:t>
            </a:r>
          </a:p>
          <a:p>
            <a:pPr>
              <a:spcBef>
                <a:spcPts val="200"/>
              </a:spcBef>
              <a:defRPr sz="1150">
                <a:solidFill>
                  <a:srgbClr val="9CA3AF"/>
                </a:solidFill>
              </a:defRPr>
            </a:pPr>
            <a:r>
              <a:t>Hệ thống CMS Admin với MySQL Connection Pooling và tiến trình PM2 Cluster ổn định 24/7.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4A574"/>
                </a:solidFill>
              </a:defRPr>
            </a:pPr>
            <a:r>
              <a:t>DATA ANALYST PORTFOLIO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2. Hệ sinh thái Công nghệ (Technology Stack)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60A5FA"/>
                </a:solidFill>
              </a:defRPr>
            </a:pPr>
            <a:r>
              <a:t>FRONTEND &amp; UI FRAMEWORK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Next.js 15 (App Router, Server Components)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React 19 (Hooks, Concurrent Rendering)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TailwindCSS v4 (Modern Styling &amp; Dark Mode)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GSAP (Hiệu ứng animation mượt mà)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B923C"/>
                </a:solidFill>
              </a:defRPr>
            </a:pPr>
            <a:r>
              <a:t>TRỰC QUAN HÓA &amp; DỮ LIỆU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Recharts 3.x (Biểu đồ tương tác linh hoạt)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In-browser SQL Engine (Bộ phân tích cú pháp SQL)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html2canvas (Xuất biểu đồ sang ảnh PNG)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PapaParse (Xử lý và xuất file dữ liệu CSV)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14884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4D399"/>
                </a:solidFill>
              </a:defRPr>
            </a:pPr>
            <a:r>
              <a:t>BACKEND &amp; LƯU TRỮ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Next.js Route Handlers (API RESTful an toàn)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MySQL 2 (Connection Pool chống cạn kiệt kết nối)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In-Memory Cache (Tối ưu tốc độ phản hồi)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JWT &amp; Security Guard (Bảo vệ cổng Admin)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23360"/>
            <a:ext cx="5212080" cy="214884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0624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C084FC"/>
                </a:solidFill>
              </a:defRPr>
            </a:pPr>
            <a:r>
              <a:t>DEVOPS &amp; KIỂM CHUẨN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PM2 Process Manager (Cluster mode trên VPS)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Docker (Multi-stage build tối ưu kích thước)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GitHub Actions (Tự động CI/CD Pipeline)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t>• Vitest (Kiểm thử đơn vị SQL engine &amp; Auth)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4A574"/>
                </a:solidFill>
              </a:defRPr>
            </a:pPr>
            <a:r>
              <a:t>DATA ANALYST PORTFOLIO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3. Phân tầng Kiến trúc (7 Architectural Layers)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60350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0992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</a:defRPr>
            </a:pPr>
            <a:r>
              <a:t>TẦNG 1: PRESENTATION &amp; UI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[23 Components] — Giao diện SPA, Sections, Charts, Case studies, UI atoms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95144"/>
            <a:ext cx="10728655" cy="60350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084FC"/>
                </a:solidFill>
              </a:defRPr>
            </a:pPr>
            <a:r>
              <a:t>TẦNG 2: STATE &amp; CONTEXT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[3 Contexts] — Theme Dark/Light, Chuyển đổi ngôn ngữ Vi/En, Global CMS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90088"/>
            <a:ext cx="10728655" cy="60350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9816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923C"/>
                </a:solidFill>
              </a:defRPr>
            </a:pPr>
            <a:r>
              <a:t>TẦNG 3: CORE ENGINES &amp; UTILS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[8 Modules] — In-browser SQL Engine, Chart Exporter, MySQL Pool, Cache,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85032"/>
            <a:ext cx="10728655" cy="60350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TẦNG 4: API &amp; BACKEND LAYER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[7 Endpoints] — Auth (Login/Verify), Query DB, Projects CRUD, Admin Profile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79976"/>
            <a:ext cx="10728655" cy="60350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9704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ACC15"/>
                </a:solidFill>
              </a:defRPr>
            </a:pPr>
            <a:r>
              <a:t>TẦNG 5: DATA &amp; DATASETS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[7 Files] — MySQL Schema 3NF, Bảng dữ liệu demo SQL, Dữ liệu Case studies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74920"/>
            <a:ext cx="10728655" cy="60350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8464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CA3AF"/>
                </a:solidFill>
              </a:defRPr>
            </a:pPr>
            <a:r>
              <a:t>TẦNG 6: TESTING &amp; QA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[3 Test Suites] — Vitest kiểm thử tính chính xác SQL Engine, Security và Authentication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769864"/>
            <a:ext cx="10728655" cy="603504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8795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TẦNG 7: DEVOPS &amp; CONFIG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[8 Files] — PM2 Runtime, Dockerfile, GitHub Actions CI, Next.js &amp; Tailwind config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4A574"/>
                </a:solidFill>
              </a:defRPr>
            </a:pPr>
            <a:r>
              <a:t>DATA ANALYST PORTFOLIO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4. Tầng Giao diện &amp; Tương tác (Presentation &amp; UI Layer)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CẤU TRÚC SINGLE PAGE APPLICATION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• app/layout.tsx: 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   Root layout bọc Server Components &amp; Context Providers.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• app/page.tsx: 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   Trung tâm điều phối các section với hook useScrollSpy.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• DashboardSection.tsx: 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   Khu vực phân tích tương tác với KPI Cards và Recharts.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• AboutSection.tsx: 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   Tích hợp cửa sổ demo SQL cho người xem thử nghiệm.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• ProjectsSection.tsx: 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   Bộ sưu tập dự án có bộ lọc theo công nghệ và tag.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• CVSection.tsx: </a:t>
            </a:r>
          </a:p>
          <a:p>
            <a:pPr>
              <a:defRPr sz="1050">
                <a:solidFill>
                  <a:srgbClr val="9CA3AF"/>
                </a:solidFill>
              </a:defRPr>
            </a:pPr>
            <a:r>
              <a:t>   Hồ sơ năng lực, bằng cấp, chứng chỉ số hóa chi tiết.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574"/>
                </a:solidFill>
              </a:defRPr>
            </a:pPr>
            <a:r>
              <a:t>3 CASE STUDIES &amp; THƯ VIỆN UI ATOMS</a:t>
            </a:r>
          </a:p>
          <a:p>
            <a:pPr>
              <a:spcBef>
                <a:spcPts val="1200"/>
              </a:spcBef>
              <a:defRPr sz="1150" b="1">
                <a:solidFill>
                  <a:srgbClr val="34D399"/>
                </a:solidFill>
              </a:defRPr>
            </a:pPr>
            <a:r>
              <a:t>• HeritageJapanProject.tsx</a:t>
            </a:r>
          </a:p>
          <a:p>
            <a:pPr>
              <a:spcBef>
                <a:spcPts val="200"/>
              </a:spcBef>
              <a:defRPr sz="1050">
                <a:solidFill>
                  <a:srgbClr val="9CA3AF"/>
                </a:solidFill>
              </a:defRPr>
            </a:pPr>
            <a:r>
              <a:t>Phân tích bảo tồn di sản văn hóa Nhật Bản với mô hình dữ liệu đa chiều.</a:t>
            </a:r>
          </a:p>
          <a:p>
            <a:pPr>
              <a:spcBef>
                <a:spcPts val="1200"/>
              </a:spcBef>
              <a:defRPr sz="1150" b="1">
                <a:solidFill>
                  <a:srgbClr val="34D399"/>
                </a:solidFill>
              </a:defRPr>
            </a:pPr>
            <a:r>
              <a:t>• LibraryBusProject.tsx</a:t>
            </a:r>
          </a:p>
          <a:p>
            <a:pPr>
              <a:spcBef>
                <a:spcPts val="200"/>
              </a:spcBef>
              <a:defRPr sz="1050">
                <a:solidFill>
                  <a:srgbClr val="9CA3AF"/>
                </a:solidFill>
              </a:defRPr>
            </a:pPr>
            <a:r>
              <a:t>Tối ưu hóa tuyến xe buýt thư viện di động bằng phân tích vị trí và tần suất.</a:t>
            </a:r>
          </a:p>
          <a:p>
            <a:pPr>
              <a:spcBef>
                <a:spcPts val="1200"/>
              </a:spcBef>
              <a:defRPr sz="1150" b="1">
                <a:solidFill>
                  <a:srgbClr val="34D399"/>
                </a:solidFill>
              </a:defRPr>
            </a:pPr>
            <a:r>
              <a:t>• KamiElyProject.tsx</a:t>
            </a:r>
          </a:p>
          <a:p>
            <a:pPr>
              <a:spcBef>
                <a:spcPts val="200"/>
              </a:spcBef>
              <a:defRPr sz="1050">
                <a:solidFill>
                  <a:srgbClr val="9CA3AF"/>
                </a:solidFill>
              </a:defRPr>
            </a:pPr>
            <a:r>
              <a:t>Nghiên cứu hành vi người tiêu dùng trên sàn thương mại điện tử.</a:t>
            </a:r>
          </a:p>
          <a:p>
            <a:pPr>
              <a:spcBef>
                <a:spcPts val="1200"/>
              </a:spcBef>
              <a:defRPr sz="1150" b="1">
                <a:solidFill>
                  <a:srgbClr val="34D399"/>
                </a:solidFill>
              </a:defRPr>
            </a:pPr>
            <a:r>
              <a:t>• UI Atoms Reusable</a:t>
            </a:r>
          </a:p>
          <a:p>
            <a:pPr>
              <a:spcBef>
                <a:spcPts val="200"/>
              </a:spcBef>
              <a:defRPr sz="1050">
                <a:solidFill>
                  <a:srgbClr val="9CA3AF"/>
                </a:solidFill>
              </a:defRPr>
            </a:pPr>
            <a:r>
              <a:t>Hệ thống component tái sử dụng cao: AnimatedCounter, CommandPalette, Skeleton loading, ErrorBoundary chống crash.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4A574"/>
                </a:solidFill>
              </a:defRPr>
            </a:pPr>
            <a:r>
              <a:t>DATA ANALYST PORTFOLIO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5. Điểm nhấn Kỹ thuật 1 — In-browser SQL Execution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583680" cy="45720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6035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B923C"/>
                </a:solidFill>
              </a:defRPr>
            </a:pPr>
            <a:r>
              <a:t>BỘ MÁY THỰC THI SQL PHÍA CLIENT (app/lib/sqlEngine.ts)</a:t>
            </a:r>
          </a:p>
          <a:p>
            <a:pPr>
              <a:spcBef>
                <a:spcPts val="1000"/>
              </a:spcBef>
              <a:defRPr sz="1200" b="1">
                <a:solidFill>
                  <a:srgbClr val="FACC15"/>
                </a:solidFill>
              </a:defRPr>
            </a:pPr>
            <a:r>
              <a:t>✓ Tự xây dựng Parser &amp; Tokenizer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Phân tích cú pháp SQL chuẩn (SELECT, WHERE, GROUP BY, ORDER BY, LIMIT, LIKE, AND/OR).</a:t>
            </a:r>
          </a:p>
          <a:p>
            <a:pPr>
              <a:spcBef>
                <a:spcPts val="1000"/>
              </a:spcBef>
              <a:defRPr sz="1200" b="1">
                <a:solidFill>
                  <a:srgbClr val="FACC15"/>
                </a:solidFill>
              </a:defRPr>
            </a:pPr>
            <a:r>
              <a:t>✓ Xử lý In-Memory trên Data Models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Truy vấn trực tiếp trên tập dữ liệu bảng JavaScript sạch trong app/data/aboutSqlData.ts.</a:t>
            </a:r>
          </a:p>
          <a:p>
            <a:pPr>
              <a:spcBef>
                <a:spcPts val="1000"/>
              </a:spcBef>
              <a:defRPr sz="1200" b="1">
                <a:solidFill>
                  <a:srgbClr val="FACC15"/>
                </a:solidFill>
              </a:defRPr>
            </a:pPr>
            <a:r>
              <a:t>✓ Không độ trễ &amp; Bảo mật tuyệt đối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Toàn bộ việc phân tích diễn ra ngay trên CPU trình duyệt, không cần round-trip tới backend, tránh nguy cơ SQL Injection trên database chính.</a:t>
            </a:r>
          </a:p>
          <a:p>
            <a:pPr>
              <a:spcBef>
                <a:spcPts val="1000"/>
              </a:spcBef>
              <a:defRPr sz="1200" b="1">
                <a:solidFill>
                  <a:srgbClr val="FACC15"/>
                </a:solidFill>
              </a:defRPr>
            </a:pPr>
            <a:r>
              <a:t>✓ Tích hợp bảng trực quan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Kết quả trả về dưới dạng bảng động có thể format số liệu, thời gian và chuyển đổi trực tiếp lên biểu đồ.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0C0C10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MẪU TRUY VẤN MINH HỌA</a:t>
            </a:r>
          </a:p>
          <a:p>
            <a:pPr>
              <a:spcBef>
                <a:spcPts val="1400"/>
              </a:spcBef>
              <a:defRPr sz="950">
                <a:solidFill>
                  <a:srgbClr val="D4A574"/>
                </a:solidFill>
                <a:latin typeface="Consolas"/>
              </a:defRPr>
            </a:pPr>
            <a:r>
              <a:t>-- Truy vấn kỹ năng &amp; kinh nghiệm</a:t>
            </a:r>
            <a:br/>
            <a:r>
              <a:t>SELECT </a:t>
            </a:r>
            <a:br/>
            <a:r>
              <a:t>    skill_category,</a:t>
            </a:r>
            <a:br/>
            <a:r>
              <a:t>    COUNT(*) as total_skills,</a:t>
            </a:r>
            <a:br/>
            <a:r>
              <a:t>    AVG(proficiency_score) as avg_score</a:t>
            </a:r>
            <a:br/>
            <a:r>
              <a:t>FROM skills_inventory</a:t>
            </a:r>
            <a:br/>
            <a:r>
              <a:t>WHERE status = 'active'</a:t>
            </a:r>
            <a:br/>
            <a:r>
              <a:t>GROUP BY skill_category</a:t>
            </a:r>
            <a:br/>
            <a:r>
              <a:t>ORDER BY avg_score DESC</a:t>
            </a:r>
            <a:br/>
            <a:r>
              <a:t>LIMIT 5;</a:t>
            </a:r>
            <a:br/>
            <a:br/>
            <a:r>
              <a:t>-- Kết quả trả về JSON/Table ngay lập tức!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4A574"/>
                </a:solidFill>
              </a:defRPr>
            </a:pPr>
            <a:r>
              <a:t>DATA ANALYST PORTFOLIO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6. Điểm nhấn Kỹ thuật 2 — Multi-Format Chart Export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38404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</a:defRPr>
            </a:pPr>
            <a:r>
              <a:t>1. Tích hợp Recharts</a:t>
            </a:r>
          </a:p>
          <a:p>
            <a:pPr>
              <a:spcBef>
                <a:spcPts val="1600"/>
              </a:spcBef>
              <a:defRPr sz="1100">
                <a:solidFill>
                  <a:srgbClr val="9CA3AF"/>
                </a:solidFill>
              </a:defRPr>
            </a:pPr>
            <a:r>
              <a:t>DashboardSection kết hợp các biểu đồ Area, Bar, Pie charts phản hồi tự động theo kích thước màn hình.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011680"/>
            <a:ext cx="2560320" cy="38404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2. Xuất ảnh sắc nét (PNG)</a:t>
            </a:r>
          </a:p>
          <a:p>
            <a:pPr>
              <a:spcBef>
                <a:spcPts val="1600"/>
              </a:spcBef>
              <a:defRPr sz="1100">
                <a:solidFill>
                  <a:srgbClr val="9CA3AF"/>
                </a:solidFill>
              </a:defRPr>
            </a:pPr>
            <a:r>
              <a:t>Sử dụng html2canvas chụp chuẩn xác DOM canvas của biểu đồ với tỷ lệ pixel cao, sẵn sàng chèn slide/báo cáo.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560320" cy="38404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084FC"/>
                </a:solidFill>
              </a:defRPr>
            </a:pPr>
            <a:r>
              <a:t>3. Xuất tài liệu PDF</a:t>
            </a:r>
          </a:p>
          <a:p>
            <a:pPr>
              <a:spcBef>
                <a:spcPts val="1600"/>
              </a:spcBef>
              <a:defRPr sz="1100">
                <a:solidFill>
                  <a:srgbClr val="9CA3AF"/>
                </a:solidFill>
              </a:defRPr>
            </a:pPr>
            <a:r>
              <a:t>Đóng gói toàn bộ dashboard thành bản báo cáo phân tích trang nhã dạng vector sắc nét trên mọi thiết bị in ấn.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11680"/>
            <a:ext cx="2560320" cy="38404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28600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923C"/>
                </a:solidFill>
              </a:defRPr>
            </a:pPr>
            <a:r>
              <a:t>4. Xuất dữ liệu thô (CSV)</a:t>
            </a:r>
          </a:p>
          <a:p>
            <a:pPr>
              <a:spcBef>
                <a:spcPts val="1600"/>
              </a:spcBef>
              <a:defRPr sz="1100">
                <a:solidFill>
                  <a:srgbClr val="9CA3AF"/>
                </a:solidFill>
              </a:defRPr>
            </a:pPr>
            <a:r>
              <a:t>Tự động trích xuất bảng số liệu đằng sau biểu đồ ra định dạng CSV chuẩn RFC 4180 để người xem tự phân tích thêm.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4A574"/>
                </a:solidFill>
              </a:defRPr>
            </a:pPr>
            <a:r>
              <a:t>DATA ANALYST PORTFOLIO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7. Tầng Trạng thái &amp; Trải nghiệm Người dùng (State &amp; Context)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C084FC"/>
                </a:solidFill>
              </a:defRPr>
            </a:pPr>
            <a:r>
              <a:t>ThemeContext.tsx — QUẢN LÝ CHỦ ĐỀ GIAO DIỆN DARK / LIGHT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Lưu trạng thái vào LocalStorage và tự nhận diện System Preference.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Xử lý chống hiện tượng chớp màn hình trắng khi tải trang (FOUC).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Đồng bộ hóa bảng màu biểu đồ Recharts theo chủ đề sáng/tối.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728655" cy="13716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60A5FA"/>
                </a:solidFill>
              </a:defRPr>
            </a:pPr>
            <a:r>
              <a:t>LanguageContext.tsx — CHUYỂN ĐỔI ĐA NGÔN NGỮ (VI / EN)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Từ điển song ngữ tập trung trong app/data/translations.ts.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Chuyển đổi ngôn ngữ tức thì không cần reload lại toàn trang.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Hỗ trợ mở rộng thêm ngôn ngữ mới nhanh chóng.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920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34D399"/>
                </a:solidFill>
              </a:defRPr>
            </a:pPr>
            <a:r>
              <a:t>PortfolioDataContext.tsx — QUẢN TRỊ DỮ LIỆU ĐỘNG (CMS STATE)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State Provider trung tâm cấp phát dữ liệu dự án và văn bản giới thiệu.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Cho phép quản trị viên cập nhật nội dung từ Admin Modal.</a:t>
            </a:r>
          </a:p>
          <a:p>
            <a:pPr>
              <a:spcBef>
                <a:spcPts val="200"/>
              </a:spcBef>
              <a:defRPr sz="1050">
                <a:solidFill>
                  <a:srgbClr val="F8FAFC"/>
                </a:solidFill>
              </a:defRPr>
            </a:pPr>
            <a:r>
              <a:t>• Tự động fallback về defaultData.ts khi database chưa được kết nối.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4A574"/>
                </a:solidFill>
              </a:defRPr>
            </a:pPr>
            <a:r>
              <a:t>DATA ANALYST PORTFOLIO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8. API Routes, Cơ sở dữ liệu &amp; An toàn Thông tin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API ROUTES &amp; KẾT NỐI CƠ SỞ DỮ LIỆU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• /api/auth/login, logout, verify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Xác thực phiên đăng nhập an toàn bằng HTTP-only cookies và JWT.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• /api/db/route.ts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Cổng thực thi các truy vấn có kiểm soát tới cơ sở dữ liệu MySQL.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• /api/projects, /api/profile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Cung cấp CRUD API cho phép quản lý dự án và thông tin cá nhân.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</a:defRPr>
            </a:pPr>
            <a:r>
              <a:t>• app/lib/db.ts (MySQL Pool)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Connection Pooling tự động giải phóng kết nối, chịu tải cao trên VPS.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THIẾT KẾ CSDL &amp; CƠ CHẾ AN TOÀN</a:t>
            </a:r>
          </a:p>
          <a:p>
            <a:pPr>
              <a:spcBef>
                <a:spcPts val="1000"/>
              </a:spcBef>
              <a:defRPr sz="1100" b="1">
                <a:solidFill>
                  <a:srgbClr val="D4A574"/>
                </a:solidFill>
              </a:defRPr>
            </a:pPr>
            <a:r>
              <a:t>• Schema chuẩn 3NF (database/schema.sql)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Bảng dữ liệu projects, users, texts, visitor_logs được chuẩn hóa tối ưu index.</a:t>
            </a:r>
          </a:p>
          <a:p>
            <a:pPr>
              <a:spcBef>
                <a:spcPts val="1000"/>
              </a:spcBef>
              <a:defRPr sz="1100" b="1">
                <a:solidFill>
                  <a:srgbClr val="D4A574"/>
                </a:solidFill>
              </a:defRPr>
            </a:pPr>
            <a:r>
              <a:t>• app/lib/security.ts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Lọc input đầu vào, khử ký tự nguy hiểm, chống XSS và Injection.</a:t>
            </a:r>
          </a:p>
          <a:p>
            <a:pPr>
              <a:spcBef>
                <a:spcPts val="1000"/>
              </a:spcBef>
              <a:defRPr sz="1100" b="1">
                <a:solidFill>
                  <a:srgbClr val="D4A574"/>
                </a:solidFill>
              </a:defRPr>
            </a:pPr>
            <a:r>
              <a:t>• app/lib/cache.ts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Bộ nhớ đệm trong RAM giảm thiểu số lần truy vấn lặp lại vào CSDL.</a:t>
            </a:r>
          </a:p>
          <a:p>
            <a:pPr>
              <a:spcBef>
                <a:spcPts val="1000"/>
              </a:spcBef>
              <a:defRPr sz="1100" b="1">
                <a:solidFill>
                  <a:srgbClr val="D4A574"/>
                </a:solidFill>
              </a:defRPr>
            </a:pPr>
            <a:r>
              <a:t>• Vitest Suite (tests/security.test.ts)</a:t>
            </a:r>
          </a:p>
          <a:p>
            <a:pPr>
              <a:defRPr sz="1000">
                <a:solidFill>
                  <a:srgbClr val="9CA3AF"/>
                </a:solidFill>
              </a:defRPr>
            </a:pPr>
            <a:r>
              <a:t>Kiểm thử tự động các kịch bản vượt rào xác thực và thử tấn công SQL injection.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4A574"/>
                </a:solidFill>
              </a:defRPr>
            </a:pPr>
            <a:r>
              <a:t>DATA ANALYST PORTFOLIO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9. Vận hành, Triển khai &amp; Tự động hóa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42976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B923C"/>
                </a:solidFill>
              </a:defRPr>
            </a:pPr>
            <a:r>
              <a:t>PM2 Runtime Engine</a:t>
            </a:r>
          </a:p>
          <a:p>
            <a:pPr>
              <a:spcBef>
                <a:spcPts val="200"/>
              </a:spcBef>
              <a:defRPr sz="1050">
                <a:solidFill>
                  <a:srgbClr val="9CA3AF"/>
                </a:solidFill>
              </a:defRPr>
            </a:pPr>
            <a:r>
              <a:t>ecosystem.config.js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Quản lý tiến trình Node.js trên máy chủ VPS.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Chế độ Cluster mode tự phân bổ tải CPU.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Tự động khởi động lại (restart) khi có lỗi hoặc reboot hệ thống.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Theo dõi log lỗi và hiệu năng thời gian thực.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29000" cy="42976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5740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60A5FA"/>
                </a:solidFill>
              </a:defRPr>
            </a:pPr>
            <a:r>
              <a:t>Docker Container</a:t>
            </a:r>
          </a:p>
          <a:p>
            <a:pPr>
              <a:spcBef>
                <a:spcPts val="200"/>
              </a:spcBef>
              <a:defRPr sz="1050">
                <a:solidFill>
                  <a:srgbClr val="9CA3AF"/>
                </a:solidFill>
              </a:defRPr>
            </a:pPr>
            <a:r>
              <a:t>Dockerfile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Đóng gói toàn bộ ứng dụng thành 1 image độc lập.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Multi-stage build tách biệt quá trình build và runtime.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Dung lượng image gọn nhẹ, bảo mật cao.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Dễ dàng scale hoặc chuyển dịch giữa các đám mây.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429000" cy="42976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5740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C084FC"/>
                </a:solidFill>
              </a:defRPr>
            </a:pPr>
            <a:r>
              <a:t>GitHub Actions CI</a:t>
            </a:r>
          </a:p>
          <a:p>
            <a:pPr>
              <a:spcBef>
                <a:spcPts val="200"/>
              </a:spcBef>
              <a:defRPr sz="1050">
                <a:solidFill>
                  <a:srgbClr val="9CA3AF"/>
                </a:solidFill>
              </a:defRPr>
            </a:pPr>
            <a:r>
              <a:t>.github/workflows/ci.yml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Tự động kích hoạt khi có pull request hoặc push.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Kiểm tra định dạng mã nguồn với ESLint 9.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Chạy toàn bộ test suites với Vitest.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Đảm bảo chất lượng code trước khi merge vào nhánh chính.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D4A574"/>
                </a:solidFill>
              </a:defRPr>
            </a:pPr>
            <a:r>
              <a:t>DATA ANALYST PORTFOLIO •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10. Lộ trình Tìm hiểu Codebase 6 Chặng (Guided Tour)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2D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4A574"/>
                </a:solidFill>
              </a:defRPr>
            </a:pPr>
            <a:r>
              <a:t>Chặng 1: Root Layout &amp; Providers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Khởi tạo khung ứng dụng, cấu hình font và bọc Theme &amp; Language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4A574"/>
                </a:solidFill>
              </a:defRPr>
            </a:pPr>
            <a:r>
              <a:t>Chặng 2: Trang chủ điều phối SPA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Khám phá app/page.tsx và cơ chế ScrollSpy điều hướng 8 sections nội dung.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212080" cy="12801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4A574"/>
                </a:solidFill>
              </a:defRPr>
            </a:pPr>
            <a:r>
              <a:t>Chặng 3: Dashboard &amp; Xuất biểu đồ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Trực quan hóa Recharts và luồng trích xuất dữ liệu PNG/PDF/CSV.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54680"/>
            <a:ext cx="5212080" cy="12801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4A574"/>
                </a:solidFill>
              </a:defRPr>
            </a:pPr>
            <a:r>
              <a:t>Chặng 4: In-browser SQL Engine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Trọng tâm kỹ thuật: Bộ parser và bộ lọc SQL chạy trực tiếp phía client.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212080" cy="12801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4A574"/>
                </a:solidFill>
              </a:defRPr>
            </a:pPr>
            <a:r>
              <a:t>Chặng 5: Quản trị Admin &amp; APIs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Hệ thống bảo vệ đăng nhập và các Next.js Route Handlers giao tiếp MySQL.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663440"/>
            <a:ext cx="5212080" cy="128016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2D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8006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D4A574"/>
                </a:solidFill>
              </a:defRPr>
            </a:pPr>
            <a:r>
              <a:t>Chặng 6: Triển khai Production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Quy trình đóng gói Dockerfile và vận hành PM2 cluster trên máy chủ VPS.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280160"/>
            <a:ext cx="8534095" cy="4297680"/>
          </a:xfrm>
          <a:prstGeom prst="roundRect">
            <a:avLst/>
          </a:prstGeom>
          <a:solidFill>
            <a:srgbClr val="121216"/>
          </a:solidFill>
          <a:ln w="12700">
            <a:solidFill>
              <a:srgbClr val="D4A5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0" y="1645920"/>
            <a:ext cx="7772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574"/>
                </a:solidFill>
              </a:defRPr>
            </a:pPr>
            <a:r>
              <a:t>TỔNG KẾT NĂNG LỰC HỆ THỐNG</a:t>
            </a:r>
          </a:p>
          <a:p>
            <a:pPr algn="ctr">
              <a:spcBef>
                <a:spcPts val="1000"/>
              </a:spcBef>
              <a:defRPr sz="3200" b="1">
                <a:solidFill>
                  <a:srgbClr val="F8FAFC"/>
                </a:solidFill>
              </a:defRPr>
            </a:pPr>
            <a:r>
              <a:t>Data Analyst Portfolio</a:t>
            </a:r>
          </a:p>
          <a:p>
            <a:pPr algn="ctr">
              <a:spcBef>
                <a:spcPts val="1000"/>
              </a:spcBef>
              <a:defRPr sz="1500">
                <a:solidFill>
                  <a:srgbClr val="9CA3AF"/>
                </a:solidFill>
              </a:defRPr>
            </a:pPr>
            <a:r>
              <a:t>Sự giao thoa hoàn hảo giữa Khoa học Dữ liệu và Kỹ thuật Phần mềm hiện đại.</a:t>
            </a:r>
          </a:p>
          <a:p>
            <a:pPr algn="ctr">
              <a:spcBef>
                <a:spcPts val="600"/>
              </a:spcBef>
              <a:defRPr sz="1200">
                <a:solidFill>
                  <a:srgbClr val="34D399"/>
                </a:solidFill>
              </a:defRPr>
            </a:pPr>
            <a:r>
              <a:t>✓ Kiến trúc 7 tầng mạch lạc, sẵn sàng scale và dễ bảo trì.</a:t>
            </a:r>
          </a:p>
          <a:p>
            <a:pPr algn="ctr">
              <a:spcBef>
                <a:spcPts val="600"/>
              </a:spcBef>
              <a:defRPr sz="1200">
                <a:solidFill>
                  <a:srgbClr val="34D399"/>
                </a:solidFill>
              </a:defRPr>
            </a:pPr>
            <a:r>
              <a:t>✓ Trực quan hóa dữ liệu thực nghiệm vượt trội với In-browser SQL Engine.</a:t>
            </a:r>
          </a:p>
          <a:p>
            <a:pPr algn="ctr">
              <a:spcBef>
                <a:spcPts val="600"/>
              </a:spcBef>
              <a:defRPr sz="1200">
                <a:solidFill>
                  <a:srgbClr val="34D399"/>
                </a:solidFill>
              </a:defRPr>
            </a:pPr>
            <a:r>
              <a:t>✓ Khả năng triển khai thực tế trên Production với PM2, Docker và CI/CD.</a:t>
            </a:r>
          </a:p>
          <a:p>
            <a:pPr algn="ctr">
              <a:spcBef>
                <a:spcPts val="2400"/>
              </a:spcBef>
              <a:defRPr sz="1600" b="1">
                <a:solidFill>
                  <a:srgbClr val="D4A574"/>
                </a:solidFill>
              </a:defRPr>
            </a:pPr>
            <a:r>
              <a:t>XIN CẢM ƠN QUÝ VỊ ĐÃ LẮNG NGHE!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